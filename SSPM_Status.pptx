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SSPM Integration — Summary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" y="603504"/>
            <a:ext cx="8814816" cy="1645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50" b="1" i="0">
                <a:solidFill>
                  <a:srgbClr val="64748B"/>
                </a:solidFill>
                <a:latin typeface="Calibri"/>
              </a:rPr>
              <a:t>UNIQUE APPLICATIONS — BY PHASE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4592" y="768096"/>
            <a:ext cx="8814816" cy="0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64592" y="804672"/>
            <a:ext cx="1353312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804672"/>
            <a:ext cx="45720" cy="10972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841248"/>
            <a:ext cx="1225295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7DD3FC"/>
                </a:solidFill>
                <a:latin typeface="Calibri"/>
              </a:rPr>
              <a:t>All Phases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987552"/>
            <a:ext cx="122529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298448"/>
            <a:ext cx="1225295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00" b="0" i="0">
                <a:solidFill>
                  <a:srgbClr val="94A3B8"/>
                </a:solidFill>
                <a:latin typeface="Calibri"/>
              </a:rPr>
              <a:t>Applications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1426464"/>
            <a:ext cx="1225295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0" i="0">
                <a:solidFill>
                  <a:srgbClr val="7DD3FC"/>
                </a:solidFill>
                <a:latin typeface="Calibri"/>
              </a:rPr>
              <a:t>50 in-scope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1536192"/>
            <a:ext cx="1225295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0" i="0">
                <a:solidFill>
                  <a:srgbClr val="7DD3FC"/>
                </a:solidFill>
                <a:latin typeface="Calibri"/>
              </a:rPr>
              <a:t>621 instances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63624" y="804672"/>
            <a:ext cx="143743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563624" y="804672"/>
            <a:ext cx="45720" cy="10972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50084" y="850392"/>
            <a:ext cx="914400" cy="146304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50084" y="850392"/>
            <a:ext cx="914400" cy="14630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550" b="1" i="0">
                <a:solidFill>
                  <a:srgbClr val="166534"/>
                </a:solidFill>
                <a:latin typeface="Calibri"/>
              </a:rPr>
              <a:t>IN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55064" y="850392"/>
            <a:ext cx="50292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007ACC"/>
                </a:solidFill>
                <a:latin typeface="Calibri"/>
              </a:rPr>
              <a:t>P1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55064" y="1005840"/>
            <a:ext cx="1300276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07ACC"/>
                </a:solidFill>
                <a:latin typeface="Calibri"/>
              </a:rP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1298448"/>
            <a:ext cx="1300276" cy="1188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Unique Apps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55064" y="1444752"/>
            <a:ext cx="617498" cy="822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72562" y="1444752"/>
            <a:ext cx="280681" cy="822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53243" y="1444752"/>
            <a:ext cx="252612" cy="8229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05856" y="1444752"/>
            <a:ext cx="56136" cy="82296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61992" y="1444752"/>
            <a:ext cx="84204" cy="8229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55064" y="1563624"/>
            <a:ext cx="24908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059669"/>
                </a:solidFill>
                <a:latin typeface="Calibri"/>
              </a:rPr>
              <a:t>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55064" y="1732605"/>
            <a:ext cx="24908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059669"/>
                </a:solidFill>
                <a:latin typeface="Calibri"/>
              </a:rPr>
              <a:t>Done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13290" y="1563624"/>
            <a:ext cx="24908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D97706"/>
                </a:solidFill>
                <a:latin typeface="Calibri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13290" y="1732605"/>
            <a:ext cx="24908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D97706"/>
                </a:solidFill>
                <a:latin typeface="Calibri"/>
              </a:rPr>
              <a:t>In Prog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1517" y="1563624"/>
            <a:ext cx="24908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71517" y="1732605"/>
            <a:ext cx="24908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4748B"/>
                </a:solidFill>
                <a:latin typeface="Calibri"/>
              </a:rPr>
              <a:t>Not Strt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9743" y="1563624"/>
            <a:ext cx="24908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047A57"/>
                </a:solidFill>
                <a:latin typeface="Calibri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29743" y="1732605"/>
            <a:ext cx="24908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047A57"/>
                </a:solidFill>
                <a:latin typeface="Calibri"/>
              </a:rPr>
              <a:t>Future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87970" y="1563624"/>
            <a:ext cx="24908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D28D9"/>
                </a:solidFill>
                <a:latin typeface="Calibri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87970" y="1732605"/>
            <a:ext cx="24908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D28D9"/>
                </a:solidFill>
                <a:latin typeface="Calibri"/>
              </a:rPr>
              <a:t>D-Scoped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46780" y="804672"/>
            <a:ext cx="143743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046780" y="804672"/>
            <a:ext cx="45720" cy="1097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33241" y="850392"/>
            <a:ext cx="914400" cy="146304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241" y="850392"/>
            <a:ext cx="914400" cy="14630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550" b="1" i="0">
                <a:solidFill>
                  <a:srgbClr val="166534"/>
                </a:solidFill>
                <a:latin typeface="Calibri"/>
              </a:rPr>
              <a:t>IN SCOPE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38220" y="850392"/>
            <a:ext cx="50292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059669"/>
                </a:solidFill>
                <a:latin typeface="Calibri"/>
              </a:rPr>
              <a:t>P2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38220" y="1005840"/>
            <a:ext cx="1300276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32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38220" y="1298448"/>
            <a:ext cx="1300276" cy="1188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Unique Apps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38220" y="1444752"/>
            <a:ext cx="173806" cy="822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12027" y="1444752"/>
            <a:ext cx="893861" cy="8229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05888" y="1444752"/>
            <a:ext cx="148976" cy="82296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54865" y="1444752"/>
            <a:ext cx="74488" cy="8229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38220" y="1563624"/>
            <a:ext cx="313639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D97706"/>
                </a:solidFill>
                <a:latin typeface="Calibri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38220" y="1732605"/>
            <a:ext cx="313639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D97706"/>
                </a:solidFill>
                <a:latin typeface="Calibri"/>
              </a:rPr>
              <a:t>In Prog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61004" y="1563624"/>
            <a:ext cx="313639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61004" y="1732605"/>
            <a:ext cx="313639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4748B"/>
                </a:solidFill>
                <a:latin typeface="Calibri"/>
              </a:rPr>
              <a:t>Not Strt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83787" y="1563624"/>
            <a:ext cx="313639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047A57"/>
                </a:solidFill>
                <a:latin typeface="Calibr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83787" y="1732605"/>
            <a:ext cx="313639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047A57"/>
                </a:solidFill>
                <a:latin typeface="Calibri"/>
              </a:rPr>
              <a:t>Future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06570" y="1563624"/>
            <a:ext cx="313639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D28D9"/>
                </a:solidFill>
                <a:latin typeface="Calibri"/>
              </a:rPr>
              <a:t>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06570" y="1732605"/>
            <a:ext cx="313639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D28D9"/>
                </a:solidFill>
                <a:latin typeface="Calibri"/>
              </a:rPr>
              <a:t>D-Scoped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29937" y="804672"/>
            <a:ext cx="143743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529937" y="804672"/>
            <a:ext cx="45720" cy="109728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16398" y="850392"/>
            <a:ext cx="914400" cy="14630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16398" y="850392"/>
            <a:ext cx="914400" cy="14630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550" b="1" i="0">
                <a:solidFill>
                  <a:srgbClr val="475569"/>
                </a:solidFill>
                <a:latin typeface="Calibri"/>
              </a:rPr>
              <a:t>OUT OF SCOPE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21377" y="850392"/>
            <a:ext cx="50292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P3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21377" y="1005840"/>
            <a:ext cx="1300276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6D28D9"/>
                </a:solidFill>
                <a:latin typeface="Calibri"/>
              </a:rPr>
              <a:t>143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21377" y="1298448"/>
            <a:ext cx="1300276" cy="1188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Unique Apps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621377" y="1444752"/>
            <a:ext cx="108346" cy="822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29724" y="1444752"/>
            <a:ext cx="1182785" cy="8229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21377" y="1563624"/>
            <a:ext cx="63642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059669"/>
                </a:solidFill>
                <a:latin typeface="Calibri"/>
              </a:rPr>
              <a:t>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21377" y="1732605"/>
            <a:ext cx="63642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059669"/>
                </a:solidFill>
                <a:latin typeface="Calibri"/>
              </a:rPr>
              <a:t>Done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66944" y="1563624"/>
            <a:ext cx="63642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131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66944" y="1732605"/>
            <a:ext cx="63642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4748B"/>
                </a:solidFill>
                <a:latin typeface="Calibri"/>
              </a:rPr>
              <a:t>Not Strt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13094" y="804672"/>
            <a:ext cx="143743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3094" y="804672"/>
            <a:ext cx="45720" cy="109728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499555" y="850392"/>
            <a:ext cx="914400" cy="14630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99555" y="850392"/>
            <a:ext cx="914400" cy="14630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550" b="1" i="0">
                <a:solidFill>
                  <a:srgbClr val="475569"/>
                </a:solidFill>
                <a:latin typeface="Calibri"/>
              </a:rPr>
              <a:t>OUT OF SCOPE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04534" y="850392"/>
            <a:ext cx="50292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047A57"/>
                </a:solidFill>
                <a:latin typeface="Calibri"/>
              </a:rPr>
              <a:t>P4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04534" y="1005840"/>
            <a:ext cx="1300276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47A57"/>
                </a:solidFill>
                <a:latin typeface="Calibri"/>
              </a:rPr>
              <a:t>198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04534" y="1298448"/>
            <a:ext cx="1300276" cy="1188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Unique Apps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04534" y="1444752"/>
            <a:ext cx="26083" cy="822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30617" y="1444752"/>
            <a:ext cx="1265049" cy="8229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104534" y="1563624"/>
            <a:ext cx="63642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059669"/>
                </a:solidFill>
                <a:latin typeface="Calibri"/>
              </a:rP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04534" y="1732605"/>
            <a:ext cx="63642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059669"/>
                </a:solidFill>
                <a:latin typeface="Calibri"/>
              </a:rPr>
              <a:t>Done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50100" y="1563624"/>
            <a:ext cx="63642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194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750100" y="1732605"/>
            <a:ext cx="63642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4748B"/>
                </a:solidFill>
                <a:latin typeface="Calibri"/>
              </a:rPr>
              <a:t>Not Strt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496251" y="804672"/>
            <a:ext cx="143743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496251" y="804672"/>
            <a:ext cx="45720" cy="109728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982712" y="850392"/>
            <a:ext cx="914400" cy="14630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982712" y="850392"/>
            <a:ext cx="914400" cy="14630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550" b="1" i="0">
                <a:solidFill>
                  <a:srgbClr val="475569"/>
                </a:solidFill>
                <a:latin typeface="Calibri"/>
              </a:rPr>
              <a:t>OUT OF SCOPE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87691" y="850392"/>
            <a:ext cx="50292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P5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87691" y="1005840"/>
            <a:ext cx="1300276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64748B"/>
                </a:solidFill>
                <a:latin typeface="Calibri"/>
              </a:rPr>
              <a:t>182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587691" y="1298448"/>
            <a:ext cx="1300276" cy="1188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Unique Apps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587691" y="1444752"/>
            <a:ext cx="1291132" cy="8229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87691" y="1563624"/>
            <a:ext cx="1281988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182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587691" y="1732605"/>
            <a:ext cx="1281988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4748B"/>
                </a:solidFill>
                <a:latin typeface="Calibri"/>
              </a:rPr>
              <a:t>Not Strt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64592" y="1993392"/>
            <a:ext cx="8814816" cy="1645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50" b="1" i="0">
                <a:solidFill>
                  <a:srgbClr val="64748B"/>
                </a:solidFill>
                <a:latin typeface="Calibri"/>
              </a:rPr>
              <a:t>INSTANCES — PROD &amp; NON-PROD ONBOARDING STATUS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164592" y="2157984"/>
            <a:ext cx="8814816" cy="0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164592" y="2194560"/>
            <a:ext cx="548640" cy="3200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64592" y="2194560"/>
            <a:ext cx="36576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37744" y="2194560"/>
            <a:ext cx="4572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13232" y="2194560"/>
            <a:ext cx="3081528" cy="178308"/>
          </a:xfrm>
          <a:prstGeom prst="rect">
            <a:avLst/>
          </a:prstGeom>
          <a:solidFill>
            <a:srgbClr val="06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3232" y="2194560"/>
            <a:ext cx="3081528" cy="1783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Prod Instances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13232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13232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Completed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746504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746504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Pending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779776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779776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Total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813048" y="2194560"/>
            <a:ext cx="3081528" cy="178308"/>
          </a:xfrm>
          <a:prstGeom prst="rect">
            <a:avLst/>
          </a:prstGeom>
          <a:solidFill>
            <a:srgbClr val="046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813048" y="2194560"/>
            <a:ext cx="3081528" cy="1783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Non-Prod Instances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813048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813048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Completed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846320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846320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Pending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879592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879592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Total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912864" y="2194560"/>
            <a:ext cx="2048256" cy="178308"/>
          </a:xfrm>
          <a:prstGeom prst="rect">
            <a:avLst/>
          </a:prstGeom>
          <a:solidFill>
            <a:srgbClr val="2D2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912864" y="2194560"/>
            <a:ext cx="2048256" cy="1783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Grand Total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912864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912864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Instances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946136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946136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Done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64592" y="2514600"/>
            <a:ext cx="8814816" cy="1874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64592" y="2514600"/>
            <a:ext cx="36576" cy="1874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37744" y="2514600"/>
            <a:ext cx="45720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07ACC"/>
                </a:solidFill>
                <a:latin typeface="Calibri"/>
              </a:rPr>
              <a:t>P1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13232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746504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21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779776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46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813048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879592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27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912864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73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946136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34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64592" y="2702052"/>
            <a:ext cx="8814816" cy="18745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64592" y="2702052"/>
            <a:ext cx="36576" cy="1874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37744" y="2702052"/>
            <a:ext cx="45720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P2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3232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746504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45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779776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52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813048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46320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879592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912864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78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46136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7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64592" y="2889504"/>
            <a:ext cx="8814816" cy="1874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64592" y="2889504"/>
            <a:ext cx="36576" cy="1874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237744" y="2889504"/>
            <a:ext cx="45720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6D28D9"/>
                </a:solidFill>
                <a:latin typeface="Calibri"/>
              </a:rPr>
              <a:t>P3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13232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746504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779776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813048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846320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879592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912864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143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946136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12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64592" y="3076956"/>
            <a:ext cx="8814816" cy="18745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64592" y="3076956"/>
            <a:ext cx="36576" cy="187452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37744" y="3076956"/>
            <a:ext cx="45720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47A57"/>
                </a:solidFill>
                <a:latin typeface="Calibri"/>
              </a:rPr>
              <a:t>P4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713232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46504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779776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813048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846320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879592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912864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198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946136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4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164592" y="3264408"/>
            <a:ext cx="8814816" cy="1874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164592" y="3264408"/>
            <a:ext cx="36576" cy="18745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237744" y="3264408"/>
            <a:ext cx="45720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64748B"/>
                </a:solidFill>
                <a:latin typeface="Calibri"/>
              </a:rPr>
              <a:t>P5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13232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746504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182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779776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182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13048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846320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879592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912864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182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946136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164592" y="3451860"/>
            <a:ext cx="8814816" cy="18745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64592" y="3451860"/>
            <a:ext cx="36576" cy="1874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237744" y="3451860"/>
            <a:ext cx="45720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07ACC"/>
                </a:solidFill>
                <a:latin typeface="Calibri"/>
              </a:rPr>
              <a:t>TOTAL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13232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34D399"/>
                </a:solidFill>
                <a:latin typeface="Calibri"/>
              </a:rPr>
              <a:t>48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746504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D97706"/>
                </a:solidFill>
                <a:latin typeface="Calibri"/>
              </a:rPr>
              <a:t>573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779776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621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813048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34D399"/>
                </a:solidFill>
                <a:latin typeface="Calibri"/>
              </a:rPr>
              <a:t>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846320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D97706"/>
                </a:solidFill>
                <a:latin typeface="Calibri"/>
              </a:rPr>
              <a:t>44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879592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53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912864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674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46136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34D399"/>
                </a:solidFill>
                <a:latin typeface="Calibri"/>
              </a:rPr>
              <a:t>57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64592" y="3694176"/>
            <a:ext cx="4361688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164592" y="3694176"/>
            <a:ext cx="36576" cy="43891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256032" y="3730752"/>
            <a:ext cx="4233672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50" b="1" i="0">
                <a:solidFill>
                  <a:srgbClr val="007ACC"/>
                </a:solidFill>
                <a:latin typeface="Calibri"/>
              </a:rPr>
              <a:t>What is a Unique Application?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56032" y="3867912"/>
            <a:ext cx="4233672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334155"/>
                </a:solidFill>
                <a:latin typeface="Calibri"/>
              </a:rPr>
              <a:t>A Unique Application is a distinct SaaS product in the SSPM programme (e.g. Salesforce, Workday). Counted once regardless of how many environments or regions it operates in.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56032" y="4032504"/>
            <a:ext cx="4233672" cy="91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00" b="0" i="1">
                <a:solidFill>
                  <a:srgbClr val="64748B"/>
                </a:solidFill>
                <a:latin typeface="Calibri"/>
              </a:rPr>
              <a:t>Example: Salesforce = 1 unique app, even with 8 regional instances.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4617720" y="3694176"/>
            <a:ext cx="4361688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617720" y="3694176"/>
            <a:ext cx="36576" cy="438912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4709159" y="3730752"/>
            <a:ext cx="4233672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50" b="1" i="0">
                <a:solidFill>
                  <a:srgbClr val="047A57"/>
                </a:solidFill>
                <a:latin typeface="Calibri"/>
              </a:rPr>
              <a:t>What is an Instance?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4709159" y="3867912"/>
            <a:ext cx="4233672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334155"/>
                </a:solidFill>
                <a:latin typeface="Calibri"/>
              </a:rPr>
              <a:t>An Instance is one JIRA Story representing a specific deployment — a regional environment (Prod or Non-Prod) or tenant. One app can have multiple instances, each onboarded into SSPM separately.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09159" y="4032504"/>
            <a:ext cx="4233672" cy="91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00" b="0" i="1">
                <a:solidFill>
                  <a:srgbClr val="64748B"/>
                </a:solidFill>
                <a:latin typeface="Calibri"/>
              </a:rPr>
              <a:t>Example: Salesforce has 8 instances — APAC Prod, EMEA Prod, NA Sandbox …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64592" y="4169663"/>
            <a:ext cx="1371600" cy="1371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059669"/>
                </a:solidFill>
                <a:latin typeface="Calibri"/>
              </a:rPr>
              <a:t>● Done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56232" y="4169663"/>
            <a:ext cx="1371600" cy="1371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D97706"/>
                </a:solidFill>
                <a:latin typeface="Calibri"/>
              </a:rPr>
              <a:t>● In Prog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547872" y="4169663"/>
            <a:ext cx="1371600" cy="1371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● Not Strt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239512" y="4169663"/>
            <a:ext cx="1371600" cy="1371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047A57"/>
                </a:solidFill>
                <a:latin typeface="Calibri"/>
              </a:rPr>
              <a:t>● Future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931152" y="4169663"/>
            <a:ext cx="1371600" cy="1371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6D28D9"/>
                </a:solidFill>
                <a:latin typeface="Calibri"/>
              </a:rPr>
              <a:t>● D-Scoped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Integration Status — Region-wise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" y="621792"/>
            <a:ext cx="8814816" cy="1645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50" b="1" i="0">
                <a:solidFill>
                  <a:srgbClr val="64748B"/>
                </a:solidFill>
                <a:latin typeface="Calibri"/>
              </a:rPr>
              <a:t>INSTANCE ONBOARDING STATUS BY REGION — PROD &amp; NON-PROD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4592" y="786384"/>
            <a:ext cx="8814816" cy="0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64592" y="822960"/>
            <a:ext cx="1097280" cy="3200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822960"/>
            <a:ext cx="36576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" y="822960"/>
            <a:ext cx="1005839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Region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61872" y="822960"/>
            <a:ext cx="2875788" cy="178308"/>
          </a:xfrm>
          <a:prstGeom prst="rect">
            <a:avLst/>
          </a:prstGeom>
          <a:solidFill>
            <a:srgbClr val="06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1872" y="822960"/>
            <a:ext cx="2875788" cy="1783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Prod Instances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1872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Completed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26564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26564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Pending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91256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91256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Total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55948" y="822960"/>
            <a:ext cx="2875788" cy="178308"/>
          </a:xfrm>
          <a:prstGeom prst="rect">
            <a:avLst/>
          </a:prstGeom>
          <a:solidFill>
            <a:srgbClr val="046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55948" y="822960"/>
            <a:ext cx="2875788" cy="1783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Non-Prod Instances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55948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55948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Completed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0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0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Pending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5332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5332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Total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50024" y="822960"/>
            <a:ext cx="1911096" cy="178308"/>
          </a:xfrm>
          <a:prstGeom prst="rect">
            <a:avLst/>
          </a:prstGeom>
          <a:solidFill>
            <a:srgbClr val="2D2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50024" y="822960"/>
            <a:ext cx="1911096" cy="1783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Grand Total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50024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50024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Instances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14716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Done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4592" y="1143000"/>
            <a:ext cx="8814816" cy="1874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64592" y="1143000"/>
            <a:ext cx="36576" cy="1874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7744" y="1143000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07ACC"/>
                </a:solidFill>
                <a:latin typeface="Calibri"/>
              </a:rPr>
              <a:t>APAC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61872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26564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91256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35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55948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5332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0024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58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14716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21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64592" y="1330452"/>
            <a:ext cx="8814816" cy="18745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4592" y="1330452"/>
            <a:ext cx="36576" cy="187452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7744" y="1330452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47A57"/>
                </a:solidFill>
                <a:latin typeface="Calibri"/>
              </a:rPr>
              <a:t>EMEA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61872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26564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91256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55948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0640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5332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50024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14716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64592" y="1517904"/>
            <a:ext cx="8814816" cy="1874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64592" y="1517904"/>
            <a:ext cx="36576" cy="1874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7744" y="1517904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Global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61872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26564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91256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55948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20640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85332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50024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14716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4592" y="1705356"/>
            <a:ext cx="8814816" cy="18745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64592" y="1705356"/>
            <a:ext cx="36576" cy="1874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7744" y="1705356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6D28D9"/>
                </a:solidFill>
                <a:latin typeface="Calibri"/>
              </a:rPr>
              <a:t>Japan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61872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26564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91256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55948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20640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5332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050024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014716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64592" y="1892807"/>
            <a:ext cx="8814816" cy="1874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4592" y="1892807"/>
            <a:ext cx="36576" cy="1874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7744" y="1892807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North America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61872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226564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191256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25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55948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20640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85332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50024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14716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64592" y="2080260"/>
            <a:ext cx="8814816" cy="18745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64592" y="2080260"/>
            <a:ext cx="36576" cy="18745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37744" y="2080260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64748B"/>
                </a:solidFill>
                <a:latin typeface="Calibri"/>
              </a:rPr>
              <a:t>TG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261872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26564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191256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155948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120640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85332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050024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014716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64592" y="2267712"/>
            <a:ext cx="8814816" cy="18745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64592" y="2267712"/>
            <a:ext cx="36576" cy="1874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37744" y="2267712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07ACC"/>
                </a:solidFill>
                <a:latin typeface="Calibri"/>
              </a:rPr>
              <a:t>TOTAL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261872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34D399"/>
                </a:solidFill>
                <a:latin typeface="Calibri"/>
              </a:rP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226564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D97706"/>
                </a:solidFill>
                <a:latin typeface="Calibri"/>
              </a:rPr>
              <a:t>66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191256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98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155948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34D399"/>
                </a:solidFill>
                <a:latin typeface="Calibri"/>
              </a:rPr>
              <a:t>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20640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D97706"/>
                </a:solidFill>
                <a:latin typeface="Calibri"/>
              </a:rPr>
              <a:t>44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085332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050024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151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14716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34D399"/>
                </a:solidFill>
                <a:latin typeface="Calibri"/>
              </a:rPr>
              <a:t>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64592" y="4480560"/>
            <a:ext cx="3200400" cy="1645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059669"/>
                </a:solidFill>
                <a:latin typeface="Calibri"/>
              </a:rPr>
              <a:t>● Completed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417320" y="4480560"/>
            <a:ext cx="3200400" cy="1645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D97706"/>
                </a:solidFill>
                <a:latin typeface="Calibri"/>
              </a:rPr>
              <a:t>● Pending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606040" y="4480560"/>
            <a:ext cx="3200400" cy="1645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N/A — No Non-Prod environment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1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P1 · Pg 1/3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25/46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790160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9/27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21024" y="941832"/>
            <a:ext cx="484632" cy="36576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786384"/>
            <a:ext cx="751840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4 Done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Instance / Prod / Non-Prod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×8 Instance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×8 Prod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×6 Non-Prod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5/8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Non-Prod 2/6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Workday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×3 Non-Prod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2/3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Non-Prod 1/3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ServiceNow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×4 Instance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×4 Prod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×3 Non-Prod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3/4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Non-Prod 1/3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GitHub Enterprise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×3 Non-Prod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2/3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Non-Prod 2/3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Microsoft 365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×5 Instance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×5 Prod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3/5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784848" y="3419856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Okta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×3 Non-Prod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2/3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784848" y="4120469"/>
            <a:ext cx="2011680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784848" y="412046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Non-Prod 2/3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56032" y="4599432"/>
            <a:ext cx="850392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Note:  Status Grouping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56032" y="4727448"/>
            <a:ext cx="85039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Completed  =  'Completed' + 'De-Scoped'  (green).     Pending  =  'In Progress' + 'Not Started' + 'Future Request'  (amber).     Status is read from the JIRA field configured in config.py → STATUS_FIELD.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1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P1 · Pg 2/3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25/46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790160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9/27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21024" y="941832"/>
            <a:ext cx="484632" cy="36576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786384"/>
            <a:ext cx="751840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4 Done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Instance / Prod / Non-Prod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Zoom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Slack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Palo Alto Prisma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PROD 2/2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Non-Prod 1/2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CrowdStrike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PROD 1/1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Proofpoint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2/3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784848" y="3419856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Mimecast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784848" y="4120469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784848" y="412046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0/2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56032" y="4599432"/>
            <a:ext cx="850392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Note:  Status Grouping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56032" y="4727448"/>
            <a:ext cx="85039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Completed  =  'Completed' + 'De-Scoped'  (green).     Pending  =  'In Progress' + 'Not Started' + 'Future Request'  (amber).     Status is read from the JIRA field configured in config.py → STATUS_FIELD.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1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P1 · Pg 3/3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25/46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790160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9/27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21024" y="941832"/>
            <a:ext cx="484632" cy="36576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786384"/>
            <a:ext cx="751840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4 Done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Instance / Prod / Non-Prod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Qualys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PROD 1/1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84848" y="111556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Rapid7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4848" y="1691640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Tenable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84848" y="2267712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Varonis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84848" y="2843784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SailPoint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BeyondTrust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784848" y="399592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56032" y="4599432"/>
            <a:ext cx="850392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Note:  Status Grouping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56032" y="4727448"/>
            <a:ext cx="85039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Completed  =  'Completed' + 'De-Scoped'  (green).     Pending  =  'In Progress' + 'Not Started' + 'Future Request'  (amber).     Status is read from the JIRA field configured in config.py → STATUS_FIELD.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2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P2 · Pg 1/6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7/52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195716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0/26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786384"/>
            <a:ext cx="21145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2 Done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Instance / Prod / Non-Prod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Box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×3 Non-Prod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Dropbox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4848" y="1691640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Atlassian (Jira/Confluence)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×3 Non-Prod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Zendesk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DocuSign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HubSpot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784848" y="4120469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784848" y="412046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56032" y="4599432"/>
            <a:ext cx="850392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Note:  Status Grouping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56032" y="4727448"/>
            <a:ext cx="85039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Completed  =  'Completed' + 'De-Scoped'  (green).     Pending  =  'In Progress' + 'Not Started' + 'Future Request'  (amber).     Status is read from the JIRA field configured in config.py → STATUS_FIELD.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2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P2 · Pg 2/6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7/52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195716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0/26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786384"/>
            <a:ext cx="21145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2 Done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Instance / Prod / Non-Prod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Tableau / Salesforce Analytics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Coupa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Snowflake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Splunk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PROD 1/1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0/1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Ariba / SAP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Veeva Vault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784848" y="399592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56032" y="4599432"/>
            <a:ext cx="850392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Note:  Status Grouping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56032" y="4727448"/>
            <a:ext cx="85039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Completed  =  'Completed' + 'De-Scoped'  (green).     Pending  =  'In Progress' + 'Not Started' + 'Future Request'  (amber).     Status is read from the JIRA field configured in config.py → STATUS_FIELD.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2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P2 · Pg 3/6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7/52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195716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0/26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786384"/>
            <a:ext cx="21145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2 Done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Instance / Prod / Non-Prod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Workiva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84848" y="111556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NetSuite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84848" y="1691640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Anaplan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84848" y="2267712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Concur (SAP)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84848" y="2843784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Adobe Sign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0/2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SuccessFactors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784848" y="399592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56032" y="4599432"/>
            <a:ext cx="850392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Note:  Status Grouping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56032" y="4727448"/>
            <a:ext cx="85039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Completed  =  'Completed' + 'De-Scoped'  (green).     Pending  =  'In Progress' + 'Not Started' + 'Future Request'  (amber).     Status is read from the JIRA field configured in config.py → STATUS_FIELD.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2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P2 · Pg 4/6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7/52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195716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0/26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786384"/>
            <a:ext cx="21145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2 Done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Instance / Prod / Non-Prod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Darktrace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PROD 1/1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Elastic (ELK)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PagerDuty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84848" y="2267712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Dynatrace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Miro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784848" y="3419856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Figma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784848" y="399592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56032" y="4599432"/>
            <a:ext cx="850392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Note:  Status Grouping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56032" y="4727448"/>
            <a:ext cx="85039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Completed  =  'Completed' + 'De-Scoped'  (green).     Pending  =  'In Progress' + 'Not Started' + 'Future Request'  (amber).     Status is read from the JIRA field configured in config.py → STATUS_FIELD.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2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P2 · Pg 5/6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7/52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195716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0/26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786384"/>
            <a:ext cx="21145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2 Done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Instance / Prod / Non-Prod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Notion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84848" y="111556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monday.com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84848" y="1691640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Asana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84848" y="2267712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Jira Service Mgmt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Non-Prod 0/2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Freshdesk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784848" y="3419856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Intercom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784848" y="399592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56032" y="4599432"/>
            <a:ext cx="850392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Note:  Status Grouping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56032" y="4727448"/>
            <a:ext cx="85039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Completed  =  'Completed' + 'De-Scoped'  (green).     Pending  =  'In Progress' + 'Not Started' + 'Future Request'  (amber).     Status is read from the JIRA field configured in config.py → STATUS_FIELD.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2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P2 · Pg 6/6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7/52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195716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0/26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786384"/>
            <a:ext cx="21145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2 Done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Instance / Prod / Non-Prod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Twilio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Pending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84848" y="111556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SendGrid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84848" y="1691640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6032" y="4599432"/>
            <a:ext cx="850392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Note:  Status Grouping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032" y="4727448"/>
            <a:ext cx="85039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Completed  =  'Completed' + 'De-Scoped'  (green).     Pending  =  'In Progress' + 'Not Started' + 'Future Request'  (amber).     Status is read from the JIRA field configured in config.py → STATUS_FIELD.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Blockers &amp; Impediments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5 Blockers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8814816" cy="237744"/>
          </a:xfrm>
          <a:prstGeom prst="rect">
            <a:avLst/>
          </a:prstGeom>
          <a:solidFill>
            <a:srgbClr val="FFEDED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54864" cy="23774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21792"/>
            <a:ext cx="6400800" cy="2377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50" b="1" i="0">
                <a:solidFill>
                  <a:srgbClr val="DC2626"/>
                </a:solidFill>
                <a:latin typeface="Calibri"/>
              </a:rPr>
              <a:t>Active Blockers &amp; Impediments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877824"/>
            <a:ext cx="8814816" cy="1874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4592" y="877824"/>
            <a:ext cx="54864" cy="1874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877824"/>
            <a:ext cx="3657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DC2626"/>
                </a:solidFill>
                <a:latin typeface="Calibri"/>
              </a:rPr>
              <a:t>B1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877824"/>
            <a:ext cx="512064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0" i="0">
                <a:solidFill>
                  <a:srgbClr val="0F172A"/>
                </a:solidFill>
                <a:latin typeface="Calibri"/>
              </a:rPr>
              <a:t>Salesforce EMEA — Prod tenant access pending IT Ops approval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905256"/>
            <a:ext cx="1005840" cy="132588"/>
          </a:xfrm>
          <a:prstGeom prst="rect">
            <a:avLst/>
          </a:prstGeom>
          <a:solidFill>
            <a:srgbClr val="D2FFFF"/>
          </a:solidFill>
          <a:ln w="95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905256"/>
            <a:ext cx="100584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Phase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877824"/>
            <a:ext cx="12801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750" b="0" i="0">
                <a:solidFill>
                  <a:srgbClr val="64748B"/>
                </a:solidFill>
                <a:latin typeface="Calibri"/>
              </a:rPr>
              <a:t>Owner: IT Ops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75904" y="905256"/>
            <a:ext cx="530352" cy="132588"/>
          </a:xfrm>
          <a:prstGeom prst="rect">
            <a:avLst/>
          </a:prstGeom>
          <a:solidFill>
            <a:srgbClr val="FFF8F8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905256"/>
            <a:ext cx="530352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C2626"/>
                </a:solidFill>
                <a:latin typeface="Calibri"/>
              </a:rPr>
              <a:t>High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4592" y="1083564"/>
            <a:ext cx="8814816" cy="1874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4592" y="1083564"/>
            <a:ext cx="54864" cy="1874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1083564"/>
            <a:ext cx="3657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DC2626"/>
                </a:solidFill>
                <a:latin typeface="Calibri"/>
              </a:rPr>
              <a:t>B2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1083564"/>
            <a:ext cx="512064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0" i="0">
                <a:solidFill>
                  <a:srgbClr val="0F172A"/>
                </a:solidFill>
                <a:latin typeface="Calibri"/>
              </a:rPr>
              <a:t>ServiceNow NA — API endpoint unreachable, firewall change raised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2160" y="1110996"/>
            <a:ext cx="1005840" cy="132588"/>
          </a:xfrm>
          <a:prstGeom prst="rect">
            <a:avLst/>
          </a:prstGeom>
          <a:solidFill>
            <a:srgbClr val="D2FFFF"/>
          </a:solidFill>
          <a:ln w="95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0" y="1110996"/>
            <a:ext cx="100584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Phase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083564"/>
            <a:ext cx="12801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750" b="0" i="0">
                <a:solidFill>
                  <a:srgbClr val="64748B"/>
                </a:solidFill>
                <a:latin typeface="Calibri"/>
              </a:rPr>
              <a:t>Owner: Network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75904" y="1110996"/>
            <a:ext cx="530352" cy="132588"/>
          </a:xfrm>
          <a:prstGeom prst="rect">
            <a:avLst/>
          </a:prstGeom>
          <a:solidFill>
            <a:srgbClr val="FFF8F8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75904" y="1110996"/>
            <a:ext cx="530352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C2626"/>
                </a:solidFill>
                <a:latin typeface="Calibri"/>
              </a:rPr>
              <a:t>High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4592" y="1289304"/>
            <a:ext cx="8814816" cy="1874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64592" y="1289304"/>
            <a:ext cx="54864" cy="1874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1289304"/>
            <a:ext cx="3657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B3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" y="1289304"/>
            <a:ext cx="512064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0" i="0">
                <a:solidFill>
                  <a:srgbClr val="0F172A"/>
                </a:solidFill>
                <a:latin typeface="Calibri"/>
              </a:rPr>
              <a:t>Workday NA — Non-Prod tenant config not shared by app owner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52160" y="1316736"/>
            <a:ext cx="1005840" cy="132588"/>
          </a:xfrm>
          <a:prstGeom prst="rect">
            <a:avLst/>
          </a:prstGeom>
          <a:solidFill>
            <a:srgbClr val="D2FFFF"/>
          </a:solidFill>
          <a:ln w="95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52160" y="1316736"/>
            <a:ext cx="100584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Phase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1289304"/>
            <a:ext cx="12801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750" b="0" i="0">
                <a:solidFill>
                  <a:srgbClr val="64748B"/>
                </a:solidFill>
                <a:latin typeface="Calibri"/>
              </a:rPr>
              <a:t>Owner: App Owner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75904" y="1316736"/>
            <a:ext cx="530352" cy="132588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5904" y="1316736"/>
            <a:ext cx="530352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97706"/>
                </a:solidFill>
                <a:latin typeface="Calibri"/>
              </a:rPr>
              <a:t>Med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64592" y="1495044"/>
            <a:ext cx="8814816" cy="1874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4592" y="1495044"/>
            <a:ext cx="54864" cy="1874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1495044"/>
            <a:ext cx="3657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B4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" y="1495044"/>
            <a:ext cx="512064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0" i="0">
                <a:solidFill>
                  <a:srgbClr val="0F172A"/>
                </a:solidFill>
                <a:latin typeface="Calibri"/>
              </a:rPr>
              <a:t>Box EMEA — Licence procurement approval pending Finance sign-off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2160" y="1522476"/>
            <a:ext cx="1005840" cy="132588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52160" y="1522476"/>
            <a:ext cx="100584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Phase 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1495044"/>
            <a:ext cx="12801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750" b="0" i="0">
                <a:solidFill>
                  <a:srgbClr val="64748B"/>
                </a:solidFill>
                <a:latin typeface="Calibri"/>
              </a:rPr>
              <a:t>Owner: Finance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75904" y="1522476"/>
            <a:ext cx="530352" cy="132588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75904" y="1522476"/>
            <a:ext cx="530352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97706"/>
                </a:solidFill>
                <a:latin typeface="Calibri"/>
              </a:rPr>
              <a:t>Med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64592" y="1700784"/>
            <a:ext cx="8814816" cy="1874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64592" y="1700784"/>
            <a:ext cx="54864" cy="1874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1700784"/>
            <a:ext cx="3657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DC2626"/>
                </a:solidFill>
                <a:latin typeface="Calibri"/>
              </a:rPr>
              <a:t>B5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" y="1700784"/>
            <a:ext cx="512064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0" i="0">
                <a:solidFill>
                  <a:srgbClr val="0F172A"/>
                </a:solidFill>
                <a:latin typeface="Calibri"/>
              </a:rPr>
              <a:t>Atlassian — Prod API key rotation blocking SSPM connector config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52160" y="1728216"/>
            <a:ext cx="1005840" cy="132588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52160" y="1728216"/>
            <a:ext cx="100584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Phase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49440" y="1700784"/>
            <a:ext cx="12801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750" b="0" i="0">
                <a:solidFill>
                  <a:srgbClr val="64748B"/>
                </a:solidFill>
                <a:latin typeface="Calibri"/>
              </a:rPr>
              <a:t>Owner: Platform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75904" y="1728216"/>
            <a:ext cx="530352" cy="132588"/>
          </a:xfrm>
          <a:prstGeom prst="rect">
            <a:avLst/>
          </a:prstGeom>
          <a:solidFill>
            <a:srgbClr val="FFF8F8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75904" y="1728216"/>
            <a:ext cx="530352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C2626"/>
                </a:solidFill>
                <a:latin typeface="Calibri"/>
              </a:rPr>
              <a:t>High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Milestones &amp;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" y="621792"/>
            <a:ext cx="8814816" cy="256032"/>
          </a:xfrm>
          <a:prstGeom prst="rect">
            <a:avLst/>
          </a:prstGeom>
          <a:solidFill>
            <a:srgbClr val="DC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21792"/>
            <a:ext cx="54864" cy="25603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621792"/>
            <a:ext cx="64008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50" b="1" i="0">
                <a:solidFill>
                  <a:srgbClr val="059669"/>
                </a:solidFill>
                <a:latin typeface="Calibri"/>
              </a:rPr>
              <a:t>Phase 2 · Auto-Ticketing Integration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562088" y="658368"/>
            <a:ext cx="1325880" cy="182880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62088" y="658368"/>
            <a:ext cx="1325880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877824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" y="877824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877824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SSPM → ServiceNow connector: requirements &amp; design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62088" y="914400"/>
            <a:ext cx="1325880" cy="132588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62088" y="914400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4592" y="1110996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" y="1110996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110996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Connector build — Phase 1 apps (P1 scope)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62088" y="1147572"/>
            <a:ext cx="1325880" cy="132588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2088" y="1147572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" y="1344168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" y="1344168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1344168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Connector build — Phase 2 apps (P2 scope)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62088" y="1380744"/>
            <a:ext cx="1325880" cy="132588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62088" y="1380744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4592" y="1577340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6032" y="1577340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1577340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Ticket template design (fields, SLA, priority rules)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62088" y="1613916"/>
            <a:ext cx="1325880" cy="132588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62088" y="1613916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4592" y="1810512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032" y="1810512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1810512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Assignment routing rules &amp; escalation matrix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62088" y="1847088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62088" y="1847088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" y="2043684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6032" y="2043684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2043684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UAT — internal SSPM team validation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62088" y="2080260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62088" y="2080260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276856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032" y="2276856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2276856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UAT — app owner pilot (10 apps)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562088" y="2313432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62088" y="2313432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64592" y="2510027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6032" y="2510027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2510027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Runbook: auto-ticket lifecycle SOP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62088" y="2546603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62088" y="2546603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64592" y="2743199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032" y="2743199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2743199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Load &amp; performance testing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62088" y="2779775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62088" y="2779775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64592" y="2976371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6032" y="2976371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2976371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Go-live &amp; hypercare (2-week window)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562088" y="3012947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62088" y="3012947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4592" y="3282695"/>
            <a:ext cx="8814816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64592" y="3282695"/>
            <a:ext cx="54864" cy="25603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92608" y="3282695"/>
            <a:ext cx="64008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50" b="1" i="0">
                <a:solidFill>
                  <a:srgbClr val="6D28D9"/>
                </a:solidFill>
                <a:latin typeface="Calibri"/>
              </a:rPr>
              <a:t>Phase 3 · Scorecard &amp; Operationalisation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62088" y="3319271"/>
            <a:ext cx="132588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562088" y="3319271"/>
            <a:ext cx="1325880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4592" y="3538727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56032" y="3538727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3538727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Define KPIs and scoring framework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562088" y="3575303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562088" y="3575303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64592" y="3771899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56032" y="3771899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48640" y="3771899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Build SSPM health dashboard (Power BI / Tableau)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562088" y="3808475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562088" y="3808475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64592" y="4005071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56032" y="4005071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8640" y="4005071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App owner reporting template &amp; cadence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562088" y="4041647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562088" y="4041647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4592" y="4238243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56032" y="4238243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0" y="4238243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Runbook &amp; SOP documentation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562088" y="4274819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562088" y="4274819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4592" y="4471415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56032" y="4471415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" y="4471415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SSPM operating model (BAU) sign-off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562088" y="4507991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62088" y="4507991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Milestones &amp;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2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8814816" cy="166420"/>
          </a:xfrm>
          <a:prstGeom prst="rect">
            <a:avLst/>
          </a:prstGeom>
          <a:solidFill>
            <a:srgbClr val="FFFFFF"/>
          </a:solidFill>
          <a:ln w="952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621792"/>
            <a:ext cx="7315200" cy="1664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Phase 3 · Scorecard &amp; Operationalisation  (continued)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164592" y="788212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" y="788212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788212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BAU handover to operations team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62088" y="824788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2088" y="824788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592" y="1021384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" y="1021384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021384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Post-go-live review &amp; lessons learned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62088" y="1057960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62088" y="1057960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4592" y="1254556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032" y="1254556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1254556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Hypercare exit criteria &amp; sign-off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62088" y="1291132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62088" y="1291132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4592" y="1560880"/>
            <a:ext cx="8814816" cy="256032"/>
          </a:xfrm>
          <a:prstGeom prst="rect">
            <a:avLst/>
          </a:prstGeom>
          <a:solidFill>
            <a:srgbClr val="DBFFFF"/>
          </a:solidFill>
          <a:ln w="9525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64592" y="1560880"/>
            <a:ext cx="54864" cy="256032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" y="1560880"/>
            <a:ext cx="64008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50" b="1" i="0">
                <a:solidFill>
                  <a:srgbClr val="047A57"/>
                </a:solidFill>
                <a:latin typeface="Calibri"/>
              </a:rPr>
              <a:t>Phase 4 · Continuous Improvement &amp; Expansion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62088" y="1597456"/>
            <a:ext cx="132588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62088" y="1597456"/>
            <a:ext cx="1325880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4592" y="1816912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6032" y="1816912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47A57"/>
                </a:solidFill>
                <a:latin typeface="Calibr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1816912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Review Phase 3/4 app onboarding backlog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62088" y="1853488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62088" y="1853488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4592" y="2050084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032" y="2050084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47A57"/>
                </a:solidFill>
                <a:latin typeface="Calibr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2050084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Automated risk-scoring model v2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62088" y="2086660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62088" y="2086660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64592" y="2283256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2" y="2283256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47A57"/>
                </a:solidFill>
                <a:latin typeface="Calibri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2283256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Integration with PAM / IAM tooling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62088" y="2319832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62088" y="2319832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4592" y="2516428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032" y="2516428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47A57"/>
                </a:solidFill>
                <a:latin typeface="Calibri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2516428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Expanded SSPM coverage: Phase 4 apps (198 apps)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62088" y="2553004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62088" y="2553004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749600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6032" y="2749600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47A57"/>
                </a:solidFill>
                <a:latin typeface="Calibri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2749600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Quarterly review cadence with steering committee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62088" y="2786176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62088" y="2786176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64592" y="2982772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6032" y="2982772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47A57"/>
                </a:solidFill>
                <a:latin typeface="Calibri"/>
              </a:rP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2982772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Audit &amp; compliance reporting package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562088" y="3019348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62088" y="3019348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Appendix — Application Instance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1/8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256031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621792"/>
            <a:ext cx="201167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621792"/>
            <a:ext cx="1591056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621792"/>
            <a:ext cx="1536192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8256" y="621792"/>
            <a:ext cx="190195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82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621792"/>
            <a:ext cx="184708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Instance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621792"/>
            <a:ext cx="80467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59" y="621792"/>
            <a:ext cx="74980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456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914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41264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41264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96128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Env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621792"/>
            <a:ext cx="841247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621792"/>
            <a:ext cx="786384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Sub-task Key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621792"/>
            <a:ext cx="1481328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5472" y="621792"/>
            <a:ext cx="1426463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85953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" y="85953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85953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2" y="85953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APAC Prod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85953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8032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85953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SSPM-101-P1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105156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105156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105156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84832" y="105156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APAC Prod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05072" y="105156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28032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105156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SSPM-101-NP1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4592" y="124358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4592" y="124358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124358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84832" y="124358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APAC DR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05072" y="124358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28032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124358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SSPM-102-P1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" y="143560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4592" y="143560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5488" y="143560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84832" y="143560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APAC DR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05072" y="143560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28032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143560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SSPM-102-NP1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" y="162763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4592" y="162763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5488" y="162763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84832" y="162763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EMEA Prod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05072" y="162763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28032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77840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162763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SSPM-103-P1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4592" y="181965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64592" y="181965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181965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84832" y="181965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EMEA Prod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05072" y="181965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8032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77840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181965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SSPM-103-NP1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4592" y="201168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4592" y="201168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" y="201168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84832" y="201168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Japan Prod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05072" y="201168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28032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77840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27648" y="201168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SSPM-104-P1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" y="220370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4592" y="220370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" y="220370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84832" y="220370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Japan Prod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05072" y="220370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28032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77840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27648" y="220370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SSPM-104-NP1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4592" y="239572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4592" y="239572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488" y="239572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239572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NA Prod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005072" y="239572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28032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77840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27648" y="239572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SSPM-105-P1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258775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64592" y="258775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5488" y="258775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84832" y="258775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NA Prod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05072" y="258775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28032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27648" y="258775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SSPM-105-NP1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64592" y="277977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64592" y="277977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75488" y="277977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84832" y="277977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NA Sandbox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05072" y="277977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28032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77840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27648" y="277977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SSPM-106-P1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64592" y="297180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64592" y="297180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75488" y="297180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84832" y="297180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NA Sandbox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05072" y="297180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28032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77840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27648" y="297180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SSPM-106-NP1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64592" y="316382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4592" y="316382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5488" y="316382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84832" y="316382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Global Prod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05072" y="316382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828032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577840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327648" y="316382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SSPM-107-P1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64592" y="335584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64592" y="335584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75488" y="335584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084832" y="335584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Salesforce - TG Prod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005072" y="335584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28032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577840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27648" y="335584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SSPM-108-P1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64592" y="3547872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92" y="354787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75488" y="354787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084832" y="354787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 - APAC Prod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005072" y="354787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828032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577840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27648" y="354787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SSPM-201-P1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64592" y="373989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64592" y="373989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75488" y="373989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2084832" y="373989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 - APAC Prod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005072" y="373989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28032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577840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327648" y="373989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SSPM-201-NP1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64592" y="393192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64592" y="393192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17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5488" y="393192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084832" y="393192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 - EMEA Prod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005072" y="393192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28032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577840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327648" y="393192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SSPM-202-P1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64592" y="412394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64592" y="412394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18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75488" y="412394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84832" y="412394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 - EMEA Prod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005072" y="412394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828032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77840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327648" y="412394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SSPM-202-NP1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164592" y="431596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64592" y="431596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19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75488" y="431596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084832" y="431596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 - NA Prod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005072" y="431596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828032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577840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327648" y="431596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SSPM-203-P1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64592" y="450799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64592" y="450799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75488" y="450799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084832" y="450799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Workday - NA Prod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005072" y="450799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828032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577840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6327648" y="450799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SSPM-203-NP1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Appendix — Application Instance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2/8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256031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621792"/>
            <a:ext cx="201167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621792"/>
            <a:ext cx="1591056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621792"/>
            <a:ext cx="1536192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8256" y="621792"/>
            <a:ext cx="190195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82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621792"/>
            <a:ext cx="184708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Instance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621792"/>
            <a:ext cx="80467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59" y="621792"/>
            <a:ext cx="74980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456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914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41264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41264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96128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Env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621792"/>
            <a:ext cx="841247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621792"/>
            <a:ext cx="786384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Sub-task Key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621792"/>
            <a:ext cx="1481328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5472" y="621792"/>
            <a:ext cx="1426463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85953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" y="85953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85953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2" y="85953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 - APAC Prod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85953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8032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85953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SSPM-301-P1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105156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105156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105156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84832" y="105156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 - APAC Prod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05072" y="105156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28032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105156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SSPM-301-NP1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4592" y="124358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4592" y="124358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124358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84832" y="124358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 - EMEA Prod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05072" y="124358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28032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124358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SSPM-302-P1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" y="143560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4592" y="143560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5488" y="143560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84832" y="143560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 - EMEA Prod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05072" y="143560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28032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143560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SSPM-302-NP1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" y="162763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4592" y="162763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5488" y="162763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84832" y="162763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 - NA Prod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05072" y="162763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28032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77840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162763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SSPM-303-P1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4592" y="181965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64592" y="181965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181965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84832" y="181965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 - NA Prod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05072" y="181965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8032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77840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181965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SSPM-303-NP1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4592" y="201168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4592" y="201168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" y="201168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84832" y="201168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ServiceNow - Japan Prod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05072" y="201168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28032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77840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27648" y="201168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SSPM-304-P1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" y="2203704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4592" y="220370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" y="220370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Enterprise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84832" y="220370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 - APAC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05072" y="220370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28032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77840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27648" y="220370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SSPM-401-P1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4592" y="239572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4592" y="239572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29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488" y="239572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Enterprise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239572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 - APAC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005072" y="239572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28032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77840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27648" y="239572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SSPM-401-NP1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258775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64592" y="258775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5488" y="258775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Enterprise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84832" y="258775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 - EMEA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05072" y="258775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28032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27648" y="258775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SSPM-402-P1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64592" y="277977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64592" y="277977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75488" y="277977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Enterprise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84832" y="277977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 - EMEA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05072" y="277977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28032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77840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27648" y="277977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SSPM-402-NP1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64592" y="297180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64592" y="297180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75488" y="297180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Enterprise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84832" y="297180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 - NA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05072" y="297180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28032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77840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27648" y="297180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SSPM-403-P1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64592" y="316382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4592" y="316382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5488" y="316382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Enterprise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84832" y="316382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GitHub Ent - NA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05072" y="316382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828032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577840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327648" y="316382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SSPM-403-NP1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64592" y="3355848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64592" y="335584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75488" y="335584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Microsoft 365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084832" y="335584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M365 - APAC Prod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005072" y="335584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28032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577840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27648" y="335584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SSPM-501-P1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64592" y="354787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92" y="354787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75488" y="354787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Microsoft 365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084832" y="354787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M365 - EMEA Prod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005072" y="354787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828032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577840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27648" y="354787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SSPM-502-P1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64592" y="373989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64592" y="373989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75488" y="373989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Microsoft 365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2084832" y="373989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M365 - Japan Prod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005072" y="373989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28032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577840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327648" y="373989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SSPM-503-P1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64592" y="393192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64592" y="393192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37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5488" y="393192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Microsoft 365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084832" y="393192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M365 - NA Prod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005072" y="393192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28032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577840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327648" y="393192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SSPM-504-P1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64592" y="412394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64592" y="412394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38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75488" y="412394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Microsoft 365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84832" y="412394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M365 - Global Prod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005072" y="412394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828032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77840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327648" y="412394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SSPM-505-P1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164592" y="4315968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64592" y="431596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39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75488" y="431596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084832" y="431596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 - APAC Prod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005072" y="431596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828032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577840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327648" y="431596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SSPM-601-P1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64592" y="450799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64592" y="450799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75488" y="450799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084832" y="450799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 - APAC Prod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005072" y="450799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828032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577840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6327648" y="450799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SSPM-601-NP1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Appendix — Application Instance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3/8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256031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621792"/>
            <a:ext cx="201167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621792"/>
            <a:ext cx="1591056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621792"/>
            <a:ext cx="1536192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8256" y="621792"/>
            <a:ext cx="190195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82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621792"/>
            <a:ext cx="184708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Instance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621792"/>
            <a:ext cx="80467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59" y="621792"/>
            <a:ext cx="74980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456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914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41264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41264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96128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Env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621792"/>
            <a:ext cx="841247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621792"/>
            <a:ext cx="786384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Sub-task Key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621792"/>
            <a:ext cx="1481328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5472" y="621792"/>
            <a:ext cx="1426463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85953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" y="85953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85953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2" y="85953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 - NA Prod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85953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8032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85953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SSPM-602-P1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105156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105156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105156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84832" y="105156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 - NA Prod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05072" y="105156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28032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105156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SSPM-602-NP1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4592" y="124358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4592" y="124358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124358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84832" y="124358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 - EMEA Prod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05072" y="124358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28032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124358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SSPM-603-P1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" y="143560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4592" y="143560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5488" y="143560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84832" y="143560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Okta - EMEA Prod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05072" y="143560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28032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143560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SSPM-603-NP1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" y="1627632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4592" y="162763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5488" y="162763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Zoom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84832" y="162763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Zoom - Global Prod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05072" y="162763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28032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77840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162763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SSPM-701-P1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4592" y="181965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64592" y="181965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181965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Zoom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84832" y="181965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Zoom - Global Prod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05072" y="181965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8032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77840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181965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SSPM-701-NP1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4592" y="201168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4592" y="201168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" y="201168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Zoom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84832" y="201168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Zoom - Japan Prod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05072" y="201168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28032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77840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27648" y="201168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SSPM-702-P1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" y="2203704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4592" y="220370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" y="220370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Slack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84832" y="220370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Slack - Global Prod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05072" y="220370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28032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77840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27648" y="220370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SSPM-801-P1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4592" y="239572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4592" y="239572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49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488" y="239572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Slack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239572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Slack - APAC Prod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005072" y="239572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28032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77840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27648" y="239572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SSPM-802-P1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258775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64592" y="258775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5488" y="258775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Slack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84832" y="258775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Slack - APAC Prod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05072" y="258775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28032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27648" y="258775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SSPM-802-NP1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64592" y="277977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64592" y="277977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75488" y="277977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Palo Alto Prisma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84832" y="277977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Prisma - APAC Prod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05072" y="277977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28032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77840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27648" y="277977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SSPM-901-P1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64592" y="297180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64592" y="297180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75488" y="297180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Palo Alto Prisma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84832" y="297180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Prisma - APAC Prod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05072" y="297180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28032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77840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27648" y="297180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SSPM-901-NP1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64592" y="316382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4592" y="316382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5488" y="316382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Palo Alto Prisma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84832" y="316382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Prisma - NA Prod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05072" y="316382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828032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577840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327648" y="316382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SSPM-902-P1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64592" y="335584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64592" y="335584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75488" y="335584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Palo Alto Prisma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084832" y="335584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Prisma - NA Prod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005072" y="335584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28032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577840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27648" y="335584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SSPM-902-NP1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64592" y="3547872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92" y="354787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75488" y="354787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CrowdStrike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084832" y="354787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CrowdStrike - Global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005072" y="354787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828032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577840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27648" y="354787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SSPM-1001-P1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64592" y="373989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64592" y="373989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75488" y="373989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CrowdStrike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2084832" y="373989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CrowdStrike - Global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005072" y="373989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28032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577840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327648" y="373989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SSPM-1001-NP1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64592" y="3931920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64592" y="393192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57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5488" y="393192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Proofpoint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084832" y="393192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Proofpoint - APAC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005072" y="393192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28032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577840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327648" y="393192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SSPM-1101-P1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64592" y="412394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64592" y="412394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58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75488" y="412394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Proofpoint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84832" y="412394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Proofpoint - EMEA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005072" y="412394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828032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77840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327648" y="412394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SSPM-1102-P1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164592" y="431596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64592" y="431596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59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75488" y="431596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Proofpoint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084832" y="431596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Proofpoint - NA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005072" y="431596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828032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577840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327648" y="431596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SSPM-1103-P1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64592" y="4507992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64592" y="450799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75488" y="450799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Mimecast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084832" y="450799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Mimecast - APAC Prod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005072" y="450799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828032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577840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6327648" y="450799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SSPM-1201-P1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Appendix — Application Instance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4/8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256031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621792"/>
            <a:ext cx="201167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621792"/>
            <a:ext cx="1591056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621792"/>
            <a:ext cx="1536192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8256" y="621792"/>
            <a:ext cx="190195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82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621792"/>
            <a:ext cx="184708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Instance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621792"/>
            <a:ext cx="80467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59" y="621792"/>
            <a:ext cx="74980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456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914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41264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41264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96128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Env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621792"/>
            <a:ext cx="841247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621792"/>
            <a:ext cx="786384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Sub-task Key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621792"/>
            <a:ext cx="1481328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5472" y="621792"/>
            <a:ext cx="1426463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85953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" y="85953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85953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Mimecast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2" y="85953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Mimecast - APAC Prod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85953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8032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85953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SSPM-1201-NP1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105156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105156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105156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Mimecast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84832" y="105156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Mimecast - EMEA Prod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05072" y="105156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28032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105156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SSPM-1202-P1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4592" y="124358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4592" y="124358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124358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Mimecast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84832" y="124358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Mimecast - EMEA Prod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05072" y="124358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28032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124358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SSPM-1202-NP1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" y="1435608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4592" y="143560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5488" y="143560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Qualys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84832" y="143560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Qualys - Global Prod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05072" y="143560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28032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143560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SSPM-1301-P1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" y="1627632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4592" y="162763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5488" y="162763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Rapid7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84832" y="162763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Rapid7 - APAC Prod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05072" y="162763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28032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77840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162763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SSPM-1401-P1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4592" y="181965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64592" y="181965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181965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Rapid7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84832" y="181965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Rapid7 - NA Prod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05072" y="181965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8032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77840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181965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SSPM-1402-P1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4592" y="2011680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4592" y="201168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" y="201168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Tenable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84832" y="201168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Tenable - APAC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05072" y="201168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28032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77840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27648" y="201168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SSPM-1501-P1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" y="2203704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4592" y="220370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" y="220370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Varonis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84832" y="220370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Varonis - NA Prod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05072" y="220370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28032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77840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27648" y="220370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SSPM-1601-P1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4592" y="2395728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4592" y="239572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69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488" y="239572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SailPoint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239572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SailPoint - APAC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005072" y="239572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28032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77840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27648" y="239572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SSPM-1701-P1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258775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64592" y="258775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5488" y="258775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SailPoint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84832" y="258775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SailPoint - APAC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05072" y="258775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28032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27648" y="258775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SSPM-1701-NP1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64592" y="277977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64592" y="277977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75488" y="277977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SailPoint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84832" y="277977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SailPoint - EMEA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05072" y="277977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28032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77840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27648" y="277977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SSPM-1702-P1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64592" y="297180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64592" y="297180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75488" y="297180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SailPoint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84832" y="297180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SailPoint - EMEA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05072" y="297180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28032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77840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27648" y="297180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SSPM-1702-NP1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64592" y="3163824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4592" y="316382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5488" y="316382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BeyondTrust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84832" y="316382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BeyondTrust - Global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05072" y="316382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828032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577840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327648" y="316382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SSPM-1801-P1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64592" y="3355848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64592" y="335584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75488" y="335584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084832" y="335584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 - APAC Prod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005072" y="335584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28032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577840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27648" y="335584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SSPM-2001-P1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64592" y="354787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92" y="354787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75488" y="354787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084832" y="354787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 - APAC Prod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005072" y="354787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828032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577840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27648" y="354787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SSPM-2001-NP1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64592" y="373989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64592" y="373989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75488" y="373989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2084832" y="373989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 - EMEA Prod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005072" y="373989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28032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577840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327648" y="373989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SSPM-2002-P1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64592" y="393192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64592" y="393192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77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5488" y="393192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084832" y="393192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 - EMEA Prod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005072" y="393192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28032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577840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327648" y="393192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SSPM-2002-NP1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64592" y="412394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64592" y="412394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78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75488" y="412394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84832" y="412394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 - NA Prod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005072" y="412394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828032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77840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327648" y="412394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SSPM-2003-P1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164592" y="431596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64592" y="431596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79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75488" y="431596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084832" y="431596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Box - NA Prod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005072" y="431596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828032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577840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327648" y="431596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SSPM-2003-NP1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64592" y="4507992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64592" y="450799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75488" y="450799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Dropbox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084832" y="450799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Dropbox - APAC Prod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005072" y="450799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828032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577840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6327648" y="450799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SSPM-2101-P1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Appendix — Application Instance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5/8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256031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621792"/>
            <a:ext cx="201167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621792"/>
            <a:ext cx="1591056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621792"/>
            <a:ext cx="1536192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8256" y="621792"/>
            <a:ext cx="190195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82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621792"/>
            <a:ext cx="184708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Instance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621792"/>
            <a:ext cx="80467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59" y="621792"/>
            <a:ext cx="74980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456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914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41264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41264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96128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Env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621792"/>
            <a:ext cx="841247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621792"/>
            <a:ext cx="786384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Sub-task Key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621792"/>
            <a:ext cx="1481328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5472" y="621792"/>
            <a:ext cx="1426463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85953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" y="85953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85953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Dropbox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2" y="85953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Dropbox - NA Prod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85953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8032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85953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SSPM-2102-P1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1051560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105156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105156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(Jira/Confluence)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84832" y="105156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- APAC Prod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05072" y="105156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28032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105156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SSPM-2201-P1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4592" y="124358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4592" y="124358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124358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(Jira/Confluence)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84832" y="124358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- APAC Prod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05072" y="124358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28032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124358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SSPM-2201-NP1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" y="143560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4592" y="143560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5488" y="143560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(Jira/Confluence)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84832" y="143560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- EMEA Prod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05072" y="143560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28032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143560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SSPM-2202-P1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" y="162763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4592" y="162763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5488" y="162763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(Jira/Confluence)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84832" y="162763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- EMEA Prod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05072" y="162763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28032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77840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162763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SSPM-2202-NP1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4592" y="181965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64592" y="181965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181965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(Jira/Confluence)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84832" y="181965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- NA Prod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05072" y="181965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8032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77840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181965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SSPM-2203-P1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4592" y="201168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4592" y="201168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" y="201168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(Jira/Confluence)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84832" y="201168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Atlassian - NA Prod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05072" y="201168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28032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77840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27648" y="201168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SSPM-2203-NP1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" y="2203704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4592" y="220370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" y="220370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Zendesk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84832" y="220370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Zendesk - APAC Prod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05072" y="220370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28032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77840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27648" y="220370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SSPM-2301-P1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4592" y="239572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4592" y="239572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89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488" y="239572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Zendesk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239572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Zendesk - APAC Prod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005072" y="239572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28032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77840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27648" y="239572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SSPM-2301-NP1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258775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64592" y="258775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5488" y="258775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Zendesk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84832" y="258775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Zendesk - Global Prod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05072" y="258775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28032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27648" y="258775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SSPM-2302-P1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64592" y="277977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64592" y="277977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75488" y="277977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DocuSign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84832" y="277977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DocuSign - APAC Prod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05072" y="277977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28032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77840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27648" y="277977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SSPM-2401-P1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64592" y="297180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64592" y="297180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75488" y="297180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DocuSign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84832" y="297180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DocuSign - APAC Prod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05072" y="297180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28032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77840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27648" y="297180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SSPM-2401-NP1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64592" y="316382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4592" y="316382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5488" y="316382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DocuSign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84832" y="316382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DocuSign - NA Prod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05072" y="316382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828032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577840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327648" y="316382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SSPM-2402-P1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64592" y="335584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64592" y="335584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75488" y="335584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DocuSign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084832" y="335584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DocuSign - NA Prod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005072" y="335584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28032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577840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27648" y="335584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SSPM-2402-NP1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64592" y="3547872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92" y="354787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75488" y="354787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HubSpot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084832" y="354787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HubSpot - APAC Prod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005072" y="354787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828032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577840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27648" y="354787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SSPM-2501-P1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64592" y="373989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64592" y="373989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75488" y="373989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HubSpot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2084832" y="373989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HubSpot - APAC Prod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005072" y="373989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28032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577840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327648" y="373989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SSPM-2501-NP1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64592" y="393192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64592" y="393192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97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5488" y="393192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HubSpot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084832" y="393192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HubSpot - NA Prod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005072" y="393192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28032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577840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327648" y="393192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SSPM-2502-P1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64592" y="4123944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64592" y="412394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98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75488" y="412394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/ Salesforce Analytics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84832" y="412394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- APAC Prod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005072" y="412394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828032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77840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327648" y="412394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SSPM-2601-P1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164592" y="431596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64592" y="431596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99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75488" y="431596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/ Salesforce Analytics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084832" y="431596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- APAC Prod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005072" y="431596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828032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577840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327648" y="431596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SSPM-2601-NP1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64592" y="450799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64592" y="450799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75488" y="450799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/ Salesforce Analytics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084832" y="450799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- EMEA Prod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005072" y="450799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828032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577840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6327648" y="450799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SSPM-2602-P1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Appendix — Application Instance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6/8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256031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621792"/>
            <a:ext cx="201167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621792"/>
            <a:ext cx="1591056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621792"/>
            <a:ext cx="1536192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8256" y="621792"/>
            <a:ext cx="190195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82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621792"/>
            <a:ext cx="184708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Instance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621792"/>
            <a:ext cx="80467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59" y="621792"/>
            <a:ext cx="74980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456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914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41264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41264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96128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Env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621792"/>
            <a:ext cx="841247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621792"/>
            <a:ext cx="786384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Sub-task Key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621792"/>
            <a:ext cx="1481328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5472" y="621792"/>
            <a:ext cx="1426463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85953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" y="85953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85953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/ Salesforce Analytics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2" y="85953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- EMEA Prod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85953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8032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85953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SSPM-2602-NP1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105156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105156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105156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/ Salesforce Analytics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84832" y="105156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Tableau - NA Prod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05072" y="105156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28032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105156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SSPM-2603-P1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4592" y="1243584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4592" y="124358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124358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Coupa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84832" y="124358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Coupa - APAC Prod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05072" y="124358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28032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124358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SSPM-2701-P1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" y="143560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4592" y="143560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5488" y="143560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Coupa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84832" y="143560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Coupa - APAC Prod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05072" y="143560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28032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143560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SSPM-2701-NP1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" y="162763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4592" y="162763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5488" y="162763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Coupa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84832" y="162763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Coupa - NA Prod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05072" y="162763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28032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77840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162763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SSPM-2702-P1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4592" y="1819656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64592" y="181965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181965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Snowflake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84832" y="181965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Snowflake - APAC Prod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05072" y="181965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8032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77840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181965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SSPM-2801-P1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4592" y="201168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4592" y="201168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" y="201168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Snowflake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84832" y="201168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Snowflake - APAC Prod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05072" y="201168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28032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77840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27648" y="201168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SSPM-2801-NP1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" y="220370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4592" y="220370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" y="220370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Snowflake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84832" y="220370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Snowflake - NA Prod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05072" y="220370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28032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77840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27648" y="220370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SSPM-2802-P1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4592" y="239572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4592" y="239572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109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488" y="239572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Snowflake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239572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Snowflake - NA Prod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005072" y="239572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28032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77840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27648" y="239572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SSPM-2802-NP1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2587752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64592" y="258775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5488" y="258775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Splunk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84832" y="258775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Splunk - Global Prod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05072" y="258775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28032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27648" y="258775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SSPM-2901-P1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64592" y="277977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64592" y="277977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75488" y="277977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Splunk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84832" y="277977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Splunk - Global Prod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05072" y="277977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28032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77840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27648" y="277977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SSPM-2901-NP1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64592" y="2971800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64592" y="297180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75488" y="297180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Ariba / SAP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84832" y="297180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Ariba - APAC Prod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05072" y="297180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28032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77840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27648" y="297180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SSPM-3001-P1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64592" y="316382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4592" y="316382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5488" y="316382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Ariba / SAP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84832" y="316382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Ariba - APAC Prod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05072" y="316382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828032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577840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327648" y="316382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SSPM-3001-NP1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64592" y="335584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64592" y="335584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75488" y="335584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Ariba / SAP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084832" y="335584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Ariba - EMEA Prod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005072" y="335584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28032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577840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27648" y="335584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SSPM-3002-P1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64592" y="354787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92" y="354787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75488" y="354787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Ariba / SAP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084832" y="354787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Ariba - EMEA Prod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005072" y="354787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828032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577840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27648" y="354787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SSPM-3002-NP1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64592" y="3739896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64592" y="373989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75488" y="373989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Veeva Vault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2084832" y="373989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Veeva - APAC Prod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005072" y="373989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28032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577840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327648" y="373989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SSPM-3101-P1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64592" y="393192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64592" y="393192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117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5488" y="393192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Veeva Vault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084832" y="393192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Veeva - NA Prod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005072" y="393192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28032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577840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327648" y="393192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SSPM-3102-P1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64592" y="4123944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64592" y="412394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118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75488" y="412394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Workiva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84832" y="412394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Workiva - Global Prod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005072" y="412394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828032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77840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327648" y="412394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SSPM-3201-P1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164592" y="4315968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64592" y="431596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119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75488" y="431596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NetSuite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084832" y="431596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NetSuite - APAC Prod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005072" y="431596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828032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577840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327648" y="431596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SSPM-3301-P1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64592" y="450799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64592" y="450799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75488" y="450799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NetSuite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084832" y="450799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NetSuite - NA Prod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005072" y="450799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828032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577840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6327648" y="450799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SSPM-3302-P1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Appendix — Application Instance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7/8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256031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621792"/>
            <a:ext cx="201167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621792"/>
            <a:ext cx="1591056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621792"/>
            <a:ext cx="1536192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8256" y="621792"/>
            <a:ext cx="190195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82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621792"/>
            <a:ext cx="184708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Instance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621792"/>
            <a:ext cx="80467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59" y="621792"/>
            <a:ext cx="74980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456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914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41264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41264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96128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Env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621792"/>
            <a:ext cx="841247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621792"/>
            <a:ext cx="786384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Sub-task Key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621792"/>
            <a:ext cx="1481328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5472" y="621792"/>
            <a:ext cx="1426463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85953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" y="85953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85953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Anaplan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2" y="85953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Anaplan - APAC Prod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85953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8032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85953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SSPM-3401-P1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1051560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105156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105156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Concur (SAP)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84832" y="105156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Concur - Global Prod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05072" y="105156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28032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105156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SSPM-3501-P1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4592" y="1243584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4592" y="124358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124358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Adobe Sign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84832" y="124358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Adobe Sign - APAC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05072" y="124358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28032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124358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SSPM-3601-P1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" y="143560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4592" y="143560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5488" y="143560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Adobe Sign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84832" y="143560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Adobe Sign - APAC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05072" y="143560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28032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143560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SSPM-3601-NP1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" y="162763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4592" y="162763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5488" y="162763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Adobe Sign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84832" y="162763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Adobe Sign - NA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05072" y="162763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28032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77840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162763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SSPM-3602-P1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4592" y="181965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64592" y="181965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181965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Adobe Sign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84832" y="181965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Adobe Sign - NA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05072" y="181965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8032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77840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181965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SSPM-3602-NP1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4592" y="2011680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4592" y="201168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" y="201168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SuccessFactors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84832" y="201168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SuccessFactors - APAC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05072" y="201168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28032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77840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27648" y="201168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SSPM-3701-P1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" y="2203704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4592" y="220370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" y="220370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SuccessFactors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84832" y="220370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SuccessFactors - EMEA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05072" y="220370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28032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77840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27648" y="220370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SSPM-3702-P1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4592" y="2395728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4592" y="239572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129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488" y="239572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Darktrace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239572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Darktrace - APAC Prod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005072" y="239572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28032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77840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27648" y="239572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SSPM-3801-P1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258775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64592" y="258775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5488" y="258775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Darktrace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84832" y="258775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Darktrace - APAC Prod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05072" y="258775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28032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27648" y="258775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SSPM-3801-NP1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64592" y="277977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64592" y="277977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75488" y="277977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Elastic (ELK)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84832" y="277977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Elastic - Global Prod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05072" y="277977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28032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77840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27648" y="277977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SSPM-3901-P1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64592" y="297180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64592" y="297180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75488" y="297180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Elastic (ELK)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84832" y="297180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Elastic - Global Prod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05072" y="297180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28032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77840" y="297180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27648" y="297180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SSPM-3901-NP1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168896" y="299008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64592" y="3163824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4592" y="316382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5488" y="316382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PagerDuty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84832" y="316382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PagerDuty - Global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05072" y="316382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828032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577840" y="316382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327648" y="316382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SSPM-4001-P1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168896" y="318211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64592" y="3355848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64592" y="335584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75488" y="335584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Dynatrace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084832" y="335584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Dynatrace - APAC Prod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005072" y="335584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28032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577840" y="335584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27648" y="335584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SSPM-4101-P1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168896" y="337413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64592" y="354787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92" y="354787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75488" y="354787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Dynatrace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084832" y="354787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Dynatrace - APAC Prod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005072" y="354787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828032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577840" y="354787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27648" y="354787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SSPM-4101-NP1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168896" y="356616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64592" y="373989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64592" y="373989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75488" y="373989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Dynatrace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2084832" y="373989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Dynatrace - NA Prod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005072" y="373989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28032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577840" y="373989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327648" y="373989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SSPM-4102-P1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7168896" y="3758183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64592" y="3931920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64592" y="393192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137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5488" y="393192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Dynatrace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084832" y="393192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Dynatrace - NA Prod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005072" y="393192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28032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577840" y="393192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327648" y="393192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SSPM-4102-NP1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7168896" y="3950207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64592" y="4123944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64592" y="412394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138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75488" y="412394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Miro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084832" y="412394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Miro - Global Prod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005072" y="412394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828032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77840" y="412394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327648" y="412394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SSPM-4201-P1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168896" y="4142231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164592" y="4315968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64592" y="431596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139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75488" y="431596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Figma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084832" y="431596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Figma - Global Prod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005072" y="431596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828032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577840" y="431596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327648" y="431596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SSPM-4301-P1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7168896" y="4334255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64592" y="4507992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64592" y="450799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75488" y="450799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Notion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084832" y="450799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Notion - Global Prod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005072" y="450799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828032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577840" y="450799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6327648" y="450799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SSPM-4401-P1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7168896" y="4526279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Appendix — Application Instance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8/8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256031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621792"/>
            <a:ext cx="201167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621792"/>
            <a:ext cx="1591056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621792"/>
            <a:ext cx="1536192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8256" y="621792"/>
            <a:ext cx="190195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82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621792"/>
            <a:ext cx="184708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Instance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621792"/>
            <a:ext cx="804672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59" y="621792"/>
            <a:ext cx="749808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App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456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91456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41264" y="621792"/>
            <a:ext cx="731519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41264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96128" y="621792"/>
            <a:ext cx="676656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Env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621792"/>
            <a:ext cx="841247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621792"/>
            <a:ext cx="786384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Sub-task Key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621792"/>
            <a:ext cx="1481328" cy="237744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621792"/>
            <a:ext cx="27432" cy="23774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5472" y="621792"/>
            <a:ext cx="1426463" cy="23774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85953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" y="85953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85953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monday.com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2" y="85953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monday.com - APAC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85953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8032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85953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85953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SSPM-4501-P1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8896" y="87782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1051560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105156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105156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Asana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84832" y="105156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Asana - Global Prod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05072" y="105156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28032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105156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105156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SSPM-4601-P1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68896" y="106984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4592" y="1243584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4592" y="124358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124358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Jira Service Mgmt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84832" y="124358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JSM - APAC Prod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05072" y="124358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28032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124358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124358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SSPM-4701-P1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68896" y="126187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" y="1435608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4592" y="143560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5488" y="143560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Jira Service Mgmt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84832" y="143560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JSM - APAC Prod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05072" y="143560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28032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143560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143560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SSPM-4701-NP1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68896" y="145389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" y="162763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4592" y="162763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5488" y="162763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Jira Service Mgmt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84832" y="162763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JSM - NA Prod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05072" y="162763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28032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77840" y="162763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162763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SSPM-4702-P1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68896" y="164592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4592" y="1819656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64592" y="181965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181965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Jira Service Mgmt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84832" y="181965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JSM - NA Prod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05072" y="181965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8032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77840" y="181965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Non-Prod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181965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SSPM-4702-NP1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68896" y="183794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4592" y="2011680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4592" y="2011680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" y="2011680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Freshdesk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84832" y="2011680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Freshdesk - APAC Prod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05072" y="2011680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28032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77840" y="2011680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27648" y="2011680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SSPM-4801-P1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68896" y="2029968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" y="2203704"/>
            <a:ext cx="8467344" cy="173736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64592" y="2203704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" y="2203704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Intercom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84832" y="2203704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Intercom - Global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05072" y="2203704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28032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77840" y="2203704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27648" y="2203704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SSPM-4901-P1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68896" y="2221992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4592" y="2395728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4592" y="2395728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149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488" y="2395728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Twilio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2395728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Twilio - APAC Prod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005072" y="2395728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28032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77840" y="2395728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27648" y="2395728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SSPM-5001-P1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68896" y="2414016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4592" y="2587752"/>
            <a:ext cx="8467344" cy="17373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64592" y="2587752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150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5488" y="2587752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Twilio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84832" y="2587752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Twilio - NA Prod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05072" y="2587752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28032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2587752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27648" y="2587752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SSPM-5002-P1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168896" y="2606040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64592" y="2779776"/>
            <a:ext cx="8467344" cy="173736"/>
          </a:xfrm>
          <a:prstGeom prst="rect">
            <a:avLst/>
          </a:prstGeom>
          <a:solidFill>
            <a:srgbClr val="F0F4FF"/>
          </a:solidFill>
          <a:ln w="381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64592" y="2779776"/>
            <a:ext cx="25603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650" b="0" i="0">
                <a:solidFill>
                  <a:srgbClr val="64748B"/>
                </a:solidFill>
                <a:latin typeface="Calibri"/>
              </a:rPr>
              <a:t>151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75488" y="2779776"/>
            <a:ext cx="1554480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SendGrid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84832" y="2779776"/>
            <a:ext cx="186537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SendGrid - Global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05072" y="2779776"/>
            <a:ext cx="768096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28032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77840" y="2779776"/>
            <a:ext cx="694944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Prod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27648" y="2779776"/>
            <a:ext cx="804671" cy="19202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700" b="0" i="0">
                <a:solidFill>
                  <a:srgbClr val="0F172A"/>
                </a:solidFill>
                <a:latin typeface="Calibri"/>
              </a:rPr>
              <a:t>SSPM-5101-P1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168896" y="2798064"/>
            <a:ext cx="1444751" cy="14630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