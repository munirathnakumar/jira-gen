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SSPM Integration — Summary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03504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UNIQUE APPLICATIONS — BY PHASE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68096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04672"/>
            <a:ext cx="1353312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841248"/>
            <a:ext cx="1225295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7DD3FC"/>
                </a:solidFill>
                <a:latin typeface="Calibri"/>
              </a:rPr>
              <a:t>All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87552"/>
            <a:ext cx="122529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98448"/>
            <a:ext cx="1225295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0">
                <a:solidFill>
                  <a:srgbClr val="94A3B8"/>
                </a:solidFill>
                <a:latin typeface="Calibri"/>
              </a:rPr>
              <a:t>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426464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50 in-scope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536192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621 instances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6362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63624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506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07ACC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55064" y="1444752"/>
            <a:ext cx="617498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72562" y="1444752"/>
            <a:ext cx="280681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53243" y="1444752"/>
            <a:ext cx="25261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05856" y="1444752"/>
            <a:ext cx="5613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1992" y="1444752"/>
            <a:ext cx="84204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5064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329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329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1517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1517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9743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9743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797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797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6780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46780" y="804672"/>
            <a:ext cx="4572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8220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8220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8220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38220" y="1444752"/>
            <a:ext cx="17380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2027" y="1444752"/>
            <a:ext cx="893861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05888" y="1444752"/>
            <a:ext cx="14897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54865" y="1444752"/>
            <a:ext cx="74488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3822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3822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1004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1004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3787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3787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657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657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9937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9937" y="804672"/>
            <a:ext cx="45720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1377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21377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D28D9"/>
                </a:solidFill>
                <a:latin typeface="Calibri"/>
              </a:rPr>
              <a:t>143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1377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21377" y="1444752"/>
            <a:ext cx="10834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9724" y="1444752"/>
            <a:ext cx="1182785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1377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21377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6694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6694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1309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3094" y="804672"/>
            <a:ext cx="45720" cy="109728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453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453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47A57"/>
                </a:solidFill>
                <a:latin typeface="Calibri"/>
              </a:rPr>
              <a:t>198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0453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4534" y="1444752"/>
            <a:ext cx="26083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30617" y="1444752"/>
            <a:ext cx="1265049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0453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453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50100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50100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96251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496251" y="804672"/>
            <a:ext cx="45720" cy="10972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7691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7691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87691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87691" y="1444752"/>
            <a:ext cx="129113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87691" y="1563624"/>
            <a:ext cx="1281988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7691" y="1732605"/>
            <a:ext cx="1281988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592" y="19933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INSTANCES — PROD &amp; NON-PROD ONBOARDING STATUS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64592" y="21579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64592" y="2194560"/>
            <a:ext cx="54864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4592" y="21945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" y="2194560"/>
            <a:ext cx="457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25146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25146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37744" y="251460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323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4650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7977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13048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7959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1286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94613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4592" y="27020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64592" y="2702052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7744" y="2702052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323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650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7977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13048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46320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7959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91286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4613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64592" y="28895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" y="2889504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37744" y="2889504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323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4650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7977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13048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46320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7959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1286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4613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0769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4592" y="3076956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37744" y="3076956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323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4650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7977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13048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46320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7959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1286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94613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64592" y="3264408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4592" y="3264408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37744" y="3264408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323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74650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77977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3048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87959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1286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4613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4592" y="3451860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4592" y="345186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37744" y="345186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1323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74650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573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7977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621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13048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846320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7959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91286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674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4613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57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64592" y="3694176"/>
            <a:ext cx="4361688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64592" y="3694176"/>
            <a:ext cx="36576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56032" y="3730752"/>
            <a:ext cx="4233672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07ACC"/>
                </a:solidFill>
                <a:latin typeface="Calibri"/>
              </a:rPr>
              <a:t>What is a Unique Application?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32" y="3877056"/>
            <a:ext cx="423367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 Unique Application is a distinct SaaS product in the SSPM programme (e.g. Salesforce, Workday). Counted once regardless of how many environments or regions it operates in.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56032" y="4096512"/>
            <a:ext cx="4233672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= 1 unique app, even with 8 regional instances.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617720" y="3694176"/>
            <a:ext cx="4361688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17720" y="3694176"/>
            <a:ext cx="36576" cy="5303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709159" y="3730752"/>
            <a:ext cx="4233672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47A57"/>
                </a:solidFill>
                <a:latin typeface="Calibri"/>
              </a:rPr>
              <a:t>What is an Instance?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09159" y="3877056"/>
            <a:ext cx="423367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An Instance is one JIRA Story representing a specific deployment — a regional environment (Prod or Non-Prod) or tenant. One app can have multiple instances, each onboarded into SSPM separately.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09159" y="4096512"/>
            <a:ext cx="4233672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has 8 instances — APAC Prod, EMEA Prod, NA Sandbox …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64592" y="4261104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Done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56232" y="4261104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In Prog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47872" y="4261104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● Not Strt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239512" y="4261104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47A57"/>
                </a:solidFill>
                <a:latin typeface="Calibri"/>
              </a:rPr>
              <a:t>● Future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931152" y="4261104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D28D9"/>
                </a:solidFill>
                <a:latin typeface="Calibri"/>
              </a:rPr>
              <a:t>● D-Scoped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Integration Status — Region-wise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217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 ONBOARDING STATUS BY REGION — PROD &amp; NON-PROD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863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22960"/>
            <a:ext cx="109728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229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822960"/>
            <a:ext cx="1005839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11430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4592" y="11430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" y="114300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2656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55948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533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471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13304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1330452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" y="133045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EMEA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187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2656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125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5948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533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471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15179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4592" y="1517904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7744" y="1517904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Global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187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2656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9125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55948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20640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533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5002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1471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17053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592" y="1705356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" y="1705356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Japan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187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656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9125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55948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533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5002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1471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1892807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1892807"/>
            <a:ext cx="36576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" y="1892807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North America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6187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2656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9125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55948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8533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5002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1471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4592" y="2080260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4592" y="2080260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7744" y="208026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TG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187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2656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9125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55948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20640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8533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002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471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4592" y="2267712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4592" y="2267712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7744" y="226771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6187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2656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9125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55948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0640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533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002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471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4592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Completed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732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Pending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0604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N/A — No Non-Prod environment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×8 Instance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×8 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×6 Non-Prod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5/8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×4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×4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×5 Instance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×5 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2/2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1/6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797367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5315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952" y="786384"/>
            <a:ext cx="105727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17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D28D9"/>
                </a:solidFill>
                <a:latin typeface="Calibri"/>
              </a:rPr>
              <a:t>1 D-Scoped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Blockers &amp; Impediments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 Blockers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237744"/>
          </a:xfrm>
          <a:prstGeom prst="rect">
            <a:avLst/>
          </a:prstGeom>
          <a:solidFill>
            <a:srgbClr val="FFEDED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54864" cy="2377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21792"/>
            <a:ext cx="640080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DC2626"/>
                </a:solidFill>
                <a:latin typeface="Calibri"/>
              </a:rPr>
              <a:t>Active Blockers &amp; Impediments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" y="87782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87782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87782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Salesforce EMEA — Prod tenant access pending IT Ops approval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87782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IT Ops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08356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08356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08356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108356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ServiceNow NA — API endpoint unreachable, firewall change raised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8356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Network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" y="128930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128930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28930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128930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Workday NA — Non-Prod tenant config not shared by app owner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28930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App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149504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149504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149504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149504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Box EMEA — Licence procurement approval pending Finance sign-off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149504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Finance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4592" y="170078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4592" y="170078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170078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" y="170078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Atlassian — Prod API key rotation blocking SSPM connector config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70078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621792"/>
            <a:ext cx="8814816" cy="256032"/>
          </a:xfrm>
          <a:prstGeom prst="rect">
            <a:avLst/>
          </a:prstGeom>
          <a:solidFill>
            <a:srgbClr val="DC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21792"/>
            <a:ext cx="54864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621792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59669"/>
                </a:solidFill>
                <a:latin typeface="Calibri"/>
              </a:rPr>
              <a:t>Phase 2 · Auto-Ticketing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87782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87782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→ ServiceNow connector: 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" y="111099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11099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11099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1 apps (P1 scope)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344168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34416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34416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2 apps (P2 scope)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577340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57734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57734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Ticket template design (fields, SLA, priority rules)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18105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" y="18105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8105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Assignment routing rules &amp; escalation 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0436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20436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20436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internal SSPM team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2768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22768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2768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app owner pilot (10 apps)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2" y="2510027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" y="25100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25100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Runbook: auto-ticket lifecycle SOP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4592" y="2743199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27431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27431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Load &amp; performance testing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4592" y="2976371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29763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9763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Go-live &amp; hypercare (2-week window)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" y="3282695"/>
            <a:ext cx="881481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4592" y="3282695"/>
            <a:ext cx="54864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" y="3282695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6D28D9"/>
                </a:solidFill>
                <a:latin typeface="Calibri"/>
              </a:rPr>
              <a:t>Phase 3 · Scorecard &amp; Operationalisation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3538727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032" y="35387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5387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Define KPIs and scoring framework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" y="3771899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6032" y="37718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7718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Build SSPM health dashboard (Power BI / Tableau)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592" y="4005071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32" y="40050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40050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App owner reporting template &amp; cadence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4238243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4238243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38243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 &amp; SOP documentation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471415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32" y="4471415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471415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operating model (BAU) sign-off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166420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621792"/>
            <a:ext cx="7315200" cy="1664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Phase 3 · Scorecard &amp; Operationalisation 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78821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7882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882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BAU handover to operations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02138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10213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0213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Post-go-live review &amp; lessons learned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25455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12545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545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Hypercare exit criteria &amp; sign-off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1560880"/>
            <a:ext cx="8814816" cy="256032"/>
          </a:xfrm>
          <a:prstGeom prst="rect">
            <a:avLst/>
          </a:prstGeom>
          <a:solidFill>
            <a:srgbClr val="DB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1560880"/>
            <a:ext cx="54864" cy="25603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1560880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47A57"/>
                </a:solidFill>
                <a:latin typeface="Calibri"/>
              </a:rPr>
              <a:t>Phase 4 · Continuous Improvement &amp; Expansion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18169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18169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8169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Review Phase 3/4 app onboarding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20500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20500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20500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Automated risk-scoring model 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4592" y="22832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2832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2832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Integration with PAM / IAM tooling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" y="2516428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51642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251642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Expanded SSPM coverage: Phase 4 apps (198 apps)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749600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274960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74960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Quarterly review cadence with steering committee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298277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298277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298277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Audit &amp; compliance reporting package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1/8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SSPM-104-NP1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Global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SSPM-107-P1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TG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SSPM-108-P1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SSPM-202-NP1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SSPM-502-P1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Japan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SSPM-503-P1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SSPM-504-P1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SSPM-505-P1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3/8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SSPM-702-P1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Global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APAC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SSPM-1101-P1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EMEA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SSPM-1102-P1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NA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4/8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 - Global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SSPM-1301-P1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APAC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SSPM-1402-P1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SSPM-1501-P1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SSPM-1601-P1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SSPM-1801-P1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5/8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SSPM-2202-NP1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6/8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SSPM-2603-P1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SSPM-3101-P1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7/8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SSPM-3401-P1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SSPM-3501-P1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EMEA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 - Global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 - Global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SSPM-4401-P1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8/8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 - 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SSPM-4501-P1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SSPM-4601-P1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SSPM-4801-P1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 - Global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SSPM-4901-P1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 - Global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SSPM-5101-P1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