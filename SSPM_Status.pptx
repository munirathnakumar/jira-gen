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SSPM Integration — Summary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03504"/>
            <a:ext cx="8814816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UNIQUE APPLICATIONS — BY PHASE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" y="768096"/>
            <a:ext cx="8814816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4592" y="804672"/>
            <a:ext cx="1353312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04672"/>
            <a:ext cx="45720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1225295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7DD3FC"/>
                </a:solidFill>
                <a:latin typeface="Calibri"/>
              </a:rPr>
              <a:t>All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987552"/>
            <a:ext cx="122529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98448"/>
            <a:ext cx="1225295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0">
                <a:solidFill>
                  <a:srgbClr val="94A3B8"/>
                </a:solidFill>
                <a:latin typeface="Calibri"/>
              </a:rP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426464"/>
            <a:ext cx="1225295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0" i="0">
                <a:solidFill>
                  <a:srgbClr val="7DD3FC"/>
                </a:solidFill>
                <a:latin typeface="Calibri"/>
              </a:rPr>
              <a:t>50 in-scope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536192"/>
            <a:ext cx="1225295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0" i="0">
                <a:solidFill>
                  <a:srgbClr val="7DD3FC"/>
                </a:solidFill>
                <a:latin typeface="Calibri"/>
              </a:rPr>
              <a:t>621 instances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63624" y="804672"/>
            <a:ext cx="14374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63624" y="804672"/>
            <a:ext cx="45720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0084" y="850392"/>
            <a:ext cx="914400" cy="146304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0084" y="850392"/>
            <a:ext cx="914400" cy="14630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550" b="1" i="0">
                <a:solidFill>
                  <a:srgbClr val="166534"/>
                </a:solidFill>
                <a:latin typeface="Calibri"/>
              </a:rPr>
              <a:t>IN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5064" y="850392"/>
            <a:ext cx="502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007ACC"/>
                </a:solidFill>
                <a:latin typeface="Calibri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1005840"/>
            <a:ext cx="130027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07ACC"/>
                </a:solidFill>
                <a:latin typeface="Calibri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1298448"/>
            <a:ext cx="1300276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55064" y="1444752"/>
            <a:ext cx="617498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72562" y="1444752"/>
            <a:ext cx="280681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53243" y="1444752"/>
            <a:ext cx="252612" cy="822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05856" y="1444752"/>
            <a:ext cx="56136" cy="8229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61992" y="1444752"/>
            <a:ext cx="84204" cy="822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55064" y="1563624"/>
            <a:ext cx="24908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5064" y="1732605"/>
            <a:ext cx="24908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13290" y="1563624"/>
            <a:ext cx="24908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3290" y="1732605"/>
            <a:ext cx="24908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D97706"/>
                </a:solidFill>
                <a:latin typeface="Calibri"/>
              </a:rPr>
              <a:t>In Prog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1517" y="1563624"/>
            <a:ext cx="24908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1517" y="1732605"/>
            <a:ext cx="24908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Not Strt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9743" y="1563624"/>
            <a:ext cx="24908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047A57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9743" y="1732605"/>
            <a:ext cx="24908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047A57"/>
                </a:solidFill>
                <a:latin typeface="Calibri"/>
              </a:rPr>
              <a:t>Future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7970" y="1563624"/>
            <a:ext cx="24908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D28D9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87970" y="1732605"/>
            <a:ext cx="24908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D28D9"/>
                </a:solidFill>
                <a:latin typeface="Calibri"/>
              </a:rPr>
              <a:t>D-Scoped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46780" y="804672"/>
            <a:ext cx="14374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6780" y="804672"/>
            <a:ext cx="4572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33241" y="850392"/>
            <a:ext cx="914400" cy="146304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3241" y="850392"/>
            <a:ext cx="914400" cy="14630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550" b="1" i="0">
                <a:solidFill>
                  <a:srgbClr val="166534"/>
                </a:solidFill>
                <a:latin typeface="Calibri"/>
              </a:rPr>
              <a:t>IN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38220" y="850392"/>
            <a:ext cx="502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059669"/>
                </a:solidFill>
                <a:latin typeface="Calibri"/>
              </a:rPr>
              <a:t>P2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8220" y="1005840"/>
            <a:ext cx="130027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38220" y="1298448"/>
            <a:ext cx="1300276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38220" y="1444752"/>
            <a:ext cx="173806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12027" y="1444752"/>
            <a:ext cx="893861" cy="822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05888" y="1444752"/>
            <a:ext cx="148976" cy="8229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54865" y="1444752"/>
            <a:ext cx="74488" cy="822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38220" y="1563624"/>
            <a:ext cx="313639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8220" y="1732605"/>
            <a:ext cx="313639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D97706"/>
                </a:solidFill>
                <a:latin typeface="Calibri"/>
              </a:rPr>
              <a:t>In Prog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1004" y="1563624"/>
            <a:ext cx="313639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61004" y="1732605"/>
            <a:ext cx="313639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Not Strt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3787" y="1563624"/>
            <a:ext cx="313639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047A57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3787" y="1732605"/>
            <a:ext cx="313639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047A57"/>
                </a:solidFill>
                <a:latin typeface="Calibri"/>
              </a:rPr>
              <a:t>Future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6570" y="1563624"/>
            <a:ext cx="313639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D28D9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6570" y="1732605"/>
            <a:ext cx="313639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D28D9"/>
                </a:solidFill>
                <a:latin typeface="Calibri"/>
              </a:rPr>
              <a:t>D-Scoped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9937" y="804672"/>
            <a:ext cx="14374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29937" y="804672"/>
            <a:ext cx="45720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16398" y="850392"/>
            <a:ext cx="914400" cy="1463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16398" y="850392"/>
            <a:ext cx="914400" cy="14630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550" b="1" i="0">
                <a:solidFill>
                  <a:srgbClr val="475569"/>
                </a:solidFill>
                <a:latin typeface="Calibri"/>
              </a:rPr>
              <a:t>OUT OF SCOPE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21377" y="850392"/>
            <a:ext cx="502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P3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21377" y="1005840"/>
            <a:ext cx="130027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6D28D9"/>
                </a:solidFill>
                <a:latin typeface="Calibri"/>
              </a:rPr>
              <a:t>143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1377" y="1298448"/>
            <a:ext cx="1300276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21377" y="1444752"/>
            <a:ext cx="108346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29724" y="1444752"/>
            <a:ext cx="1182785" cy="822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21377" y="1563624"/>
            <a:ext cx="63642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21377" y="1732605"/>
            <a:ext cx="63642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66944" y="1563624"/>
            <a:ext cx="63642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131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66944" y="1732605"/>
            <a:ext cx="63642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Not Strt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13094" y="804672"/>
            <a:ext cx="14374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3094" y="804672"/>
            <a:ext cx="45720" cy="109728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99555" y="850392"/>
            <a:ext cx="914400" cy="1463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9555" y="850392"/>
            <a:ext cx="914400" cy="14630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550" b="1" i="0">
                <a:solidFill>
                  <a:srgbClr val="475569"/>
                </a:solidFill>
                <a:latin typeface="Calibri"/>
              </a:rPr>
              <a:t>OUT OF SCOPE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4534" y="850392"/>
            <a:ext cx="502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047A57"/>
                </a:solidFill>
                <a:latin typeface="Calibri"/>
              </a:rPr>
              <a:t>P4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04534" y="1005840"/>
            <a:ext cx="130027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47A57"/>
                </a:solidFill>
                <a:latin typeface="Calibri"/>
              </a:rPr>
              <a:t>198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04534" y="1298448"/>
            <a:ext cx="1300276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04534" y="1444752"/>
            <a:ext cx="26083" cy="822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30617" y="1444752"/>
            <a:ext cx="1265049" cy="822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04534" y="1563624"/>
            <a:ext cx="63642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04534" y="1732605"/>
            <a:ext cx="63642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059669"/>
                </a:solidFill>
                <a:latin typeface="Calibri"/>
              </a:rPr>
              <a:t>Done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50100" y="1563624"/>
            <a:ext cx="636422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194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50100" y="1732605"/>
            <a:ext cx="636422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Not Strt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96251" y="804672"/>
            <a:ext cx="14374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96251" y="804672"/>
            <a:ext cx="45720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982712" y="850392"/>
            <a:ext cx="914400" cy="1463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82712" y="850392"/>
            <a:ext cx="914400" cy="14630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550" b="1" i="0">
                <a:solidFill>
                  <a:srgbClr val="475569"/>
                </a:solidFill>
                <a:latin typeface="Calibri"/>
              </a:rPr>
              <a:t>OUT OF SCOPE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87691" y="850392"/>
            <a:ext cx="502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87691" y="1005840"/>
            <a:ext cx="130027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64748B"/>
                </a:solidFill>
                <a:latin typeface="Calibri"/>
              </a:rPr>
              <a:t>182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7691" y="1298448"/>
            <a:ext cx="1300276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87691" y="1444752"/>
            <a:ext cx="1291132" cy="822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87691" y="1563624"/>
            <a:ext cx="1281988" cy="165963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182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87691" y="1732605"/>
            <a:ext cx="1281988" cy="12070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500" b="0" i="0">
                <a:solidFill>
                  <a:srgbClr val="64748B"/>
                </a:solidFill>
                <a:latin typeface="Calibri"/>
              </a:rPr>
              <a:t>Not Strt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4592" y="1993392"/>
            <a:ext cx="8814816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INSTANCES — PROD &amp; NON-PROD ONBOARDING STATUS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64592" y="2157984"/>
            <a:ext cx="8814816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164592" y="2194560"/>
            <a:ext cx="548640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4592" y="219456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37744" y="2194560"/>
            <a:ext cx="457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3232" y="2194560"/>
            <a:ext cx="3081528" cy="178308"/>
          </a:xfrm>
          <a:prstGeom prst="rect">
            <a:avLst/>
          </a:prstGeom>
          <a:solidFill>
            <a:srgbClr val="06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3232" y="2194560"/>
            <a:ext cx="3081528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Prod Instances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3232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46504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746504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79776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79776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13048" y="2194560"/>
            <a:ext cx="3081528" cy="178308"/>
          </a:xfrm>
          <a:prstGeom prst="rect">
            <a:avLst/>
          </a:prstGeom>
          <a:solidFill>
            <a:srgbClr val="046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13048" y="2194560"/>
            <a:ext cx="3081528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Non-Prod Instances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813048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13048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46320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46320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79592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79592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12864" y="2194560"/>
            <a:ext cx="2048256" cy="178308"/>
          </a:xfrm>
          <a:prstGeom prst="rect">
            <a:avLst/>
          </a:prstGeom>
          <a:solidFill>
            <a:srgbClr val="2D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12864" y="2194560"/>
            <a:ext cx="2048256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Grand Total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912864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12864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Instances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46136" y="2372868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946136" y="2372868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Done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4592" y="2514600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64592" y="2514600"/>
            <a:ext cx="36576" cy="1874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37744" y="2514600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P1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3232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46504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79776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46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13048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79592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912864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73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946136" y="251460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64592" y="2702052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64592" y="2702052"/>
            <a:ext cx="36576" cy="1874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37744" y="2702052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P2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3232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46504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45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779776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13048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46320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79592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12864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78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46136" y="2702052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7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64592" y="2889504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4592" y="2889504"/>
            <a:ext cx="36576" cy="1874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37744" y="2889504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D28D9"/>
                </a:solidFill>
                <a:latin typeface="Calibri"/>
              </a:rPr>
              <a:t>P3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13232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46504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131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79776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13048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46320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79592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912864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143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946136" y="2889504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076956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64592" y="3076956"/>
            <a:ext cx="36576" cy="187452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37744" y="3076956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47A57"/>
                </a:solidFill>
                <a:latin typeface="Calibri"/>
              </a:rPr>
              <a:t>P4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13232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46504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194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79776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198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813048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846320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879592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912864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198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946136" y="3076956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64592" y="3264408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64592" y="3264408"/>
            <a:ext cx="36576" cy="1874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37744" y="3264408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P5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13232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746504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182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779776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182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813048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846320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879592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12864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182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946136" y="3264408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4592" y="3451860"/>
            <a:ext cx="8814816" cy="1874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64592" y="3451860"/>
            <a:ext cx="36576" cy="1874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37744" y="3451860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TOTAL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13232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48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746504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573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779776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621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813048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9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846320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44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879592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912864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674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46136" y="3451860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57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64592" y="3694176"/>
            <a:ext cx="436168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64592" y="3694176"/>
            <a:ext cx="36576" cy="4389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56032" y="3730752"/>
            <a:ext cx="4233672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1" i="0">
                <a:solidFill>
                  <a:srgbClr val="007ACC"/>
                </a:solidFill>
                <a:latin typeface="Calibri"/>
              </a:rPr>
              <a:t>What is a Unique Application?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56032" y="3877056"/>
            <a:ext cx="4233672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334155"/>
                </a:solidFill>
                <a:latin typeface="Calibri"/>
              </a:rPr>
              <a:t>A Unique Application is a distinct SaaS product in the SSPM programme (e.g. Salesforce, Workday). Counted once regardless of how many environments or regions it operates in.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56032" y="4023360"/>
            <a:ext cx="4233672" cy="1005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1">
                <a:solidFill>
                  <a:srgbClr val="64748B"/>
                </a:solidFill>
                <a:latin typeface="Calibri"/>
              </a:rPr>
              <a:t>Example: Salesforce = 1 unique app, even with 8 regional instances.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617720" y="3694176"/>
            <a:ext cx="436168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617720" y="3694176"/>
            <a:ext cx="36576" cy="438912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709159" y="3730752"/>
            <a:ext cx="4233672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1" i="0">
                <a:solidFill>
                  <a:srgbClr val="047A57"/>
                </a:solidFill>
                <a:latin typeface="Calibri"/>
              </a:rPr>
              <a:t>What is an Instance?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709159" y="3877056"/>
            <a:ext cx="4233672" cy="155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334155"/>
                </a:solidFill>
                <a:latin typeface="Calibri"/>
              </a:rPr>
              <a:t>An Instance is one JIRA Story representing a specific deployment — a regional environment (Prod or Non-Prod) or tenant. One app can have multiple instances, each onboarded into SSPM separately.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09159" y="4023360"/>
            <a:ext cx="4233672" cy="1005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1">
                <a:solidFill>
                  <a:srgbClr val="64748B"/>
                </a:solidFill>
                <a:latin typeface="Calibri"/>
              </a:rPr>
              <a:t>Example: Salesforce has 8 instances — APAC Prod, EMEA Prod, NA Sandbox …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64592" y="4169663"/>
            <a:ext cx="1371600" cy="1371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059669"/>
                </a:solidFill>
                <a:latin typeface="Calibri"/>
              </a:rPr>
              <a:t>● Done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56232" y="4169663"/>
            <a:ext cx="1371600" cy="1371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D97706"/>
                </a:solidFill>
                <a:latin typeface="Calibri"/>
              </a:rPr>
              <a:t>● In Prog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547872" y="4169663"/>
            <a:ext cx="1371600" cy="1371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● Not Strt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239512" y="4169663"/>
            <a:ext cx="1371600" cy="1371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047A57"/>
                </a:solidFill>
                <a:latin typeface="Calibri"/>
              </a:rPr>
              <a:t>● Future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31152" y="4169663"/>
            <a:ext cx="1371600" cy="1371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6D28D9"/>
                </a:solidFill>
                <a:latin typeface="Calibri"/>
              </a:rPr>
              <a:t>● D-Scoped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Integration Status — Region-wise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21792"/>
            <a:ext cx="8814816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INSTANCE ONBOARDING STATUS BY REGION — PROD &amp; NON-PROD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" y="786384"/>
            <a:ext cx="8814816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4592" y="822960"/>
            <a:ext cx="1097280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2296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" y="822960"/>
            <a:ext cx="1005839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822960"/>
            <a:ext cx="2875788" cy="178308"/>
          </a:xfrm>
          <a:prstGeom prst="rect">
            <a:avLst/>
          </a:prstGeom>
          <a:solidFill>
            <a:srgbClr val="06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822960"/>
            <a:ext cx="2875788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Prod Instances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6564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6564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1256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5948" y="822960"/>
            <a:ext cx="2875788" cy="178308"/>
          </a:xfrm>
          <a:prstGeom prst="rect">
            <a:avLst/>
          </a:prstGeom>
          <a:solidFill>
            <a:srgbClr val="046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5948" y="822960"/>
            <a:ext cx="2875788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Non-Prod Instances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5948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5948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5332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5332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024" y="822960"/>
            <a:ext cx="1911096" cy="178308"/>
          </a:xfrm>
          <a:prstGeom prst="rect">
            <a:avLst/>
          </a:prstGeom>
          <a:solidFill>
            <a:srgbClr val="2D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0024" y="822960"/>
            <a:ext cx="1911096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Grand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024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0024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Instances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4716" y="1001268"/>
            <a:ext cx="95554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1001268"/>
            <a:ext cx="95554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Done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1143000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" y="1143000"/>
            <a:ext cx="36576" cy="1874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" y="1143000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APAC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26564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1256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5948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5332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0024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4716" y="114300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1330452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" y="1330452"/>
            <a:ext cx="36576" cy="187452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" y="1330452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47A57"/>
                </a:solidFill>
                <a:latin typeface="Calibri"/>
              </a:rPr>
              <a:t>EMEA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1872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26564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91256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5948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5332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0024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4716" y="133045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1517904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2" y="1517904"/>
            <a:ext cx="36576" cy="1874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1517904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Global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1872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6564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91256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55948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0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5332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0024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14716" y="1517904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1705356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4592" y="1705356"/>
            <a:ext cx="36576" cy="1874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7744" y="1705356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D28D9"/>
                </a:solidFill>
                <a:latin typeface="Calibri"/>
              </a:rPr>
              <a:t>Japan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1872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6564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91256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5948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5332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50024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14716" y="1705356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1892807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1892807"/>
            <a:ext cx="36576" cy="1874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4" y="1892807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North America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1872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26564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91256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55948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20640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5332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50024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14716" y="1892807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4592" y="2080260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4592" y="2080260"/>
            <a:ext cx="36576" cy="1874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7744" y="2080260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TG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61872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26564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91256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55948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20640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85332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50024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14716" y="2080260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4592" y="2267712"/>
            <a:ext cx="8814816" cy="18745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4592" y="2267712"/>
            <a:ext cx="36576" cy="1874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37744" y="2267712"/>
            <a:ext cx="1005839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TOTAL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61872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26564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66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91256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98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55948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0640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44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85332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0024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151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14716" y="2267712"/>
            <a:ext cx="95554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41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4592" y="4480560"/>
            <a:ext cx="32004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059669"/>
                </a:solidFill>
                <a:latin typeface="Calibri"/>
              </a:rPr>
              <a:t>● Completed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17320" y="4480560"/>
            <a:ext cx="32004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D97706"/>
                </a:solidFill>
                <a:latin typeface="Calibri"/>
              </a:rPr>
              <a:t>● Pending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06040" y="4480560"/>
            <a:ext cx="32004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N/A — No Non-Prod environment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1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 · Pg 1/3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25/46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79016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9/27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21024" y="941832"/>
            <a:ext cx="484632" cy="3657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786384"/>
            <a:ext cx="751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240" y="786384"/>
            <a:ext cx="15036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1920" y="786384"/>
            <a:ext cx="7518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3760" y="786384"/>
            <a:ext cx="375920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4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8 In Prog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4 Not Strt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2 Future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×8 Instance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×8 Prod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×6 Non-Prod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5/8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NP 2/6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×3 Non-Prod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2/3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NP 1/3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×4 Instance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×4 Prod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×3 Non-Prod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3/4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NP 1/3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×3 Non-Prod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2/3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NP 2/3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Microsoft 365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×5 Instance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×5 Prod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3/5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84848" y="3419856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×3 Non-Prod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2/3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84848" y="4120469"/>
            <a:ext cx="2011680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84848" y="412046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NP 2/3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1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 · Pg 2/3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25/46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79016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9/27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21024" y="941832"/>
            <a:ext cx="484632" cy="3657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786384"/>
            <a:ext cx="751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240" y="786384"/>
            <a:ext cx="15036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1920" y="786384"/>
            <a:ext cx="7518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3760" y="786384"/>
            <a:ext cx="375920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4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8 In Prog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4 Not Strt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2 Future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Zoom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Slack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Palo Alto Prisma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PROD 2/2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NP 1/2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CrowdStrike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PROD 1/1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Proofpoint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2/3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84848" y="3419856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Mimecast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84848" y="4120469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84848" y="412046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1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 · Pg 3/3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25/46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79016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9/27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21024" y="941832"/>
            <a:ext cx="484632" cy="3657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786384"/>
            <a:ext cx="75184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8240" y="786384"/>
            <a:ext cx="15036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1920" y="786384"/>
            <a:ext cx="751840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3760" y="786384"/>
            <a:ext cx="375920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4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8 In Prog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4 Not Strt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2 Future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Qualys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PROD 1/1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111556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Rapid7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169164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Tenable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4848" y="2267712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Varonis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84848" y="2843784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SailPoint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BeyondTrust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84848" y="399592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Pg 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19571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0/26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786384"/>
            <a:ext cx="211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97855" y="786384"/>
            <a:ext cx="74009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947" y="786384"/>
            <a:ext cx="190309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1042" y="786384"/>
            <a:ext cx="528637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2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7 In Prog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18 Not Strt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5 Future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×3 Non-Prod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Dropbox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169164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×3 Non-Prod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Zendesk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DocuSign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HubSpot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784848" y="4120469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784848" y="412046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Pg 2/6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19571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0/26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786384"/>
            <a:ext cx="211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97855" y="786384"/>
            <a:ext cx="74009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947" y="786384"/>
            <a:ext cx="190309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1042" y="786384"/>
            <a:ext cx="528637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2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7 In Prog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18 Not Strt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5 Future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Tableau / Salesforce Analytics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×3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×3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Coupa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Snowflake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4848" y="2392253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Splunk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PROD 1/1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Ariba / SAP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Veeva Vault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784848" y="399592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Pg 3/6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19571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0/26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786384"/>
            <a:ext cx="211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97855" y="786384"/>
            <a:ext cx="74009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947" y="786384"/>
            <a:ext cx="190309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1042" y="786384"/>
            <a:ext cx="528637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2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7 In Prog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18 Not Strt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5 Future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Workiva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111556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NetSuite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848" y="169164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Anaplan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2267712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Concur (SAP)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84848" y="2843784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Adobe Sign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784848" y="3544397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SuccessFactors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84848" y="399592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Pg 4/6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19571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0/26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786384"/>
            <a:ext cx="211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97855" y="786384"/>
            <a:ext cx="74009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947" y="786384"/>
            <a:ext cx="190309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1042" y="786384"/>
            <a:ext cx="528637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2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7 In Prog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18 Not Strt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5 Future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Darktrace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PROD 1/1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1240109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Elastic (ELK)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×1 Non-Prod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4848" y="1816181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PagerDuty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4848" y="2267712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Dynatrace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Miro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84848" y="3419856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Figma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84848" y="399592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Pg 5/6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19571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0/26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786384"/>
            <a:ext cx="211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97855" y="786384"/>
            <a:ext cx="74009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947" y="786384"/>
            <a:ext cx="190309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1042" y="786384"/>
            <a:ext cx="528637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2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7 In Prog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18 Not Strt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5 Future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Notion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111556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monday.com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848" y="169164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2677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2267712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0896" y="2267712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2313432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Asana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2560137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1208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59992" y="2560137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78280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7064" y="2560137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35352" y="2560137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0440" y="2392253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68112" y="2392253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2267712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843784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2843784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2843784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2889504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Jira Service Mgmt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3136209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1208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459992" y="3136209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78280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17064" y="3136209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435352" y="3136209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×2 Non-Prod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20440" y="2968325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Onboarding In Progress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8112" y="2968325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D97706"/>
                </a:solidFill>
                <a:latin typeface="Calibri"/>
              </a:rPr>
              <a:t>PROD 1/2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84848" y="2968325"/>
            <a:ext cx="2011680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NP 0/2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4320" y="341985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4320" y="3419856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0896" y="3419856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" y="3465576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Freshdesk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3712281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1208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59992" y="3712281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78280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17064" y="3712281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35352" y="3712281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20440" y="3544397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68112" y="3544397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84848" y="3419856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3995928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74320" y="3995928"/>
            <a:ext cx="45720" cy="5486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" y="399592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2920" y="404164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Intercom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920" y="428835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1208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459992" y="428835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478280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17064" y="428835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35352" y="428835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20440" y="412046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47A57"/>
                </a:solidFill>
                <a:latin typeface="Calibri"/>
              </a:rPr>
              <a:t>Future Request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68112" y="412046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84848" y="399592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Phase 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Pg 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"/>
            <a:ext cx="1417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7/52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01952" y="941832"/>
            <a:ext cx="19571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603504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630936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749808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0/26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1024" y="941832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640080"/>
            <a:ext cx="33832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1" i="0">
                <a:solidFill>
                  <a:srgbClr val="64748B"/>
                </a:solidFill>
                <a:latin typeface="Calibri"/>
              </a:rPr>
              <a:t>App Status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786384"/>
            <a:ext cx="21145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97855" y="786384"/>
            <a:ext cx="74009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37947" y="786384"/>
            <a:ext cx="1903095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41042" y="786384"/>
            <a:ext cx="528637" cy="9144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59669"/>
                </a:solidFill>
                <a:latin typeface="Calibri"/>
              </a:rPr>
              <a:t>2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D97706"/>
                </a:solidFill>
                <a:latin typeface="Calibri"/>
              </a:rPr>
              <a:t>7 In Prog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64748B"/>
                </a:solidFill>
                <a:latin typeface="Calibri"/>
              </a:rPr>
              <a:t>18 Not Strt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896112"/>
            <a:ext cx="731520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50" b="1" i="0">
                <a:solidFill>
                  <a:srgbClr val="047A57"/>
                </a:solidFill>
                <a:latin typeface="Calibri"/>
              </a:rPr>
              <a:t>5 Future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" y="1078992"/>
            <a:ext cx="859536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" y="932688"/>
            <a:ext cx="2011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932688"/>
            <a:ext cx="2944368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Application  ·  Org / Prod / Non-Prod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932688"/>
            <a:ext cx="1874519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932688"/>
            <a:ext cx="1243584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932688"/>
            <a:ext cx="2048256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11556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1115568"/>
            <a:ext cx="45720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" y="1115568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1161288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Twilio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407993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×2 Instance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9992" y="1407993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8280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×2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17064" y="1407993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5352" y="1407993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1240109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1240109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1115568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1691640"/>
            <a:ext cx="457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1691640"/>
            <a:ext cx="1828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737360"/>
            <a:ext cx="2889504" cy="2649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SendGrid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1984065"/>
            <a:ext cx="911351" cy="219638"/>
          </a:xfrm>
          <a:prstGeom prst="rect">
            <a:avLst/>
          </a:prstGeom>
          <a:solidFill>
            <a:srgbClr val="DBEAFE"/>
          </a:solidFill>
          <a:ln w="762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×1 Instance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9992" y="1984065"/>
            <a:ext cx="911351" cy="219638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8280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×1 Prod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17064" y="1984065"/>
            <a:ext cx="911351" cy="219638"/>
          </a:xfrm>
          <a:prstGeom prst="rect">
            <a:avLst/>
          </a:prstGeom>
          <a:solidFill>
            <a:srgbClr val="CCFBF1"/>
          </a:solidFill>
          <a:ln w="7620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35352" y="1984065"/>
            <a:ext cx="874776" cy="21963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×0 Non-Prod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0440" y="1816181"/>
            <a:ext cx="1819655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68112" y="1816181"/>
            <a:ext cx="1207008" cy="299557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1" i="0">
                <a:solidFill>
                  <a:srgbClr val="64748B"/>
                </a:solidFill>
                <a:latin typeface="Calibri"/>
              </a:rPr>
              <a:t>PROD 0/1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848" y="169164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4592" y="4572000"/>
            <a:ext cx="8814816" cy="292608"/>
          </a:xfrm>
          <a:prstGeom prst="rect">
            <a:avLst/>
          </a:prstGeom>
          <a:solidFill>
            <a:srgbClr val="FEF9C3"/>
          </a:solidFill>
          <a:ln w="95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64592" y="4572000"/>
            <a:ext cx="4572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4599432"/>
            <a:ext cx="59436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92400E"/>
                </a:solidFill>
                <a:latin typeface="Calibri"/>
              </a:rPr>
              <a:t>NOTE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4617720"/>
            <a:ext cx="8503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78350F"/>
                </a:solidFill>
                <a:latin typeface="Calibri"/>
              </a:rPr>
              <a:t>Status Grouping:  Completed  =  'Completed' + 'De-Scoped'  (shown in green).   Pending  =  'Onboarding In Progress' + 'Not Started' + 'Future Request'  (shown with their respective colour).   Status is determined by the JIRA dropdown field configured in config.py → STATUS_FIELD.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Blockers &amp; Impediments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 Blockers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8814816" cy="237744"/>
          </a:xfrm>
          <a:prstGeom prst="rect">
            <a:avLst/>
          </a:prstGeom>
          <a:solidFill>
            <a:srgbClr val="FFEDED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54864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21792"/>
            <a:ext cx="6400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DC2626"/>
                </a:solidFill>
                <a:latin typeface="Calibri"/>
              </a:rPr>
              <a:t>Active Blockers &amp; Impediments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877824"/>
            <a:ext cx="8814816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" y="877824"/>
            <a:ext cx="54864" cy="1874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877824"/>
            <a:ext cx="3657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877824"/>
            <a:ext cx="512064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Salesforce EMEA — Prod tenant access pending IT Ops approval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905256"/>
            <a:ext cx="1005840" cy="132588"/>
          </a:xfrm>
          <a:prstGeom prst="rect">
            <a:avLst/>
          </a:prstGeom>
          <a:solidFill>
            <a:srgbClr val="D2FFFF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905256"/>
            <a:ext cx="100584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877824"/>
            <a:ext cx="12801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IT 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75904" y="905256"/>
            <a:ext cx="530352" cy="132588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905256"/>
            <a:ext cx="530352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1083564"/>
            <a:ext cx="8814816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" y="1083564"/>
            <a:ext cx="54864" cy="1874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083564"/>
            <a:ext cx="3657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1083564"/>
            <a:ext cx="512064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ServiceNow NA — API endpoint unreachable, firewall change raised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110996"/>
            <a:ext cx="1005840" cy="132588"/>
          </a:xfrm>
          <a:prstGeom prst="rect">
            <a:avLst/>
          </a:prstGeom>
          <a:solidFill>
            <a:srgbClr val="D2FFFF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110996"/>
            <a:ext cx="100584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083564"/>
            <a:ext cx="12801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Network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75904" y="1110996"/>
            <a:ext cx="530352" cy="132588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1110996"/>
            <a:ext cx="530352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1289304"/>
            <a:ext cx="8814816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1289304"/>
            <a:ext cx="54864" cy="1874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289304"/>
            <a:ext cx="3657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B3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1289304"/>
            <a:ext cx="512064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Workday NA — Non-Prod tenant config not shared by app owner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316736"/>
            <a:ext cx="1005840" cy="132588"/>
          </a:xfrm>
          <a:prstGeom prst="rect">
            <a:avLst/>
          </a:prstGeom>
          <a:solidFill>
            <a:srgbClr val="D2FFFF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1316736"/>
            <a:ext cx="100584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Phase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289304"/>
            <a:ext cx="12801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App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75904" y="1316736"/>
            <a:ext cx="530352" cy="132588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1316736"/>
            <a:ext cx="530352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1495044"/>
            <a:ext cx="8814816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4592" y="1495044"/>
            <a:ext cx="54864" cy="1874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1495044"/>
            <a:ext cx="3657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B4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1495044"/>
            <a:ext cx="512064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Box EMEA — Licence procurement approval pending Finance sign-off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1522476"/>
            <a:ext cx="1005840" cy="132588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52160" y="1522476"/>
            <a:ext cx="100584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Phase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1495044"/>
            <a:ext cx="12801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Finance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75904" y="1522476"/>
            <a:ext cx="530352" cy="132588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1522476"/>
            <a:ext cx="530352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592" y="1700784"/>
            <a:ext cx="8814816" cy="1874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4592" y="1700784"/>
            <a:ext cx="54864" cy="1874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1700784"/>
            <a:ext cx="3657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1700784"/>
            <a:ext cx="512064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Atlassian — Prod API key rotation blocking SSPM connector config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1728216"/>
            <a:ext cx="1005840" cy="132588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1728216"/>
            <a:ext cx="100584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Phase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700784"/>
            <a:ext cx="128016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75904" y="1728216"/>
            <a:ext cx="530352" cy="132588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75904" y="1728216"/>
            <a:ext cx="530352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Milestones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621792"/>
            <a:ext cx="8814816" cy="256032"/>
          </a:xfrm>
          <a:prstGeom prst="rect">
            <a:avLst/>
          </a:prstGeom>
          <a:solidFill>
            <a:srgbClr val="DC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21792"/>
            <a:ext cx="54864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621792"/>
            <a:ext cx="6400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059669"/>
                </a:solidFill>
                <a:latin typeface="Calibri"/>
              </a:rPr>
              <a:t>Phase 2 · Auto-Ticketing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2088" y="658368"/>
            <a:ext cx="1325880" cy="182880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658368"/>
            <a:ext cx="1325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877824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877824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77824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SSPM → ServiceNow connector: requirements &amp;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2088" y="914400"/>
            <a:ext cx="1325880" cy="132588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914400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110996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110996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110996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Connector build — Phase 1 apps (P1 scope)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2088" y="1147572"/>
            <a:ext cx="1325880" cy="132588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1147572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1344168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1344168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344168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Connector build — Phase 2 apps (P2 scope)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2088" y="1380744"/>
            <a:ext cx="1325880" cy="132588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1380744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577340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1577340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577340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Ticket template design (fields, SLA, priority rules)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62088" y="1613916"/>
            <a:ext cx="1325880" cy="132588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1613916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1810512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1810512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1810512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Assignment routing rules &amp; escalation matrix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62088" y="1847088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2088" y="1847088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" y="2043684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043684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2043684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UAT — internal SSPM team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62088" y="2080260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62088" y="2080260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276856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2276856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276856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UAT — app owner pilot (10 apps)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2088" y="2313432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2088" y="2313432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592" y="2510027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" y="2510027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2510027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Runbook: auto-ticket lifecycle SOP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62088" y="2546603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62088" y="2546603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2743199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" y="2743199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2743199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Load &amp; performance testing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62088" y="2779775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2088" y="2779775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" y="2976371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6032" y="2976371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2976371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Go-live &amp; hypercare (2-week window)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62088" y="3012947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62088" y="3012947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3282695"/>
            <a:ext cx="8814816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4592" y="3282695"/>
            <a:ext cx="54864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" y="3282695"/>
            <a:ext cx="6400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6D28D9"/>
                </a:solidFill>
                <a:latin typeface="Calibri"/>
              </a:rPr>
              <a:t>Phase 3 · Scorecard &amp; Operationalisation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62088" y="3319271"/>
            <a:ext cx="1325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62088" y="3319271"/>
            <a:ext cx="1325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3538727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32" y="3538727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3538727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Define KPIs and scoring framework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62088" y="3575303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62088" y="3575303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592" y="3771899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" y="3771899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771899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Build SSPM health dashboard (Power BI / Tableau)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62088" y="3808475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62088" y="3808475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592" y="4005071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4005071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4005071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App owner reporting template &amp; cadence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62088" y="4041647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62088" y="4041647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" y="4238243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6032" y="4238243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4238243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Runbook &amp; SOP documentation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62088" y="4274819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62088" y="4274819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" y="4471415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6032" y="4471415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4471415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SSPM operating model (BAU) sign-off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62088" y="4507991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62088" y="4507991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Milestones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8814816" cy="16642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621792"/>
            <a:ext cx="7315200" cy="1664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Phase 3 · Scorecard &amp; Operationalisation  (continued)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788212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788212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88212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BAU handover to operations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62088" y="824788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824788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021384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1021384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021384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Post-go-live review &amp; lessons learned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2088" y="1057960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1057960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1254556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1254556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254556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Hypercare exit criteria &amp; sign-off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62088" y="1291132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1291132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1560880"/>
            <a:ext cx="8814816" cy="256032"/>
          </a:xfrm>
          <a:prstGeom prst="rect">
            <a:avLst/>
          </a:prstGeom>
          <a:solidFill>
            <a:srgbClr val="DB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1560880"/>
            <a:ext cx="54864" cy="256032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1560880"/>
            <a:ext cx="6400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047A57"/>
                </a:solidFill>
                <a:latin typeface="Calibri"/>
              </a:rPr>
              <a:t>Phase 4 · Continuous Improvement &amp; Expansion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2088" y="1597456"/>
            <a:ext cx="1325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1597456"/>
            <a:ext cx="13258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1816912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1816912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47A57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1816912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Review Phase 3/4 app onboarding backlog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62088" y="1853488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2088" y="1853488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050084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2050084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47A57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050084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Automated risk-scoring model v2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2088" y="2086660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2086660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2283256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2283256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47A57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2283256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Integration with PAM / IAM tooling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62088" y="2319832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62088" y="2319832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" y="2516428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2516428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47A57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2516428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Expanded SSPM coverage: Phase 4 apps (198 apps)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62088" y="2553004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2088" y="2553004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2749600"/>
            <a:ext cx="8814816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" y="2749600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47A57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2749600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Quarterly review cadence with steering committee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62088" y="2786176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62088" y="2786176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2982772"/>
            <a:ext cx="8814816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2982772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47A57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2982772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Audit &amp; compliance reporting package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62088" y="3019348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62088" y="3019348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1/8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APAC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SSPM-101-P1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APAC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SSPM-101-NP1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APAC DR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SSPM-102-P1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APAC DR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SSPM-102-NP1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EMEA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SSPM-103-P1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EMEA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SSPM-103-NP1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Japan Prod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SSPM-104-P1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Japan Prod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SSPM-104-NP1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NA Prod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SSPM-105-P1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NA Prod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SSPM-105-NP1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NA Sandbox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SSPM-106-P1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NA Sandbox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SSPM-106-NP1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Global Prod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SSPM-107-P1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Salesforce - TG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SSPM-108-P1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 - APAC Prod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SSPM-201-P1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 - APAC Prod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SSPM-201-NP1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 - EMEA Prod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SSPM-202-P1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 - EMEA Prod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SSPM-202-NP1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 - NA Prod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SSPM-203-P1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Workday - NA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SSPM-203-NP1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2/8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APAC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SSPM-301-P1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APAC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SSPM-301-NP1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EMEA Prod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SSPM-302-P1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EMEA Prod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SSPM-302-NP1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NA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SSPM-303-P1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NA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SSPM-303-NP1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ServiceNow - Japan Prod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SSPM-304-P1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 - APAC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SSPM-401-P1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 - APAC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SSPM-401-NP1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 - EMEA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SSPM-402-P1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 - EMEA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SSPM-402-NP1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 - NA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SSPM-403-P1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Enterprise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GitHub Ent - NA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SSPM-403-NP1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Microsoft 365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M365 - APAC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SSPM-501-P1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Microsoft 365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M365 - EMEA Prod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SSPM-502-P1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Microsoft 365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M365 - Japan Prod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SSPM-503-P1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Microsoft 365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M365 - NA Prod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SSPM-504-P1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Microsoft 365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M365 - Global Prod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SSPM-505-P1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 - APAC Prod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SSPM-601-P1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 - APAC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SSPM-601-NP1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3/8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 - NA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SSPM-602-P1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 - NA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SSPM-602-NP1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 - EMEA Prod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SSPM-603-P1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Okta - EMEA Prod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SSPM-603-NP1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Zoom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Zoom - Global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SSPM-701-P1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Zoom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Zoom - Global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SSPM-701-NP1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Zoom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Zoom - Japan Prod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SSPM-702-P1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Slack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Slack - Global Prod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SSPM-801-P1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Slack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Slack - APAC Prod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SSPM-802-P1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Slack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Slack - APAC Prod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SSPM-802-NP1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Palo Alto Prisma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Prisma - APAC Prod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SSPM-901-P1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Palo Alto Prisma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Prisma - APAC Prod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SSPM-901-NP1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Palo Alto Prisma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Prisma - NA Prod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SSPM-902-P1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Palo Alto Prisma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Prisma - NA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SSPM-902-NP1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CrowdStrike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CrowdStrike - Global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SSPM-1001-P1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CrowdStrike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CrowdStrike - Global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SSPM-1001-NP1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Proofpoint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Proofpoint - APAC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SSPM-1101-P1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Proofpoint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Proofpoint - EMEA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SSPM-1102-P1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59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Proofpoint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Proofpoint - NA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SSPM-1103-P1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 - APAC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SSPM-1201-P1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4/8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 - APAC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SSPM-1201-NP1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 - EMEA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SSPM-1202-P1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Mimecast - EMEA Prod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SSPM-1202-NP1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Qualys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Qualys - Global Prod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SSPM-1301-P1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Rapid7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Rapid7 - APAC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SSPM-1401-P1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Rapid7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Rapid7 - NA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SSPM-1402-P1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Tenable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Tenable - APAC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SSPM-1501-P1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Varonis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Varonis - NA Prod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SSPM-1601-P1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69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 - APAC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SSPM-1701-P1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 - APAC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SSPM-1701-NP1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 - EMEA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SSPM-1702-P1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SailPoint - EMEA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SSPM-1702-NP1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BeyondTrust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BeyondTrust - Global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SSPM-1801-P1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 - APAC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SSPM-2001-P1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 - APAC Prod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SSPM-2001-NP1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 - EMEA Prod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SSPM-2002-P1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 - EMEA Prod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SSPM-2002-NP1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 - NA Prod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SSPM-2003-P1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79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Box - NA Prod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SSPM-2003-NP1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Dropbox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Dropbox - APAC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SSPM-2101-P1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5/8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Dropbox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Dropbox - NA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SSPM-2102-P1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- APAC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SSPM-2201-P1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- APAC Prod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SSPM-2201-NP1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- EMEA Prod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SSPM-2202-P1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- EMEA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SSPM-2202-NP1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- NA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SSPM-2203-P1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(Jira/Confluence)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Atlassian - NA Prod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SSPM-2203-NP1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Zendesk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Zendesk - APAC Prod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SSPM-2301-P1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89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Zendesk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Zendesk - APAC Prod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SSPM-2301-NP1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Zendesk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Zendesk - Global Prod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SSPM-2302-P1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 - APAC Prod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SSPM-2401-P1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 - APAC Prod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SSPM-2401-NP1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 - NA Prod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SSPM-2402-P1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DocuSign - NA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SSPM-2402-NP1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HubSpot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HubSpot - APAC Prod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SSPM-2501-P1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HubSpot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HubSpot - APAC Prod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SSPM-2501-NP1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HubSpot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HubSpot - NA Prod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SSPM-2502-P1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/ Salesforce Analytics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- APAC Prod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SSPM-2601-P1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99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/ Salesforce Analytics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- APAC Prod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SSPM-2601-NP1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/ Salesforce Analytics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- EMEA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SSPM-2602-P1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6/8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/ Salesforce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- EMEA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SSPM-2602-NP1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/ Salesforce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Tableau - NA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SSPM-2603-P1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Coupa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Coupa - APAC Prod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SSPM-2701-P1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Coupa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Coupa - APAC Prod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SSPM-2701-NP1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Coupa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Coupa - NA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SSPM-2702-P1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 - APAC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SSPM-2801-P1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 - APAC Prod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SSPM-2801-NP1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 - NA Prod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SSPM-2802-P1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109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Snowflake - NA Prod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SSPM-2802-NP1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Splunk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Splunk - Global Prod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SSPM-2901-P1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Splunk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Splunk - Global Prod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SSPM-2901-NP1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/ SAP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- APAC Prod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SSPM-3001-P1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/ SAP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- APAC Prod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SSPM-3001-NP1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/ SAP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- EMEA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SSPM-3002-P1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/ SAP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Ariba - EMEA Prod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SSPM-3002-NP1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Veeva Vault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Veeva - APAC Prod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SSPM-3101-P1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Veeva Vault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Veeva - NA Prod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SSPM-3102-P1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Workiva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Workiva - Global Prod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SSPM-3201-P1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119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NetSuite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NetSuite - APAC Prod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SSPM-3301-P1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NetSuite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NetSuite - NA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SSPM-3302-P1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7/8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Anaplan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Anaplan - APAC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SSPM-3401-P1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Concur (SAP)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Concur - Global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SSPM-3501-P1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 - APAC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SSPM-3601-P1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 - APAC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SSPM-3601-NP1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 - NA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SSPM-3602-P1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Adobe Sign - NA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SSPM-3602-NP1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SuccessFactors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SuccessFactors - APAC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SSPM-3701-P1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SuccessFactors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SuccessFactors - EMEA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SSPM-3702-P1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129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Darktrace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Darktrace - APAC Prod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SSPM-3801-P1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Darktrace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Darktrace - APAC Prod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SSPM-3801-NP1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Elastic (ELK)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Elastic - Global Prod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SSPM-3901-P1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4592" y="297180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64592" y="297180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75488" y="297180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Elastic (ELK)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84832" y="297180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Elastic - Global Prod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05072" y="297180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8032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77840" y="297180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7648" y="297180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SSPM-3901-NP1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168896" y="299008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64592" y="3163824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4592" y="316382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5488" y="316382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PagerDuty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84832" y="316382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PagerDuty - Global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005072" y="316382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828032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77840" y="316382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327648" y="316382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SSPM-4001-P1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68896" y="318211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64592" y="3355848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4592" y="335584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5488" y="335584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084832" y="335584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 - APAC Prod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05072" y="335584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28032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577840" y="335584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327648" y="335584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SSPM-4101-P1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68896" y="337413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64592" y="354787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64592" y="354787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75488" y="354787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84832" y="354787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 - APAC Prod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05072" y="354787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828032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77840" y="354787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27648" y="354787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SSPM-4101-NP1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168896" y="356616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64592" y="373989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64592" y="373989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75488" y="373989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84832" y="373989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 - NA Prod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05072" y="373989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28032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577840" y="373989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327648" y="373989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SSPM-4102-P1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168896" y="3758183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64592" y="3931920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64592" y="393192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137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75488" y="393192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084832" y="393192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Dynatrace - NA Prod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05072" y="393192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28032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577840" y="393192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327648" y="393192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SSPM-4102-NP1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68896" y="3950207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64592" y="412394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64592" y="412394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5488" y="412394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Miro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084832" y="412394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Miro - Global Prod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05072" y="412394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28032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77840" y="412394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27648" y="412394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SSPM-4201-P1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168896" y="4142231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64592" y="4315968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64592" y="431596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139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" y="431596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Figma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84832" y="431596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Figma - Global Prod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5072" y="431596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828032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77840" y="431596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327648" y="431596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SSPM-4301-P1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68896" y="4334255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64592" y="4507992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64592" y="450799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488" y="450799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Notion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84832" y="450799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Notion - Global Prod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005072" y="450799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828032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577840" y="450799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27648" y="450799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SSPM-4401-P1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7168896" y="4526279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Appendix — Application Instance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Pg 8/8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21792"/>
            <a:ext cx="256031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621792"/>
            <a:ext cx="201167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621792"/>
            <a:ext cx="1591056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621792"/>
            <a:ext cx="1536192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8256" y="621792"/>
            <a:ext cx="190195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482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621792"/>
            <a:ext cx="184708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Instance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621792"/>
            <a:ext cx="804672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849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621792"/>
            <a:ext cx="749808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App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456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91456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621792"/>
            <a:ext cx="731519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1264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621792"/>
            <a:ext cx="676656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621792"/>
            <a:ext cx="841247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621792"/>
            <a:ext cx="786384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Sub-task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621792"/>
            <a:ext cx="1481328" cy="237744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621792"/>
            <a:ext cx="27432" cy="23774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621792"/>
            <a:ext cx="1426463" cy="23774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85953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85953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85953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monday.com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85953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monday.com - APAC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85953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85953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85953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SSPM-4501-P1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8896" y="87782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1051560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592" y="105156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105156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Asana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84832" y="105156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Asana - Global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105156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105156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05156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SSPM-4601-P1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8896" y="106984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1243584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" y="124358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124358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Jira Service Mgmt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84832" y="124358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JSM - APAC Prod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124358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2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124358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124358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SSPM-4701-P1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68896" y="126187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1435608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592" y="143560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143560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Jira Service Mgmt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143560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JSM - APAC Prod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5072" y="143560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3560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143560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SSPM-4701-NP1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68896" y="145389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162763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4592" y="162763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162763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Jira Service Mgmt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4832" y="162763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JSM - NA Prod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162763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8032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0" y="162763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27648" y="162763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SSPM-4702-P1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68896" y="164592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4592" y="1819656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" y="181965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181965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Jira Service Mgmt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84832" y="181965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JSM - NA Prod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5072" y="181965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28032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181965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Non-Prod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27648" y="181965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SSPM-4702-NP1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8896" y="183794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" y="2011680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2" y="2011680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" y="2011680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Freshdesk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" y="2011680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Freshdesk - APAC Prod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05072" y="2011680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8032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77840" y="2011680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27648" y="2011680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SSPM-4801-P1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68896" y="2029968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203704"/>
            <a:ext cx="8467344" cy="173736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4592" y="2203704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" y="2203704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Intercom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84832" y="2203704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Intercom - Global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05072" y="2203704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28032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577840" y="2203704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27648" y="2203704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SSPM-4901-P1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2221992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64592" y="2395728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4592" y="2395728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" y="2395728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Twilio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84832" y="2395728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Twilio - APAC Prod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05072" y="2395728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28032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77840" y="2395728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27648" y="2395728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SSPM-5001-P1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168896" y="2414016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2587752"/>
            <a:ext cx="8467344" cy="17373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" y="2587752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150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5488" y="2587752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Twilio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4832" y="2587752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Twilio - NA Prod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05072" y="2587752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28032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2587752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327648" y="2587752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SSPM-5002-P1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68896" y="2606040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4592" y="2779776"/>
            <a:ext cx="8467344" cy="173736"/>
          </a:xfrm>
          <a:prstGeom prst="rect">
            <a:avLst/>
          </a:prstGeom>
          <a:solidFill>
            <a:srgbClr val="F0F4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2779776"/>
            <a:ext cx="25603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650" b="0" i="0">
                <a:solidFill>
                  <a:srgbClr val="64748B"/>
                </a:solidFill>
                <a:latin typeface="Calibri"/>
              </a:rPr>
              <a:t>151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75488" y="2779776"/>
            <a:ext cx="1554480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SendGrid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84832" y="2779776"/>
            <a:ext cx="186537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SendGrid - Global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05072" y="2779776"/>
            <a:ext cx="768096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28032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Phase 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77840" y="2779776"/>
            <a:ext cx="694944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Prod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27648" y="2779776"/>
            <a:ext cx="804671" cy="192024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700" b="0" i="0">
                <a:solidFill>
                  <a:srgbClr val="0F172A"/>
                </a:solidFill>
                <a:latin typeface="Calibri"/>
              </a:rPr>
              <a:t>SSPM-5101-P1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68896" y="2798064"/>
            <a:ext cx="1444751" cy="14630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