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54864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54864"/>
            <a:ext cx="758952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SSPM Initiative  |  SSPM Integration — Summary 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4592" y="603504"/>
            <a:ext cx="8814816" cy="1645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50" b="1" i="0">
                <a:solidFill>
                  <a:srgbClr val="64748B"/>
                </a:solidFill>
                <a:latin typeface="Calibri"/>
              </a:rPr>
              <a:t>UNIQUE APPLICATIONS — BY PHASE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64592" y="768096"/>
            <a:ext cx="8814816" cy="0"/>
          </a:xfrm>
          <a:prstGeom prst="line">
            <a:avLst/>
          </a:prstGeom>
          <a:ln w="635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164592" y="804672"/>
            <a:ext cx="1353312" cy="109728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64592" y="804672"/>
            <a:ext cx="45720" cy="109728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841248"/>
            <a:ext cx="1225295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00" b="1" i="0">
                <a:solidFill>
                  <a:srgbClr val="7DD3FC"/>
                </a:solidFill>
                <a:latin typeface="Calibri"/>
              </a:rPr>
              <a:t>All Phases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987552"/>
            <a:ext cx="122529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573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1298448"/>
            <a:ext cx="1225295" cy="1280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600" b="0" i="0">
                <a:solidFill>
                  <a:srgbClr val="94A3B8"/>
                </a:solidFill>
                <a:latin typeface="Calibri"/>
              </a:rPr>
              <a:t>Applications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1426464"/>
            <a:ext cx="1225295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0" i="0">
                <a:solidFill>
                  <a:srgbClr val="7DD3FC"/>
                </a:solidFill>
                <a:latin typeface="Calibri"/>
              </a:rPr>
              <a:t>50 in-scope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1536192"/>
            <a:ext cx="1225295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0" i="0">
                <a:solidFill>
                  <a:srgbClr val="7DD3FC"/>
                </a:solidFill>
                <a:latin typeface="Calibri"/>
              </a:rPr>
              <a:t>621 instances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563624" y="804672"/>
            <a:ext cx="1437436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563624" y="804672"/>
            <a:ext cx="45720" cy="109728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050084" y="850392"/>
            <a:ext cx="914400" cy="146304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50084" y="850392"/>
            <a:ext cx="914400" cy="14630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550" b="1" i="0">
                <a:solidFill>
                  <a:srgbClr val="166534"/>
                </a:solidFill>
                <a:latin typeface="Calibri"/>
              </a:rPr>
              <a:t>IN 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55064" y="850392"/>
            <a:ext cx="502920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007ACC"/>
                </a:solidFill>
                <a:latin typeface="Calibri"/>
              </a:rPr>
              <a:t>P1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55064" y="1005840"/>
            <a:ext cx="1300276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400" b="1" i="0">
                <a:solidFill>
                  <a:srgbClr val="007ACC"/>
                </a:solidFill>
                <a:latin typeface="Calibri"/>
              </a:rPr>
              <a:t>18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5064" y="1298448"/>
            <a:ext cx="1300276" cy="1188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650" b="0" i="0">
                <a:solidFill>
                  <a:srgbClr val="64748B"/>
                </a:solidFill>
                <a:latin typeface="Calibri"/>
              </a:rPr>
              <a:t>Unique Apps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655064" y="1444752"/>
            <a:ext cx="617498" cy="8229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272562" y="1444752"/>
            <a:ext cx="280681" cy="8229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553243" y="1444752"/>
            <a:ext cx="252612" cy="82296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805856" y="1444752"/>
            <a:ext cx="56136" cy="82296"/>
          </a:xfrm>
          <a:prstGeom prst="rect">
            <a:avLst/>
          </a:prstGeom>
          <a:solidFill>
            <a:srgbClr val="047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861992" y="1444752"/>
            <a:ext cx="84204" cy="8229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55064" y="1563624"/>
            <a:ext cx="249082" cy="165963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900" b="1" i="0">
                <a:solidFill>
                  <a:srgbClr val="059669"/>
                </a:solidFill>
                <a:latin typeface="Calibri"/>
              </a:rPr>
              <a:t>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55064" y="1732605"/>
            <a:ext cx="249082" cy="120700"/>
          </a:xfrm>
          <a:prstGeom prst="rect">
            <a:avLst/>
          </a:prstGeom>
          <a:noFill/>
        </p:spPr>
        <p:txBody>
          <a:bodyPr wrap="none" anchor="t"/>
          <a:lstStyle/>
          <a:p>
            <a:pPr algn="ctr"/>
            <a:r>
              <a:rPr sz="500" b="0" i="0">
                <a:solidFill>
                  <a:srgbClr val="059669"/>
                </a:solidFill>
                <a:latin typeface="Calibri"/>
              </a:rPr>
              <a:t>Done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13290" y="1563624"/>
            <a:ext cx="249082" cy="165963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900" b="1" i="0">
                <a:solidFill>
                  <a:srgbClr val="D97706"/>
                </a:solidFill>
                <a:latin typeface="Calibri"/>
              </a:rPr>
              <a:t>10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13290" y="1732605"/>
            <a:ext cx="249082" cy="120700"/>
          </a:xfrm>
          <a:prstGeom prst="rect">
            <a:avLst/>
          </a:prstGeom>
          <a:noFill/>
        </p:spPr>
        <p:txBody>
          <a:bodyPr wrap="none" anchor="t"/>
          <a:lstStyle/>
          <a:p>
            <a:pPr algn="ctr"/>
            <a:r>
              <a:rPr sz="500" b="0" i="0">
                <a:solidFill>
                  <a:srgbClr val="D97706"/>
                </a:solidFill>
                <a:latin typeface="Calibri"/>
              </a:rPr>
              <a:t>In Prog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71517" y="1563624"/>
            <a:ext cx="249082" cy="165963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900" b="1" i="0">
                <a:solidFill>
                  <a:srgbClr val="64748B"/>
                </a:solidFill>
                <a:latin typeface="Calibri"/>
              </a:rPr>
              <a:t>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71517" y="1732605"/>
            <a:ext cx="249082" cy="120700"/>
          </a:xfrm>
          <a:prstGeom prst="rect">
            <a:avLst/>
          </a:prstGeom>
          <a:noFill/>
        </p:spPr>
        <p:txBody>
          <a:bodyPr wrap="none" anchor="t"/>
          <a:lstStyle/>
          <a:p>
            <a:pPr algn="ctr"/>
            <a:r>
              <a:rPr sz="500" b="0" i="0">
                <a:solidFill>
                  <a:srgbClr val="64748B"/>
                </a:solidFill>
                <a:latin typeface="Calibri"/>
              </a:rPr>
              <a:t>Not Strt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29743" y="1563624"/>
            <a:ext cx="249082" cy="165963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900" b="1" i="0">
                <a:solidFill>
                  <a:srgbClr val="047A57"/>
                </a:solidFill>
                <a:latin typeface="Calibri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429743" y="1732605"/>
            <a:ext cx="249082" cy="120700"/>
          </a:xfrm>
          <a:prstGeom prst="rect">
            <a:avLst/>
          </a:prstGeom>
          <a:noFill/>
        </p:spPr>
        <p:txBody>
          <a:bodyPr wrap="none" anchor="t"/>
          <a:lstStyle/>
          <a:p>
            <a:pPr algn="ctr"/>
            <a:r>
              <a:rPr sz="500" b="0" i="0">
                <a:solidFill>
                  <a:srgbClr val="047A57"/>
                </a:solidFill>
                <a:latin typeface="Calibri"/>
              </a:rPr>
              <a:t>Future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87970" y="1563624"/>
            <a:ext cx="249082" cy="165963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900" b="1" i="0">
                <a:solidFill>
                  <a:srgbClr val="6D28D9"/>
                </a:solidFill>
                <a:latin typeface="Calibri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687970" y="1732605"/>
            <a:ext cx="249082" cy="120700"/>
          </a:xfrm>
          <a:prstGeom prst="rect">
            <a:avLst/>
          </a:prstGeom>
          <a:noFill/>
        </p:spPr>
        <p:txBody>
          <a:bodyPr wrap="none" anchor="t"/>
          <a:lstStyle/>
          <a:p>
            <a:pPr algn="ctr"/>
            <a:r>
              <a:rPr sz="500" b="0" i="0">
                <a:solidFill>
                  <a:srgbClr val="6D28D9"/>
                </a:solidFill>
                <a:latin typeface="Calibri"/>
              </a:rPr>
              <a:t>D-Scoped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046780" y="804672"/>
            <a:ext cx="1437436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046780" y="804672"/>
            <a:ext cx="45720" cy="10972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533241" y="850392"/>
            <a:ext cx="914400" cy="146304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241" y="850392"/>
            <a:ext cx="914400" cy="14630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550" b="1" i="0">
                <a:solidFill>
                  <a:srgbClr val="166534"/>
                </a:solidFill>
                <a:latin typeface="Calibri"/>
              </a:rPr>
              <a:t>IN SCOPE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138220" y="850392"/>
            <a:ext cx="502920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059669"/>
                </a:solidFill>
                <a:latin typeface="Calibri"/>
              </a:rPr>
              <a:t>P2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138220" y="1005840"/>
            <a:ext cx="1300276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400" b="1" i="0">
                <a:solidFill>
                  <a:srgbClr val="059669"/>
                </a:solidFill>
                <a:latin typeface="Calibri"/>
              </a:rPr>
              <a:t>32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138220" y="1298448"/>
            <a:ext cx="1300276" cy="1188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650" b="0" i="0">
                <a:solidFill>
                  <a:srgbClr val="64748B"/>
                </a:solidFill>
                <a:latin typeface="Calibri"/>
              </a:rPr>
              <a:t>Unique Apps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38220" y="1444752"/>
            <a:ext cx="173806" cy="8229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312027" y="1444752"/>
            <a:ext cx="893861" cy="82296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205888" y="1444752"/>
            <a:ext cx="148976" cy="82296"/>
          </a:xfrm>
          <a:prstGeom prst="rect">
            <a:avLst/>
          </a:prstGeom>
          <a:solidFill>
            <a:srgbClr val="047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354865" y="1444752"/>
            <a:ext cx="74488" cy="8229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138220" y="1563624"/>
            <a:ext cx="313639" cy="165963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900" b="1" i="0">
                <a:solidFill>
                  <a:srgbClr val="D97706"/>
                </a:solidFill>
                <a:latin typeface="Calibri"/>
              </a:rPr>
              <a:t>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138220" y="1732605"/>
            <a:ext cx="313639" cy="120700"/>
          </a:xfrm>
          <a:prstGeom prst="rect">
            <a:avLst/>
          </a:prstGeom>
          <a:noFill/>
        </p:spPr>
        <p:txBody>
          <a:bodyPr wrap="none" anchor="t"/>
          <a:lstStyle/>
          <a:p>
            <a:pPr algn="ctr"/>
            <a:r>
              <a:rPr sz="500" b="0" i="0">
                <a:solidFill>
                  <a:srgbClr val="D97706"/>
                </a:solidFill>
                <a:latin typeface="Calibri"/>
              </a:rPr>
              <a:t>In Prog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461004" y="1563624"/>
            <a:ext cx="313639" cy="165963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900" b="1" i="0">
                <a:solidFill>
                  <a:srgbClr val="64748B"/>
                </a:solidFill>
                <a:latin typeface="Calibri"/>
              </a:rPr>
              <a:t>36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461004" y="1732605"/>
            <a:ext cx="313639" cy="120700"/>
          </a:xfrm>
          <a:prstGeom prst="rect">
            <a:avLst/>
          </a:prstGeom>
          <a:noFill/>
        </p:spPr>
        <p:txBody>
          <a:bodyPr wrap="none" anchor="t"/>
          <a:lstStyle/>
          <a:p>
            <a:pPr algn="ctr"/>
            <a:r>
              <a:rPr sz="500" b="0" i="0">
                <a:solidFill>
                  <a:srgbClr val="64748B"/>
                </a:solidFill>
                <a:latin typeface="Calibri"/>
              </a:rPr>
              <a:t>Not Strt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783787" y="1563624"/>
            <a:ext cx="313639" cy="165963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900" b="1" i="0">
                <a:solidFill>
                  <a:srgbClr val="047A57"/>
                </a:solidFill>
                <a:latin typeface="Calibri"/>
              </a:rP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783787" y="1732605"/>
            <a:ext cx="313639" cy="120700"/>
          </a:xfrm>
          <a:prstGeom prst="rect">
            <a:avLst/>
          </a:prstGeom>
          <a:noFill/>
        </p:spPr>
        <p:txBody>
          <a:bodyPr wrap="none" anchor="t"/>
          <a:lstStyle/>
          <a:p>
            <a:pPr algn="ctr"/>
            <a:r>
              <a:rPr sz="500" b="0" i="0">
                <a:solidFill>
                  <a:srgbClr val="047A57"/>
                </a:solidFill>
                <a:latin typeface="Calibri"/>
              </a:rPr>
              <a:t>Future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106570" y="1563624"/>
            <a:ext cx="313639" cy="165963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900" b="1" i="0">
                <a:solidFill>
                  <a:srgbClr val="6D28D9"/>
                </a:solidFill>
                <a:latin typeface="Calibri"/>
              </a:rPr>
              <a:t>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106570" y="1732605"/>
            <a:ext cx="313639" cy="120700"/>
          </a:xfrm>
          <a:prstGeom prst="rect">
            <a:avLst/>
          </a:prstGeom>
          <a:noFill/>
        </p:spPr>
        <p:txBody>
          <a:bodyPr wrap="none" anchor="t"/>
          <a:lstStyle/>
          <a:p>
            <a:pPr algn="ctr"/>
            <a:r>
              <a:rPr sz="500" b="0" i="0">
                <a:solidFill>
                  <a:srgbClr val="6D28D9"/>
                </a:solidFill>
                <a:latin typeface="Calibri"/>
              </a:rPr>
              <a:t>D-Scoped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29937" y="804672"/>
            <a:ext cx="1437436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529937" y="804672"/>
            <a:ext cx="45720" cy="109728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016398" y="850392"/>
            <a:ext cx="914400" cy="14630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016398" y="850392"/>
            <a:ext cx="914400" cy="14630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550" b="1" i="0">
                <a:solidFill>
                  <a:srgbClr val="475569"/>
                </a:solidFill>
                <a:latin typeface="Calibri"/>
              </a:rPr>
              <a:t>OUT OF SCOPE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621377" y="850392"/>
            <a:ext cx="502920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6D28D9"/>
                </a:solidFill>
                <a:latin typeface="Calibri"/>
              </a:rPr>
              <a:t>P3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621377" y="1005840"/>
            <a:ext cx="1300276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400" b="1" i="0">
                <a:solidFill>
                  <a:srgbClr val="6D28D9"/>
                </a:solidFill>
                <a:latin typeface="Calibri"/>
              </a:rPr>
              <a:t>143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621377" y="1298448"/>
            <a:ext cx="1300276" cy="1188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650" b="0" i="0">
                <a:solidFill>
                  <a:srgbClr val="64748B"/>
                </a:solidFill>
                <a:latin typeface="Calibri"/>
              </a:rPr>
              <a:t>Unique Apps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621377" y="1444752"/>
            <a:ext cx="108346" cy="8229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29724" y="1444752"/>
            <a:ext cx="1182785" cy="82296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621377" y="1563624"/>
            <a:ext cx="636422" cy="165963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900" b="1" i="0">
                <a:solidFill>
                  <a:srgbClr val="059669"/>
                </a:solidFill>
                <a:latin typeface="Calibri"/>
              </a:rPr>
              <a:t>12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621377" y="1732605"/>
            <a:ext cx="636422" cy="120700"/>
          </a:xfrm>
          <a:prstGeom prst="rect">
            <a:avLst/>
          </a:prstGeom>
          <a:noFill/>
        </p:spPr>
        <p:txBody>
          <a:bodyPr wrap="none" anchor="t"/>
          <a:lstStyle/>
          <a:p>
            <a:pPr algn="ctr"/>
            <a:r>
              <a:rPr sz="500" b="0" i="0">
                <a:solidFill>
                  <a:srgbClr val="059669"/>
                </a:solidFill>
                <a:latin typeface="Calibri"/>
              </a:rPr>
              <a:t>Done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266944" y="1563624"/>
            <a:ext cx="636422" cy="165963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900" b="1" i="0">
                <a:solidFill>
                  <a:srgbClr val="64748B"/>
                </a:solidFill>
                <a:latin typeface="Calibri"/>
              </a:rPr>
              <a:t>131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66944" y="1732605"/>
            <a:ext cx="636422" cy="120700"/>
          </a:xfrm>
          <a:prstGeom prst="rect">
            <a:avLst/>
          </a:prstGeom>
          <a:noFill/>
        </p:spPr>
        <p:txBody>
          <a:bodyPr wrap="none" anchor="t"/>
          <a:lstStyle/>
          <a:p>
            <a:pPr algn="ctr"/>
            <a:r>
              <a:rPr sz="500" b="0" i="0">
                <a:solidFill>
                  <a:srgbClr val="64748B"/>
                </a:solidFill>
                <a:latin typeface="Calibri"/>
              </a:rPr>
              <a:t>Not Strt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013094" y="804672"/>
            <a:ext cx="1437436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013094" y="804672"/>
            <a:ext cx="45720" cy="1097280"/>
          </a:xfrm>
          <a:prstGeom prst="rect">
            <a:avLst/>
          </a:prstGeom>
          <a:solidFill>
            <a:srgbClr val="047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499555" y="850392"/>
            <a:ext cx="914400" cy="14630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499555" y="850392"/>
            <a:ext cx="914400" cy="14630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550" b="1" i="0">
                <a:solidFill>
                  <a:srgbClr val="475569"/>
                </a:solidFill>
                <a:latin typeface="Calibri"/>
              </a:rPr>
              <a:t>OUT OF SCOPE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104534" y="850392"/>
            <a:ext cx="502920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047A57"/>
                </a:solidFill>
                <a:latin typeface="Calibri"/>
              </a:rPr>
              <a:t>P4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104534" y="1005840"/>
            <a:ext cx="1300276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400" b="1" i="0">
                <a:solidFill>
                  <a:srgbClr val="047A57"/>
                </a:solidFill>
                <a:latin typeface="Calibri"/>
              </a:rPr>
              <a:t>198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104534" y="1298448"/>
            <a:ext cx="1300276" cy="1188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650" b="0" i="0">
                <a:solidFill>
                  <a:srgbClr val="64748B"/>
                </a:solidFill>
                <a:latin typeface="Calibri"/>
              </a:rPr>
              <a:t>Unique Apps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104534" y="1444752"/>
            <a:ext cx="26083" cy="8229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130617" y="1444752"/>
            <a:ext cx="1265049" cy="82296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104534" y="1563624"/>
            <a:ext cx="636422" cy="165963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900" b="1" i="0">
                <a:solidFill>
                  <a:srgbClr val="059669"/>
                </a:solidFill>
                <a:latin typeface="Calibri"/>
              </a:rPr>
              <a:t>4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104534" y="1732605"/>
            <a:ext cx="636422" cy="120700"/>
          </a:xfrm>
          <a:prstGeom prst="rect">
            <a:avLst/>
          </a:prstGeom>
          <a:noFill/>
        </p:spPr>
        <p:txBody>
          <a:bodyPr wrap="none" anchor="t"/>
          <a:lstStyle/>
          <a:p>
            <a:pPr algn="ctr"/>
            <a:r>
              <a:rPr sz="500" b="0" i="0">
                <a:solidFill>
                  <a:srgbClr val="059669"/>
                </a:solidFill>
                <a:latin typeface="Calibri"/>
              </a:rPr>
              <a:t>Done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750100" y="1563624"/>
            <a:ext cx="636422" cy="165963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900" b="1" i="0">
                <a:solidFill>
                  <a:srgbClr val="64748B"/>
                </a:solidFill>
                <a:latin typeface="Calibri"/>
              </a:rPr>
              <a:t>194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750100" y="1732605"/>
            <a:ext cx="636422" cy="120700"/>
          </a:xfrm>
          <a:prstGeom prst="rect">
            <a:avLst/>
          </a:prstGeom>
          <a:noFill/>
        </p:spPr>
        <p:txBody>
          <a:bodyPr wrap="none" anchor="t"/>
          <a:lstStyle/>
          <a:p>
            <a:pPr algn="ctr"/>
            <a:r>
              <a:rPr sz="500" b="0" i="0">
                <a:solidFill>
                  <a:srgbClr val="64748B"/>
                </a:solidFill>
                <a:latin typeface="Calibri"/>
              </a:rPr>
              <a:t>Not Strt</a:t>
            </a:r>
          </a:p>
        </p:txBody>
      </p:sp>
      <p:sp>
        <p:nvSpPr>
          <p:cNvPr id="81" name="Rectangle 80"/>
          <p:cNvSpPr/>
          <p:nvPr/>
        </p:nvSpPr>
        <p:spPr>
          <a:xfrm>
            <a:off x="7496251" y="804672"/>
            <a:ext cx="1437436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496251" y="804672"/>
            <a:ext cx="45720" cy="109728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982712" y="850392"/>
            <a:ext cx="914400" cy="14630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7982712" y="850392"/>
            <a:ext cx="914400" cy="14630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550" b="1" i="0">
                <a:solidFill>
                  <a:srgbClr val="475569"/>
                </a:solidFill>
                <a:latin typeface="Calibri"/>
              </a:rPr>
              <a:t>OUT OF SCOPE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587691" y="850392"/>
            <a:ext cx="502920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64748B"/>
                </a:solidFill>
                <a:latin typeface="Calibri"/>
              </a:rPr>
              <a:t>P5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587691" y="1005840"/>
            <a:ext cx="1300276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400" b="1" i="0">
                <a:solidFill>
                  <a:srgbClr val="64748B"/>
                </a:solidFill>
                <a:latin typeface="Calibri"/>
              </a:rPr>
              <a:t>182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587691" y="1298448"/>
            <a:ext cx="1300276" cy="1188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650" b="0" i="0">
                <a:solidFill>
                  <a:srgbClr val="64748B"/>
                </a:solidFill>
                <a:latin typeface="Calibri"/>
              </a:rPr>
              <a:t>Unique Apps</a:t>
            </a:r>
          </a:p>
        </p:txBody>
      </p:sp>
      <p:sp>
        <p:nvSpPr>
          <p:cNvPr id="88" name="Rectangle 87"/>
          <p:cNvSpPr/>
          <p:nvPr/>
        </p:nvSpPr>
        <p:spPr>
          <a:xfrm>
            <a:off x="7587691" y="1444752"/>
            <a:ext cx="1291132" cy="82296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587691" y="1563624"/>
            <a:ext cx="1281988" cy="165963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900" b="1" i="0">
                <a:solidFill>
                  <a:srgbClr val="64748B"/>
                </a:solidFill>
                <a:latin typeface="Calibri"/>
              </a:rPr>
              <a:t>182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587691" y="1732605"/>
            <a:ext cx="1281988" cy="120700"/>
          </a:xfrm>
          <a:prstGeom prst="rect">
            <a:avLst/>
          </a:prstGeom>
          <a:noFill/>
        </p:spPr>
        <p:txBody>
          <a:bodyPr wrap="none" anchor="t"/>
          <a:lstStyle/>
          <a:p>
            <a:pPr algn="ctr"/>
            <a:r>
              <a:rPr sz="500" b="0" i="0">
                <a:solidFill>
                  <a:srgbClr val="64748B"/>
                </a:solidFill>
                <a:latin typeface="Calibri"/>
              </a:rPr>
              <a:t>Not Strt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64592" y="1993392"/>
            <a:ext cx="8814816" cy="1645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50" b="1" i="0">
                <a:solidFill>
                  <a:srgbClr val="64748B"/>
                </a:solidFill>
                <a:latin typeface="Calibri"/>
              </a:rPr>
              <a:t>INSTANCES — PROD &amp; NON-PROD ONBOARDING STATUS</a:t>
            </a:r>
          </a:p>
        </p:txBody>
      </p:sp>
      <p:cxnSp>
        <p:nvCxnSpPr>
          <p:cNvPr id="92" name="Connector 91"/>
          <p:cNvCxnSpPr/>
          <p:nvPr/>
        </p:nvCxnSpPr>
        <p:spPr>
          <a:xfrm>
            <a:off x="164592" y="2157984"/>
            <a:ext cx="8814816" cy="0"/>
          </a:xfrm>
          <a:prstGeom prst="line">
            <a:avLst/>
          </a:prstGeom>
          <a:ln w="635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Rectangle 92"/>
          <p:cNvSpPr/>
          <p:nvPr/>
        </p:nvSpPr>
        <p:spPr>
          <a:xfrm>
            <a:off x="164592" y="2194560"/>
            <a:ext cx="548640" cy="32004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64592" y="2194560"/>
            <a:ext cx="36576" cy="32004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237744" y="2194560"/>
            <a:ext cx="4572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Phase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13232" y="2194560"/>
            <a:ext cx="3081528" cy="178308"/>
          </a:xfrm>
          <a:prstGeom prst="rect">
            <a:avLst/>
          </a:prstGeom>
          <a:solidFill>
            <a:srgbClr val="065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13232" y="2194560"/>
            <a:ext cx="3081528" cy="1783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Prod Instances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13232" y="2372868"/>
            <a:ext cx="1024128" cy="141732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13232" y="2372868"/>
            <a:ext cx="1024128" cy="1417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Completed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746504" y="2372868"/>
            <a:ext cx="1024128" cy="141732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746504" y="2372868"/>
            <a:ext cx="1024128" cy="1417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Pending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779776" y="2372868"/>
            <a:ext cx="1024128" cy="141732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2779776" y="2372868"/>
            <a:ext cx="1024128" cy="1417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Total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3813048" y="2194560"/>
            <a:ext cx="3081528" cy="178308"/>
          </a:xfrm>
          <a:prstGeom prst="rect">
            <a:avLst/>
          </a:prstGeom>
          <a:solidFill>
            <a:srgbClr val="046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3813048" y="2194560"/>
            <a:ext cx="3081528" cy="1783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Non-Prod Instances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3813048" y="2372868"/>
            <a:ext cx="1024128" cy="141732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3813048" y="2372868"/>
            <a:ext cx="1024128" cy="1417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Completed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4846320" y="2372868"/>
            <a:ext cx="1024128" cy="141732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4846320" y="2372868"/>
            <a:ext cx="1024128" cy="1417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Pending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879592" y="2372868"/>
            <a:ext cx="1024128" cy="141732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879592" y="2372868"/>
            <a:ext cx="1024128" cy="1417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Total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6912864" y="2194560"/>
            <a:ext cx="2048256" cy="178308"/>
          </a:xfrm>
          <a:prstGeom prst="rect">
            <a:avLst/>
          </a:prstGeom>
          <a:solidFill>
            <a:srgbClr val="2D2D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6912864" y="2194560"/>
            <a:ext cx="2048256" cy="1783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Grand Total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6912864" y="2372868"/>
            <a:ext cx="1024128" cy="141732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6912864" y="2372868"/>
            <a:ext cx="1024128" cy="1417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Instances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7946136" y="2372868"/>
            <a:ext cx="1024128" cy="141732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7946136" y="2372868"/>
            <a:ext cx="1024128" cy="1417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Done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164592" y="2514600"/>
            <a:ext cx="8814816" cy="187452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164592" y="2514600"/>
            <a:ext cx="36576" cy="187452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237744" y="2514600"/>
            <a:ext cx="457200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50" b="1" i="0">
                <a:solidFill>
                  <a:srgbClr val="007ACC"/>
                </a:solidFill>
                <a:latin typeface="Calibri"/>
              </a:rPr>
              <a:t>P1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13232" y="2514600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746504" y="2514600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0" i="0">
                <a:solidFill>
                  <a:srgbClr val="0F172A"/>
                </a:solidFill>
                <a:latin typeface="Calibri"/>
              </a:rPr>
              <a:t>21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779776" y="2514600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A3A6B"/>
                </a:solidFill>
                <a:latin typeface="Calibri"/>
              </a:rPr>
              <a:t>46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813048" y="2514600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9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2514600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0" i="0">
                <a:solidFill>
                  <a:srgbClr val="0F172A"/>
                </a:solidFill>
                <a:latin typeface="Calibri"/>
              </a:rPr>
              <a:t>18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879592" y="2514600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A3A6B"/>
                </a:solidFill>
                <a:latin typeface="Calibri"/>
              </a:rPr>
              <a:t>27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912864" y="2514600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A3A6B"/>
                </a:solidFill>
                <a:latin typeface="Calibri"/>
              </a:rPr>
              <a:t>73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7946136" y="2514600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34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164592" y="2702052"/>
            <a:ext cx="8814816" cy="187452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164592" y="2702052"/>
            <a:ext cx="36576" cy="18745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237744" y="2702052"/>
            <a:ext cx="457200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50" b="1" i="0">
                <a:solidFill>
                  <a:srgbClr val="059669"/>
                </a:solidFill>
                <a:latin typeface="Calibri"/>
              </a:rPr>
              <a:t>P2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13232" y="2702052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7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746504" y="2702052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0" i="0">
                <a:solidFill>
                  <a:srgbClr val="0F172A"/>
                </a:solidFill>
                <a:latin typeface="Calibri"/>
              </a:rPr>
              <a:t>45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2779776" y="2702052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A3A6B"/>
                </a:solidFill>
                <a:latin typeface="Calibri"/>
              </a:rPr>
              <a:t>52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3813048" y="2702052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64748B"/>
                </a:solidFill>
                <a:latin typeface="Calibri"/>
              </a:rP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46320" y="2702052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0" i="0">
                <a:solidFill>
                  <a:srgbClr val="0F172A"/>
                </a:solidFill>
                <a:latin typeface="Calibri"/>
              </a:rPr>
              <a:t>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5879592" y="2702052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A3A6B"/>
                </a:solidFill>
                <a:latin typeface="Calibri"/>
              </a:rPr>
              <a:t>26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912864" y="2702052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A3A6B"/>
                </a:solidFill>
                <a:latin typeface="Calibri"/>
              </a:rPr>
              <a:t>78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46136" y="2702052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7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164592" y="2889504"/>
            <a:ext cx="8814816" cy="187452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164592" y="2889504"/>
            <a:ext cx="36576" cy="18745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237744" y="2889504"/>
            <a:ext cx="457200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50" b="1" i="0">
                <a:solidFill>
                  <a:srgbClr val="6D28D9"/>
                </a:solidFill>
                <a:latin typeface="Calibri"/>
              </a:rPr>
              <a:t>P3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13232" y="2889504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746504" y="2889504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0" i="0">
                <a:solidFill>
                  <a:srgbClr val="0F172A"/>
                </a:solidFill>
                <a:latin typeface="Calibri"/>
              </a:rPr>
              <a:t>131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2779776" y="2889504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A3A6B"/>
                </a:solidFill>
                <a:latin typeface="Calibri"/>
              </a:rPr>
              <a:t>143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813048" y="2889504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0" i="1">
                <a:solidFill>
                  <a:srgbClr val="64748B"/>
                </a:solidFill>
                <a:latin typeface="Calibri"/>
              </a:rPr>
              <a:t>N/A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4846320" y="2889504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0" i="1">
                <a:solidFill>
                  <a:srgbClr val="64748B"/>
                </a:solidFill>
                <a:latin typeface="Calibri"/>
              </a:rPr>
              <a:t>N/A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879592" y="2889504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0" i="1">
                <a:solidFill>
                  <a:srgbClr val="64748B"/>
                </a:solidFill>
                <a:latin typeface="Calibri"/>
              </a:rPr>
              <a:t>N/A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6912864" y="2889504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A3A6B"/>
                </a:solidFill>
                <a:latin typeface="Calibri"/>
              </a:rPr>
              <a:t>143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7946136" y="2889504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12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164592" y="3076956"/>
            <a:ext cx="8814816" cy="187452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164592" y="3076956"/>
            <a:ext cx="36576" cy="187452"/>
          </a:xfrm>
          <a:prstGeom prst="rect">
            <a:avLst/>
          </a:prstGeom>
          <a:solidFill>
            <a:srgbClr val="047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237744" y="3076956"/>
            <a:ext cx="457200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50" b="1" i="0">
                <a:solidFill>
                  <a:srgbClr val="047A57"/>
                </a:solidFill>
                <a:latin typeface="Calibri"/>
              </a:rPr>
              <a:t>P4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713232" y="3076956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746504" y="3076956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0" i="0">
                <a:solidFill>
                  <a:srgbClr val="0F172A"/>
                </a:solidFill>
                <a:latin typeface="Calibri"/>
              </a:rPr>
              <a:t>194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2779776" y="3076956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A3A6B"/>
                </a:solidFill>
                <a:latin typeface="Calibri"/>
              </a:rPr>
              <a:t>198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3813048" y="3076956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0" i="1">
                <a:solidFill>
                  <a:srgbClr val="64748B"/>
                </a:solidFill>
                <a:latin typeface="Calibri"/>
              </a:rPr>
              <a:t>N/A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4846320" y="3076956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0" i="1">
                <a:solidFill>
                  <a:srgbClr val="64748B"/>
                </a:solidFill>
                <a:latin typeface="Calibri"/>
              </a:rPr>
              <a:t>N/A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5879592" y="3076956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0" i="1">
                <a:solidFill>
                  <a:srgbClr val="64748B"/>
                </a:solidFill>
                <a:latin typeface="Calibri"/>
              </a:rPr>
              <a:t>N/A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6912864" y="3076956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A3A6B"/>
                </a:solidFill>
                <a:latin typeface="Calibri"/>
              </a:rPr>
              <a:t>198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7946136" y="3076956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4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164592" y="3264408"/>
            <a:ext cx="8814816" cy="187452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164592" y="3264408"/>
            <a:ext cx="36576" cy="187452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237744" y="3264408"/>
            <a:ext cx="457200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50" b="1" i="0">
                <a:solidFill>
                  <a:srgbClr val="64748B"/>
                </a:solidFill>
                <a:latin typeface="Calibri"/>
              </a:rPr>
              <a:t>P5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713232" y="3264408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64748B"/>
                </a:solidFill>
                <a:latin typeface="Calibri"/>
              </a:rPr>
              <a:t>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746504" y="3264408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0" i="0">
                <a:solidFill>
                  <a:srgbClr val="0F172A"/>
                </a:solidFill>
                <a:latin typeface="Calibri"/>
              </a:rPr>
              <a:t>182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779776" y="3264408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A3A6B"/>
                </a:solidFill>
                <a:latin typeface="Calibri"/>
              </a:rPr>
              <a:t>182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813048" y="3264408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0" i="1">
                <a:solidFill>
                  <a:srgbClr val="64748B"/>
                </a:solidFill>
                <a:latin typeface="Calibri"/>
              </a:rPr>
              <a:t>N/A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846320" y="3264408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0" i="1">
                <a:solidFill>
                  <a:srgbClr val="64748B"/>
                </a:solidFill>
                <a:latin typeface="Calibri"/>
              </a:rPr>
              <a:t>N/A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5879592" y="3264408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0" i="1">
                <a:solidFill>
                  <a:srgbClr val="64748B"/>
                </a:solidFill>
                <a:latin typeface="Calibri"/>
              </a:rPr>
              <a:t>N/A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6912864" y="3264408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A3A6B"/>
                </a:solidFill>
                <a:latin typeface="Calibri"/>
              </a:rPr>
              <a:t>182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946136" y="3264408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64748B"/>
                </a:solidFill>
                <a:latin typeface="Calibri"/>
              </a:rPr>
              <a:t>0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164592" y="3451860"/>
            <a:ext cx="8814816" cy="187452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164592" y="3451860"/>
            <a:ext cx="36576" cy="187452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237744" y="3451860"/>
            <a:ext cx="457200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50" b="1" i="0">
                <a:solidFill>
                  <a:srgbClr val="007ACC"/>
                </a:solidFill>
                <a:latin typeface="Calibri"/>
              </a:rPr>
              <a:t>TOTAL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13232" y="3451860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50" b="1" i="0">
                <a:solidFill>
                  <a:srgbClr val="34D399"/>
                </a:solidFill>
                <a:latin typeface="Calibri"/>
              </a:rPr>
              <a:t>48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746504" y="3451860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50" b="1" i="0">
                <a:solidFill>
                  <a:srgbClr val="D97706"/>
                </a:solidFill>
                <a:latin typeface="Calibri"/>
              </a:rPr>
              <a:t>573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2779776" y="3451860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621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3813048" y="3451860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50" b="1" i="0">
                <a:solidFill>
                  <a:srgbClr val="34D399"/>
                </a:solidFill>
                <a:latin typeface="Calibri"/>
              </a:rPr>
              <a:t>9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4846320" y="3451860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50" b="1" i="0">
                <a:solidFill>
                  <a:srgbClr val="D97706"/>
                </a:solidFill>
                <a:latin typeface="Calibri"/>
              </a:rPr>
              <a:t>44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5879592" y="3451860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53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912864" y="3451860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674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46136" y="3451860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50" b="1" i="0">
                <a:solidFill>
                  <a:srgbClr val="34D399"/>
                </a:solidFill>
                <a:latin typeface="Calibri"/>
              </a:rPr>
              <a:t>57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164592" y="3694176"/>
            <a:ext cx="4361688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164592" y="3694176"/>
            <a:ext cx="36576" cy="438912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256032" y="3730752"/>
            <a:ext cx="4233672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50" b="1" i="0">
                <a:solidFill>
                  <a:srgbClr val="007ACC"/>
                </a:solidFill>
                <a:latin typeface="Calibri"/>
              </a:rPr>
              <a:t>What is a Unique Application?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256032" y="3877056"/>
            <a:ext cx="4233672" cy="1554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650" b="0" i="0">
                <a:solidFill>
                  <a:srgbClr val="334155"/>
                </a:solidFill>
                <a:latin typeface="Calibri"/>
              </a:rPr>
              <a:t>A Unique Application is a distinct SaaS product in the SSPM programme (e.g. Salesforce, Workday). Counted once regardless of how many environments or regions it operates in.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256032" y="4023360"/>
            <a:ext cx="4233672" cy="1005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600" b="0" i="1">
                <a:solidFill>
                  <a:srgbClr val="64748B"/>
                </a:solidFill>
                <a:latin typeface="Calibri"/>
              </a:rPr>
              <a:t>Example: Salesforce = 1 unique app, even with 8 regional instances.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4617720" y="3694176"/>
            <a:ext cx="4361688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4617720" y="3694176"/>
            <a:ext cx="36576" cy="438912"/>
          </a:xfrm>
          <a:prstGeom prst="rect">
            <a:avLst/>
          </a:prstGeom>
          <a:solidFill>
            <a:srgbClr val="047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4709159" y="3730752"/>
            <a:ext cx="4233672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50" b="1" i="0">
                <a:solidFill>
                  <a:srgbClr val="047A57"/>
                </a:solidFill>
                <a:latin typeface="Calibri"/>
              </a:rPr>
              <a:t>What is an Instance?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4709159" y="3877056"/>
            <a:ext cx="4233672" cy="1554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650" b="0" i="0">
                <a:solidFill>
                  <a:srgbClr val="334155"/>
                </a:solidFill>
                <a:latin typeface="Calibri"/>
              </a:rPr>
              <a:t>An Instance is one JIRA Story representing a specific deployment — a regional environment (Prod or Non-Prod) or tenant. One app can have multiple instances, each onboarded into SSPM separately.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709159" y="4023360"/>
            <a:ext cx="4233672" cy="1005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600" b="0" i="1">
                <a:solidFill>
                  <a:srgbClr val="64748B"/>
                </a:solidFill>
                <a:latin typeface="Calibri"/>
              </a:rPr>
              <a:t>Example: Salesforce has 8 instances — APAC Prod, EMEA Prod, NA Sandbox …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64592" y="4169663"/>
            <a:ext cx="1371600" cy="1371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650" b="0" i="0">
                <a:solidFill>
                  <a:srgbClr val="059669"/>
                </a:solidFill>
                <a:latin typeface="Calibri"/>
              </a:rPr>
              <a:t>● Done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56232" y="4169663"/>
            <a:ext cx="1371600" cy="1371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650" b="0" i="0">
                <a:solidFill>
                  <a:srgbClr val="D97706"/>
                </a:solidFill>
                <a:latin typeface="Calibri"/>
              </a:rPr>
              <a:t>● In Prog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3547872" y="4169663"/>
            <a:ext cx="1371600" cy="1371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650" b="0" i="0">
                <a:solidFill>
                  <a:srgbClr val="64748B"/>
                </a:solidFill>
                <a:latin typeface="Calibri"/>
              </a:rPr>
              <a:t>● Not Strt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5239512" y="4169663"/>
            <a:ext cx="1371600" cy="1371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650" b="0" i="0">
                <a:solidFill>
                  <a:srgbClr val="047A57"/>
                </a:solidFill>
                <a:latin typeface="Calibri"/>
              </a:rPr>
              <a:t>● Future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6931152" y="4169663"/>
            <a:ext cx="1371600" cy="1371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650" b="0" i="0">
                <a:solidFill>
                  <a:srgbClr val="6D28D9"/>
                </a:solidFill>
                <a:latin typeface="Calibri"/>
              </a:rPr>
              <a:t>● D-Scoped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274320" y="4892040"/>
            <a:ext cx="8595360" cy="228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1">
                <a:solidFill>
                  <a:srgbClr val="CBD5E1"/>
                </a:solidFill>
                <a:latin typeface="Calibri"/>
              </a:rPr>
              <a:t>[ Add your org footer here 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54864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54864"/>
            <a:ext cx="758952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SSPM Initiative  |  Integration Status — Region-wise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4592" y="621792"/>
            <a:ext cx="8814816" cy="1645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50" b="1" i="0">
                <a:solidFill>
                  <a:srgbClr val="64748B"/>
                </a:solidFill>
                <a:latin typeface="Calibri"/>
              </a:rPr>
              <a:t>INSTANCE ONBOARDING STATUS BY REGION — PROD &amp; NON-PROD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64592" y="786384"/>
            <a:ext cx="8814816" cy="0"/>
          </a:xfrm>
          <a:prstGeom prst="line">
            <a:avLst/>
          </a:prstGeom>
          <a:ln w="635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164592" y="822960"/>
            <a:ext cx="1097280" cy="32004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64592" y="822960"/>
            <a:ext cx="36576" cy="32004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7744" y="822960"/>
            <a:ext cx="1005839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Region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1261872" y="822960"/>
            <a:ext cx="2875788" cy="178308"/>
          </a:xfrm>
          <a:prstGeom prst="rect">
            <a:avLst/>
          </a:prstGeom>
          <a:solidFill>
            <a:srgbClr val="065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61872" y="822960"/>
            <a:ext cx="2875788" cy="1783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Prod Instances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61872" y="1001268"/>
            <a:ext cx="955548" cy="141732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61872" y="1001268"/>
            <a:ext cx="955548" cy="1417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Completed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26564" y="1001268"/>
            <a:ext cx="955548" cy="141732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26564" y="1001268"/>
            <a:ext cx="955548" cy="1417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Pending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191256" y="1001268"/>
            <a:ext cx="955548" cy="141732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191256" y="1001268"/>
            <a:ext cx="955548" cy="1417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Total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55948" y="822960"/>
            <a:ext cx="2875788" cy="178308"/>
          </a:xfrm>
          <a:prstGeom prst="rect">
            <a:avLst/>
          </a:prstGeom>
          <a:solidFill>
            <a:srgbClr val="046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55948" y="822960"/>
            <a:ext cx="2875788" cy="1783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Non-Prod Instances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55948" y="1001268"/>
            <a:ext cx="955548" cy="141732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55948" y="1001268"/>
            <a:ext cx="955548" cy="1417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Completed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20640" y="1001268"/>
            <a:ext cx="955548" cy="141732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0" y="1001268"/>
            <a:ext cx="955548" cy="1417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Pending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85332" y="1001268"/>
            <a:ext cx="955548" cy="141732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85332" y="1001268"/>
            <a:ext cx="955548" cy="1417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Total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50024" y="822960"/>
            <a:ext cx="1911096" cy="178308"/>
          </a:xfrm>
          <a:prstGeom prst="rect">
            <a:avLst/>
          </a:prstGeom>
          <a:solidFill>
            <a:srgbClr val="2D2D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50024" y="822960"/>
            <a:ext cx="1911096" cy="1783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Grand Total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050024" y="1001268"/>
            <a:ext cx="955548" cy="141732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50024" y="1001268"/>
            <a:ext cx="955548" cy="1417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Instances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14716" y="1001268"/>
            <a:ext cx="955548" cy="141732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14716" y="1001268"/>
            <a:ext cx="955548" cy="1417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Done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64592" y="1143000"/>
            <a:ext cx="8814816" cy="187452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64592" y="1143000"/>
            <a:ext cx="36576" cy="187452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37744" y="1143000"/>
            <a:ext cx="1005839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50" b="1" i="0">
                <a:solidFill>
                  <a:srgbClr val="007ACC"/>
                </a:solidFill>
                <a:latin typeface="Calibri"/>
              </a:rPr>
              <a:t>APAC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61872" y="1143000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15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226564" y="1143000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0" i="0">
                <a:solidFill>
                  <a:srgbClr val="0F172A"/>
                </a:solidFill>
                <a:latin typeface="Calibri"/>
              </a:rPr>
              <a:t>20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191256" y="1143000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A3A6B"/>
                </a:solidFill>
                <a:latin typeface="Calibri"/>
              </a:rPr>
              <a:t>35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55948" y="1143000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20640" y="1143000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0" i="0">
                <a:solidFill>
                  <a:srgbClr val="0F172A"/>
                </a:solidFill>
                <a:latin typeface="Calibri"/>
              </a:rPr>
              <a:t>17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85332" y="1143000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A3A6B"/>
                </a:solidFill>
                <a:latin typeface="Calibri"/>
              </a:rPr>
              <a:t>23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50024" y="1143000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A3A6B"/>
                </a:solidFill>
                <a:latin typeface="Calibri"/>
              </a:rPr>
              <a:t>58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14716" y="1143000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21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64592" y="1330452"/>
            <a:ext cx="8814816" cy="187452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64592" y="1330452"/>
            <a:ext cx="36576" cy="187452"/>
          </a:xfrm>
          <a:prstGeom prst="rect">
            <a:avLst/>
          </a:prstGeom>
          <a:solidFill>
            <a:srgbClr val="047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37744" y="1330452"/>
            <a:ext cx="1005839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50" b="1" i="0">
                <a:solidFill>
                  <a:srgbClr val="047A57"/>
                </a:solidFill>
                <a:latin typeface="Calibri"/>
              </a:rPr>
              <a:t>EMEA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261872" y="1330452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226564" y="1330452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0" i="0">
                <a:solidFill>
                  <a:srgbClr val="0F172A"/>
                </a:solidFill>
                <a:latin typeface="Calibri"/>
              </a:rPr>
              <a:t>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191256" y="1330452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A3A6B"/>
                </a:solidFill>
                <a:latin typeface="Calibri"/>
              </a:rPr>
              <a:t>14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155948" y="1330452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20640" y="1330452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0" i="0">
                <a:solidFill>
                  <a:srgbClr val="0F172A"/>
                </a:solidFill>
                <a:latin typeface="Calibri"/>
              </a:rPr>
              <a:t>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85332" y="1330452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A3A6B"/>
                </a:solidFill>
                <a:latin typeface="Calibri"/>
              </a:rPr>
              <a:t>11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050024" y="1330452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A3A6B"/>
                </a:solidFill>
                <a:latin typeface="Calibri"/>
              </a:rPr>
              <a:t>25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014716" y="1330452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64592" y="1517904"/>
            <a:ext cx="8814816" cy="187452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64592" y="1517904"/>
            <a:ext cx="36576" cy="18745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37744" y="1517904"/>
            <a:ext cx="1005839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50" b="1" i="0">
                <a:solidFill>
                  <a:srgbClr val="059669"/>
                </a:solidFill>
                <a:latin typeface="Calibri"/>
              </a:rPr>
              <a:t>Global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61872" y="1517904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226564" y="1517904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0" i="0">
                <a:solidFill>
                  <a:srgbClr val="0F172A"/>
                </a:solidFill>
                <a:latin typeface="Calibri"/>
              </a:rPr>
              <a:t>13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191256" y="1517904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A3A6B"/>
                </a:solidFill>
                <a:latin typeface="Calibri"/>
              </a:rPr>
              <a:t>19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155948" y="1517904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64748B"/>
                </a:solidFill>
                <a:latin typeface="Calibri"/>
              </a:rPr>
              <a:t>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120640" y="1517904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0" i="0">
                <a:solidFill>
                  <a:srgbClr val="0F172A"/>
                </a:solidFill>
                <a:latin typeface="Calibri"/>
              </a:rPr>
              <a:t>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085332" y="1517904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A3A6B"/>
                </a:solidFill>
                <a:latin typeface="Calibri"/>
              </a:rPr>
              <a:t>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050024" y="1517904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A3A6B"/>
                </a:solidFill>
                <a:latin typeface="Calibri"/>
              </a:rPr>
              <a:t>23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014716" y="1517904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64592" y="1705356"/>
            <a:ext cx="8814816" cy="187452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64592" y="1705356"/>
            <a:ext cx="36576" cy="18745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37744" y="1705356"/>
            <a:ext cx="1005839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50" b="1" i="0">
                <a:solidFill>
                  <a:srgbClr val="6D28D9"/>
                </a:solidFill>
                <a:latin typeface="Calibri"/>
              </a:rPr>
              <a:t>Japan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261872" y="1705356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226564" y="1705356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0" i="0">
                <a:solidFill>
                  <a:srgbClr val="0F172A"/>
                </a:solidFill>
                <a:latin typeface="Calibri"/>
              </a:rPr>
              <a:t>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191256" y="1705356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A3A6B"/>
                </a:solidFill>
                <a:latin typeface="Calibri"/>
              </a:rPr>
              <a:t>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155948" y="1705356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120640" y="1705356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0" i="0">
                <a:solidFill>
                  <a:srgbClr val="64748B"/>
                </a:solidFill>
                <a:latin typeface="Calibri"/>
              </a:rPr>
              <a:t>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085332" y="1705356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A3A6B"/>
                </a:solidFill>
                <a:latin typeface="Calibri"/>
              </a:rPr>
              <a:t>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050024" y="1705356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A3A6B"/>
                </a:solidFill>
                <a:latin typeface="Calibri"/>
              </a:rPr>
              <a:t>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014716" y="1705356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4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64592" y="1892807"/>
            <a:ext cx="8814816" cy="187452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64592" y="1892807"/>
            <a:ext cx="36576" cy="1874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37744" y="1892807"/>
            <a:ext cx="1005839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50" b="1" i="0">
                <a:solidFill>
                  <a:srgbClr val="D97706"/>
                </a:solidFill>
                <a:latin typeface="Calibri"/>
              </a:rPr>
              <a:t>North America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261872" y="1892807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226564" y="1892807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0" i="0">
                <a:solidFill>
                  <a:srgbClr val="0F172A"/>
                </a:solidFill>
                <a:latin typeface="Calibri"/>
              </a:rPr>
              <a:t>22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191256" y="1892807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A3A6B"/>
                </a:solidFill>
                <a:latin typeface="Calibri"/>
              </a:rPr>
              <a:t>25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155948" y="1892807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1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120640" y="1892807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0" i="0">
                <a:solidFill>
                  <a:srgbClr val="0F172A"/>
                </a:solidFill>
                <a:latin typeface="Calibri"/>
              </a:rPr>
              <a:t>13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085332" y="1892807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A3A6B"/>
                </a:solidFill>
                <a:latin typeface="Calibri"/>
              </a:rPr>
              <a:t>14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050024" y="1892807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A3A6B"/>
                </a:solidFill>
                <a:latin typeface="Calibri"/>
              </a:rPr>
              <a:t>39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14716" y="1892807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4</a:t>
            </a:r>
          </a:p>
        </p:txBody>
      </p:sp>
      <p:sp>
        <p:nvSpPr>
          <p:cNvPr id="87" name="Rectangle 86"/>
          <p:cNvSpPr/>
          <p:nvPr/>
        </p:nvSpPr>
        <p:spPr>
          <a:xfrm>
            <a:off x="164592" y="2080260"/>
            <a:ext cx="8814816" cy="187452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64592" y="2080260"/>
            <a:ext cx="36576" cy="187452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237744" y="2080260"/>
            <a:ext cx="1005839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50" b="1" i="0">
                <a:solidFill>
                  <a:srgbClr val="64748B"/>
                </a:solidFill>
                <a:latin typeface="Calibri"/>
              </a:rPr>
              <a:t>TG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261872" y="2080260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64748B"/>
                </a:solidFill>
                <a:latin typeface="Calibri"/>
              </a:rPr>
              <a:t>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226564" y="2080260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0" i="0">
                <a:solidFill>
                  <a:srgbClr val="0F172A"/>
                </a:solidFill>
                <a:latin typeface="Calibri"/>
              </a:rPr>
              <a:t>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191256" y="2080260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A3A6B"/>
                </a:solidFill>
                <a:latin typeface="Calibri"/>
              </a:rP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155948" y="2080260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0" i="1">
                <a:solidFill>
                  <a:srgbClr val="64748B"/>
                </a:solidFill>
                <a:latin typeface="Calibri"/>
              </a:rPr>
              <a:t>N/A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120640" y="2080260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0" i="1">
                <a:solidFill>
                  <a:srgbClr val="64748B"/>
                </a:solidFill>
                <a:latin typeface="Calibri"/>
              </a:rPr>
              <a:t>N/A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085332" y="2080260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0" i="1">
                <a:solidFill>
                  <a:srgbClr val="64748B"/>
                </a:solidFill>
                <a:latin typeface="Calibri"/>
              </a:rPr>
              <a:t>N/A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7050024" y="2080260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A3A6B"/>
                </a:solidFill>
                <a:latin typeface="Calibri"/>
              </a:rPr>
              <a:t>1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014716" y="2080260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64748B"/>
                </a:solidFill>
                <a:latin typeface="Calibri"/>
              </a:rPr>
              <a:t>0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64592" y="2267712"/>
            <a:ext cx="8814816" cy="187452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64592" y="2267712"/>
            <a:ext cx="36576" cy="187452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237744" y="2267712"/>
            <a:ext cx="1005839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50" b="1" i="0">
                <a:solidFill>
                  <a:srgbClr val="007ACC"/>
                </a:solidFill>
                <a:latin typeface="Calibri"/>
              </a:rPr>
              <a:t>TOTAL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261872" y="2267712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50" b="1" i="0">
                <a:solidFill>
                  <a:srgbClr val="34D399"/>
                </a:solidFill>
                <a:latin typeface="Calibri"/>
              </a:rPr>
              <a:t>32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226564" y="2267712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50" b="1" i="0">
                <a:solidFill>
                  <a:srgbClr val="D97706"/>
                </a:solidFill>
                <a:latin typeface="Calibri"/>
              </a:rPr>
              <a:t>66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3191256" y="2267712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98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155948" y="2267712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50" b="1" i="0">
                <a:solidFill>
                  <a:srgbClr val="34D399"/>
                </a:solidFill>
                <a:latin typeface="Calibri"/>
              </a:rPr>
              <a:t>9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5120640" y="2267712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50" b="1" i="0">
                <a:solidFill>
                  <a:srgbClr val="D97706"/>
                </a:solidFill>
                <a:latin typeface="Calibri"/>
              </a:rPr>
              <a:t>44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085332" y="2267712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53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050024" y="2267712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151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014716" y="2267712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50" b="1" i="0">
                <a:solidFill>
                  <a:srgbClr val="34D399"/>
                </a:solidFill>
                <a:latin typeface="Calibri"/>
              </a:rPr>
              <a:t>41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64592" y="4480560"/>
            <a:ext cx="3200400" cy="1645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650" b="0" i="0">
                <a:solidFill>
                  <a:srgbClr val="059669"/>
                </a:solidFill>
                <a:latin typeface="Calibri"/>
              </a:rPr>
              <a:t>● Completed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417320" y="4480560"/>
            <a:ext cx="3200400" cy="1645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650" b="0" i="0">
                <a:solidFill>
                  <a:srgbClr val="D97706"/>
                </a:solidFill>
                <a:latin typeface="Calibri"/>
              </a:rPr>
              <a:t>● Pending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2606040" y="4480560"/>
            <a:ext cx="3200400" cy="1645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650" b="0" i="0">
                <a:solidFill>
                  <a:srgbClr val="64748B"/>
                </a:solidFill>
                <a:latin typeface="Calibri"/>
              </a:rPr>
              <a:t>N/A — No Non-Prod environment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274320" y="4892040"/>
            <a:ext cx="8595360" cy="228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1">
                <a:solidFill>
                  <a:srgbClr val="CBD5E1"/>
                </a:solidFill>
                <a:latin typeface="Calibri"/>
              </a:rPr>
              <a:t>[ Add your org footer here ]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54864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54864"/>
            <a:ext cx="758952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SSPM Initiative  |  Phase 1 Applications — Integration Status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P1 · Pg 1/3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58368"/>
            <a:ext cx="141732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1" i="0">
                <a:solidFill>
                  <a:srgbClr val="64748B"/>
                </a:solidFill>
                <a:latin typeface="Calibri"/>
              </a:rPr>
              <a:t>Instance Coverage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0" y="603504"/>
            <a:ext cx="16002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01952" y="630936"/>
            <a:ext cx="1453896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PROD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1952" y="749808"/>
            <a:ext cx="1453896" cy="1828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059669"/>
                </a:solidFill>
                <a:latin typeface="Calibri"/>
              </a:rPr>
              <a:t>25/46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01952" y="941832"/>
            <a:ext cx="1453896" cy="3657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901952" y="941832"/>
            <a:ext cx="790160" cy="3657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47872" y="603504"/>
            <a:ext cx="16002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21024" y="630936"/>
            <a:ext cx="1453896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NON-PROD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21024" y="749808"/>
            <a:ext cx="1453896" cy="1828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047A57"/>
                </a:solidFill>
                <a:latin typeface="Calibri"/>
              </a:rPr>
              <a:t>9/27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21024" y="941832"/>
            <a:ext cx="1453896" cy="3657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21024" y="941832"/>
            <a:ext cx="484632" cy="36576"/>
          </a:xfrm>
          <a:prstGeom prst="rect">
            <a:avLst/>
          </a:prstGeom>
          <a:solidFill>
            <a:srgbClr val="047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0" y="640080"/>
            <a:ext cx="3383280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650" b="1" i="0">
                <a:solidFill>
                  <a:srgbClr val="64748B"/>
                </a:solidFill>
                <a:latin typeface="Calibri"/>
              </a:rPr>
              <a:t>App Status Breakdown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0" y="786384"/>
            <a:ext cx="751840" cy="914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38240" y="786384"/>
            <a:ext cx="1503680" cy="914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41920" y="786384"/>
            <a:ext cx="751840" cy="9144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493760" y="786384"/>
            <a:ext cx="375920" cy="91440"/>
          </a:xfrm>
          <a:prstGeom prst="rect">
            <a:avLst/>
          </a:prstGeom>
          <a:solidFill>
            <a:srgbClr val="047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0" y="896112"/>
            <a:ext cx="7315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1" i="0">
                <a:solidFill>
                  <a:srgbClr val="059669"/>
                </a:solidFill>
                <a:latin typeface="Calibri"/>
              </a:rPr>
              <a:t>4 Done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81344" y="896112"/>
            <a:ext cx="7315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1" i="0">
                <a:solidFill>
                  <a:srgbClr val="D97706"/>
                </a:solidFill>
                <a:latin typeface="Calibri"/>
              </a:rPr>
              <a:t>8 In Prog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76288" y="896112"/>
            <a:ext cx="7315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1" i="0">
                <a:solidFill>
                  <a:srgbClr val="64748B"/>
                </a:solidFill>
                <a:latin typeface="Calibri"/>
              </a:rPr>
              <a:t>4 Not Strt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71231" y="896112"/>
            <a:ext cx="7315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1" i="0">
                <a:solidFill>
                  <a:srgbClr val="047A57"/>
                </a:solidFill>
                <a:latin typeface="Calibri"/>
              </a:rPr>
              <a:t>2 Future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74320" y="1078992"/>
            <a:ext cx="8595360" cy="0"/>
          </a:xfrm>
          <a:prstGeom prst="line">
            <a:avLst/>
          </a:prstGeom>
          <a:ln w="9525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274320" y="932688"/>
            <a:ext cx="201168" cy="155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#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932688"/>
            <a:ext cx="2944368" cy="155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Application  ·  Org / Prod / Non-Prod Instances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20440" y="932688"/>
            <a:ext cx="1874519" cy="155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Status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68112" y="932688"/>
            <a:ext cx="1243584" cy="155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PROD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84848" y="932688"/>
            <a:ext cx="2048256" cy="155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NON-PROD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1115568"/>
            <a:ext cx="85953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74320" y="1115568"/>
            <a:ext cx="45720" cy="548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10896" y="1115568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1161288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Salesforce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2920" y="1407993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21208" y="140799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×8 Instance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459992" y="1407993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478280" y="140799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×8 Prod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417064" y="1407993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435352" y="140799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×6 Non-Prod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520440" y="1240109"/>
            <a:ext cx="1819655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520440" y="1240109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Onboarding In Progress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68112" y="1240109"/>
            <a:ext cx="1207008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468112" y="1240109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PROD 5/8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784848" y="1240109"/>
            <a:ext cx="2011680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784848" y="1240109"/>
            <a:ext cx="2011680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NP 2/6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74320" y="1691640"/>
            <a:ext cx="8595360" cy="5486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74320" y="1691640"/>
            <a:ext cx="45720" cy="548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10896" y="1691640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2920" y="1737360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Workday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02920" y="1984065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21208" y="1984065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×3 Instance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459992" y="1984065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478280" y="1984065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×3 Prod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417064" y="1984065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435352" y="1984065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×3 Non-Prod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520440" y="1816181"/>
            <a:ext cx="1819655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520440" y="1816181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Onboarding In Progress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68112" y="1816181"/>
            <a:ext cx="1207008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468112" y="1816181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PROD 2/3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784848" y="1816181"/>
            <a:ext cx="2011680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784848" y="1816181"/>
            <a:ext cx="2011680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NP 1/3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74320" y="2267712"/>
            <a:ext cx="85953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74320" y="2267712"/>
            <a:ext cx="45720" cy="548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10896" y="2267712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02920" y="2313432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ServiceNow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02920" y="2560137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21208" y="2560137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×4 Instance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459992" y="2560137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478280" y="2560137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×4 Prod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417064" y="2560137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2435352" y="2560137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×3 Non-Prod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520440" y="2392253"/>
            <a:ext cx="1819655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520440" y="2392253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Onboarding In Progress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468112" y="2392253"/>
            <a:ext cx="1207008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468112" y="2392253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PROD 3/4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784848" y="2392253"/>
            <a:ext cx="2011680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784848" y="2392253"/>
            <a:ext cx="2011680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NP 1/3</a:t>
            </a:r>
          </a:p>
        </p:txBody>
      </p:sp>
      <p:sp>
        <p:nvSpPr>
          <p:cNvPr id="81" name="Rectangle 80"/>
          <p:cNvSpPr/>
          <p:nvPr/>
        </p:nvSpPr>
        <p:spPr>
          <a:xfrm>
            <a:off x="274320" y="2843784"/>
            <a:ext cx="8595360" cy="5486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274320" y="2843784"/>
            <a:ext cx="45720" cy="54864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10896" y="2843784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02920" y="2889504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GitHub Enterprise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02920" y="3136209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21208" y="3136209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×3 Instance</a:t>
            </a:r>
          </a:p>
        </p:txBody>
      </p:sp>
      <p:sp>
        <p:nvSpPr>
          <p:cNvPr id="87" name="Rectangle 86"/>
          <p:cNvSpPr/>
          <p:nvPr/>
        </p:nvSpPr>
        <p:spPr>
          <a:xfrm>
            <a:off x="1459992" y="3136209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478280" y="3136209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×3 Prod</a:t>
            </a:r>
          </a:p>
        </p:txBody>
      </p:sp>
      <p:sp>
        <p:nvSpPr>
          <p:cNvPr id="89" name="Rectangle 88"/>
          <p:cNvSpPr/>
          <p:nvPr/>
        </p:nvSpPr>
        <p:spPr>
          <a:xfrm>
            <a:off x="2417064" y="3136209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2435352" y="3136209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×3 Non-Prod</a:t>
            </a:r>
          </a:p>
        </p:txBody>
      </p:sp>
      <p:sp>
        <p:nvSpPr>
          <p:cNvPr id="91" name="Rectangle 90"/>
          <p:cNvSpPr/>
          <p:nvPr/>
        </p:nvSpPr>
        <p:spPr>
          <a:xfrm>
            <a:off x="3520440" y="2968325"/>
            <a:ext cx="1819655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3520440" y="2968325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93" name="Rectangle 92"/>
          <p:cNvSpPr/>
          <p:nvPr/>
        </p:nvSpPr>
        <p:spPr>
          <a:xfrm>
            <a:off x="5468112" y="2968325"/>
            <a:ext cx="1207008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468112" y="2968325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PROD 2/3</a:t>
            </a:r>
          </a:p>
        </p:txBody>
      </p:sp>
      <p:sp>
        <p:nvSpPr>
          <p:cNvPr id="95" name="Rectangle 94"/>
          <p:cNvSpPr/>
          <p:nvPr/>
        </p:nvSpPr>
        <p:spPr>
          <a:xfrm>
            <a:off x="6784848" y="2968325"/>
            <a:ext cx="2011680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6784848" y="2968325"/>
            <a:ext cx="2011680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NP 2/3</a:t>
            </a:r>
          </a:p>
        </p:txBody>
      </p:sp>
      <p:sp>
        <p:nvSpPr>
          <p:cNvPr id="97" name="Rectangle 96"/>
          <p:cNvSpPr/>
          <p:nvPr/>
        </p:nvSpPr>
        <p:spPr>
          <a:xfrm>
            <a:off x="274320" y="3419856"/>
            <a:ext cx="85953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274320" y="3419856"/>
            <a:ext cx="45720" cy="548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310896" y="3419856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02920" y="3465576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Microsoft 365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502920" y="3712281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521208" y="3712281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×5 Instance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459992" y="3712281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1478280" y="3712281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×5 Prod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2417064" y="3712281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2435352" y="3712281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×0 Non-Prod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3520440" y="3544397"/>
            <a:ext cx="1819655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3520440" y="3544397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Onboarding In Progress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5468112" y="3544397"/>
            <a:ext cx="1207008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5468112" y="3544397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PROD 3/5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784848" y="3419856"/>
            <a:ext cx="20116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—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274320" y="3995928"/>
            <a:ext cx="8595360" cy="5486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274320" y="3995928"/>
            <a:ext cx="45720" cy="548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10896" y="3995928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502920" y="4041648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Okta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02920" y="4288353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21208" y="428835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×3 Instance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1459992" y="4288353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1478280" y="428835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×3 Prod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2417064" y="4288353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2435352" y="428835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×3 Non-Prod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520440" y="4120469"/>
            <a:ext cx="1819655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520440" y="4120469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Onboarding In Progress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468112" y="4120469"/>
            <a:ext cx="1207008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468112" y="4120469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PROD 2/3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6784848" y="4120469"/>
            <a:ext cx="2011680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6784848" y="4120469"/>
            <a:ext cx="2011680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NP 2/3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164592" y="4572000"/>
            <a:ext cx="8814816" cy="292608"/>
          </a:xfrm>
          <a:prstGeom prst="rect">
            <a:avLst/>
          </a:prstGeom>
          <a:solidFill>
            <a:srgbClr val="FEF9C3"/>
          </a:solidFill>
          <a:ln w="9525">
            <a:solidFill>
              <a:srgbClr val="CA8A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64592" y="4572000"/>
            <a:ext cx="45720" cy="292608"/>
          </a:xfrm>
          <a:prstGeom prst="rect">
            <a:avLst/>
          </a:prstGeom>
          <a:solidFill>
            <a:srgbClr val="CA8A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274320" y="4599432"/>
            <a:ext cx="594360" cy="1280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00" b="1" i="0">
                <a:solidFill>
                  <a:srgbClr val="92400E"/>
                </a:solidFill>
                <a:latin typeface="Calibri"/>
              </a:rPr>
              <a:t>NOTE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274320" y="4617720"/>
            <a:ext cx="8503920" cy="2194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650" b="0" i="0">
                <a:solidFill>
                  <a:srgbClr val="78350F"/>
                </a:solidFill>
                <a:latin typeface="Calibri"/>
              </a:rPr>
              <a:t>Status Grouping:  Completed  =  'Completed' + 'De-Scoped'  (shown in green).   Pending  =  'Onboarding In Progress' + 'Not Started' + 'Future Request'  (shown with their respective colour).   Status is determined by the JIRA dropdown field configured in config.py → STATUS_FIELD.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274320" y="4892040"/>
            <a:ext cx="8595360" cy="228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1">
                <a:solidFill>
                  <a:srgbClr val="CBD5E1"/>
                </a:solidFill>
                <a:latin typeface="Calibri"/>
              </a:rPr>
              <a:t>[ Add your org footer here 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54864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54864"/>
            <a:ext cx="758952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SSPM Initiative  |  Phase 1 Applications — Integration Status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P1 · Pg 2/3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58368"/>
            <a:ext cx="141732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1" i="0">
                <a:solidFill>
                  <a:srgbClr val="64748B"/>
                </a:solidFill>
                <a:latin typeface="Calibri"/>
              </a:rPr>
              <a:t>Instance Coverage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0" y="603504"/>
            <a:ext cx="16002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01952" y="630936"/>
            <a:ext cx="1453896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PROD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1952" y="749808"/>
            <a:ext cx="1453896" cy="1828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059669"/>
                </a:solidFill>
                <a:latin typeface="Calibri"/>
              </a:rPr>
              <a:t>25/46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01952" y="941832"/>
            <a:ext cx="1453896" cy="3657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901952" y="941832"/>
            <a:ext cx="790160" cy="3657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47872" y="603504"/>
            <a:ext cx="16002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21024" y="630936"/>
            <a:ext cx="1453896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NON-PROD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21024" y="749808"/>
            <a:ext cx="1453896" cy="1828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047A57"/>
                </a:solidFill>
                <a:latin typeface="Calibri"/>
              </a:rPr>
              <a:t>9/27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21024" y="941832"/>
            <a:ext cx="1453896" cy="3657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21024" y="941832"/>
            <a:ext cx="484632" cy="36576"/>
          </a:xfrm>
          <a:prstGeom prst="rect">
            <a:avLst/>
          </a:prstGeom>
          <a:solidFill>
            <a:srgbClr val="047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0" y="640080"/>
            <a:ext cx="3383280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650" b="1" i="0">
                <a:solidFill>
                  <a:srgbClr val="64748B"/>
                </a:solidFill>
                <a:latin typeface="Calibri"/>
              </a:rPr>
              <a:t>App Status Breakdown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0" y="786384"/>
            <a:ext cx="751840" cy="914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38240" y="786384"/>
            <a:ext cx="1503680" cy="914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41920" y="786384"/>
            <a:ext cx="751840" cy="9144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493760" y="786384"/>
            <a:ext cx="375920" cy="91440"/>
          </a:xfrm>
          <a:prstGeom prst="rect">
            <a:avLst/>
          </a:prstGeom>
          <a:solidFill>
            <a:srgbClr val="047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0" y="896112"/>
            <a:ext cx="7315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1" i="0">
                <a:solidFill>
                  <a:srgbClr val="059669"/>
                </a:solidFill>
                <a:latin typeface="Calibri"/>
              </a:rPr>
              <a:t>4 Done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81344" y="896112"/>
            <a:ext cx="7315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1" i="0">
                <a:solidFill>
                  <a:srgbClr val="D97706"/>
                </a:solidFill>
                <a:latin typeface="Calibri"/>
              </a:rPr>
              <a:t>8 In Prog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76288" y="896112"/>
            <a:ext cx="7315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1" i="0">
                <a:solidFill>
                  <a:srgbClr val="64748B"/>
                </a:solidFill>
                <a:latin typeface="Calibri"/>
              </a:rPr>
              <a:t>4 Not Strt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71231" y="896112"/>
            <a:ext cx="7315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1" i="0">
                <a:solidFill>
                  <a:srgbClr val="047A57"/>
                </a:solidFill>
                <a:latin typeface="Calibri"/>
              </a:rPr>
              <a:t>2 Future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74320" y="1078992"/>
            <a:ext cx="8595360" cy="0"/>
          </a:xfrm>
          <a:prstGeom prst="line">
            <a:avLst/>
          </a:prstGeom>
          <a:ln w="9525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274320" y="932688"/>
            <a:ext cx="201168" cy="155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#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932688"/>
            <a:ext cx="2944368" cy="155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Application  ·  Org / Prod / Non-Prod Instances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20440" y="932688"/>
            <a:ext cx="1874519" cy="155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Status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68112" y="932688"/>
            <a:ext cx="1243584" cy="155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PROD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84848" y="932688"/>
            <a:ext cx="2048256" cy="155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NON-PROD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1115568"/>
            <a:ext cx="85953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74320" y="1115568"/>
            <a:ext cx="45720" cy="54864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10896" y="1115568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1161288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Zoom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2920" y="1407993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21208" y="140799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×2 Instance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459992" y="1407993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478280" y="140799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×2 Prod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417064" y="1407993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435352" y="140799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×1 Non-Prod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520440" y="1240109"/>
            <a:ext cx="1819655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520440" y="1240109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68112" y="1240109"/>
            <a:ext cx="1207008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468112" y="1240109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PROD 1/2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784848" y="1240109"/>
            <a:ext cx="2011680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784848" y="1240109"/>
            <a:ext cx="2011680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NP 0/1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74320" y="1691640"/>
            <a:ext cx="8595360" cy="5486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74320" y="1691640"/>
            <a:ext cx="45720" cy="548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10896" y="1691640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2920" y="1737360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Slack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02920" y="1984065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21208" y="1984065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×2 Instance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459992" y="1984065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478280" y="1984065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×2 Prod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417064" y="1984065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435352" y="1984065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×1 Non-Prod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520440" y="1816181"/>
            <a:ext cx="1819655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520440" y="1816181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Onboarding In Progress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68112" y="1816181"/>
            <a:ext cx="1207008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468112" y="1816181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PROD 1/2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784848" y="1816181"/>
            <a:ext cx="2011680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784848" y="1816181"/>
            <a:ext cx="2011680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NP 0/1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74320" y="2267712"/>
            <a:ext cx="85953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74320" y="2267712"/>
            <a:ext cx="45720" cy="5486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10896" y="2267712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02920" y="2313432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Palo Alto Prisma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02920" y="2560137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21208" y="2560137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×2 Instance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459992" y="2560137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478280" y="2560137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×2 Prod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417064" y="2560137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2435352" y="2560137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×2 Non-Prod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520440" y="2392253"/>
            <a:ext cx="1819655" cy="299557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520440" y="2392253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468112" y="2392253"/>
            <a:ext cx="1207008" cy="299557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468112" y="2392253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059669"/>
                </a:solidFill>
                <a:latin typeface="Calibri"/>
              </a:rPr>
              <a:t>PROD 2/2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784848" y="2392253"/>
            <a:ext cx="2011680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784848" y="2392253"/>
            <a:ext cx="2011680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NP 1/2</a:t>
            </a:r>
          </a:p>
        </p:txBody>
      </p:sp>
      <p:sp>
        <p:nvSpPr>
          <p:cNvPr id="81" name="Rectangle 80"/>
          <p:cNvSpPr/>
          <p:nvPr/>
        </p:nvSpPr>
        <p:spPr>
          <a:xfrm>
            <a:off x="274320" y="2843784"/>
            <a:ext cx="8595360" cy="5486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274320" y="2843784"/>
            <a:ext cx="45720" cy="548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10896" y="2843784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10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02920" y="2889504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CrowdStrike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02920" y="3136209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21208" y="3136209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×1 Instance</a:t>
            </a:r>
          </a:p>
        </p:txBody>
      </p:sp>
      <p:sp>
        <p:nvSpPr>
          <p:cNvPr id="87" name="Rectangle 86"/>
          <p:cNvSpPr/>
          <p:nvPr/>
        </p:nvSpPr>
        <p:spPr>
          <a:xfrm>
            <a:off x="1459992" y="3136209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478280" y="3136209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×1 Prod</a:t>
            </a:r>
          </a:p>
        </p:txBody>
      </p:sp>
      <p:sp>
        <p:nvSpPr>
          <p:cNvPr id="89" name="Rectangle 88"/>
          <p:cNvSpPr/>
          <p:nvPr/>
        </p:nvSpPr>
        <p:spPr>
          <a:xfrm>
            <a:off x="2417064" y="3136209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2435352" y="3136209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×1 Non-Prod</a:t>
            </a:r>
          </a:p>
        </p:txBody>
      </p:sp>
      <p:sp>
        <p:nvSpPr>
          <p:cNvPr id="91" name="Rectangle 90"/>
          <p:cNvSpPr/>
          <p:nvPr/>
        </p:nvSpPr>
        <p:spPr>
          <a:xfrm>
            <a:off x="3520440" y="2968325"/>
            <a:ext cx="1819655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3520440" y="2968325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Onboarding In Progress</a:t>
            </a:r>
          </a:p>
        </p:txBody>
      </p:sp>
      <p:sp>
        <p:nvSpPr>
          <p:cNvPr id="93" name="Rectangle 92"/>
          <p:cNvSpPr/>
          <p:nvPr/>
        </p:nvSpPr>
        <p:spPr>
          <a:xfrm>
            <a:off x="5468112" y="2968325"/>
            <a:ext cx="1207008" cy="299557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468112" y="2968325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059669"/>
                </a:solidFill>
                <a:latin typeface="Calibri"/>
              </a:rPr>
              <a:t>PROD 1/1</a:t>
            </a:r>
          </a:p>
        </p:txBody>
      </p:sp>
      <p:sp>
        <p:nvSpPr>
          <p:cNvPr id="95" name="Rectangle 94"/>
          <p:cNvSpPr/>
          <p:nvPr/>
        </p:nvSpPr>
        <p:spPr>
          <a:xfrm>
            <a:off x="6784848" y="2968325"/>
            <a:ext cx="2011680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6784848" y="2968325"/>
            <a:ext cx="2011680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NP 0/1</a:t>
            </a:r>
          </a:p>
        </p:txBody>
      </p:sp>
      <p:sp>
        <p:nvSpPr>
          <p:cNvPr id="97" name="Rectangle 96"/>
          <p:cNvSpPr/>
          <p:nvPr/>
        </p:nvSpPr>
        <p:spPr>
          <a:xfrm>
            <a:off x="274320" y="3419856"/>
            <a:ext cx="85953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274320" y="3419856"/>
            <a:ext cx="45720" cy="5486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310896" y="3419856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02920" y="3465576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Proofpoint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502920" y="3712281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521208" y="3712281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×3 Instance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459992" y="3712281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1478280" y="3712281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×3 Prod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2417064" y="3712281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2435352" y="3712281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×0 Non-Prod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3520440" y="3544397"/>
            <a:ext cx="1819655" cy="299557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3520440" y="3544397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5468112" y="3544397"/>
            <a:ext cx="1207008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5468112" y="3544397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PROD 2/3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784848" y="3419856"/>
            <a:ext cx="20116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—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274320" y="3995928"/>
            <a:ext cx="8595360" cy="5486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274320" y="3995928"/>
            <a:ext cx="45720" cy="548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10896" y="3995928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502920" y="4041648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Mimecast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02920" y="4288353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21208" y="428835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×2 Instance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1459992" y="4288353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1478280" y="428835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×2 Prod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2417064" y="4288353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2435352" y="428835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×2 Non-Prod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520440" y="4120469"/>
            <a:ext cx="1819655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520440" y="4120469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Onboarding In Progress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468112" y="4120469"/>
            <a:ext cx="1207008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468112" y="4120469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PROD 0/2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6784848" y="4120469"/>
            <a:ext cx="2011680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6784848" y="4120469"/>
            <a:ext cx="2011680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NP 0/2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164592" y="4572000"/>
            <a:ext cx="8814816" cy="292608"/>
          </a:xfrm>
          <a:prstGeom prst="rect">
            <a:avLst/>
          </a:prstGeom>
          <a:solidFill>
            <a:srgbClr val="FEF9C3"/>
          </a:solidFill>
          <a:ln w="9525">
            <a:solidFill>
              <a:srgbClr val="CA8A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64592" y="4572000"/>
            <a:ext cx="45720" cy="292608"/>
          </a:xfrm>
          <a:prstGeom prst="rect">
            <a:avLst/>
          </a:prstGeom>
          <a:solidFill>
            <a:srgbClr val="CA8A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274320" y="4599432"/>
            <a:ext cx="594360" cy="1280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00" b="1" i="0">
                <a:solidFill>
                  <a:srgbClr val="92400E"/>
                </a:solidFill>
                <a:latin typeface="Calibri"/>
              </a:rPr>
              <a:t>NOTE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274320" y="4617720"/>
            <a:ext cx="8503920" cy="2194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650" b="0" i="0">
                <a:solidFill>
                  <a:srgbClr val="78350F"/>
                </a:solidFill>
                <a:latin typeface="Calibri"/>
              </a:rPr>
              <a:t>Status Grouping:  Completed  =  'Completed' + 'De-Scoped'  (shown in green).   Pending  =  'Onboarding In Progress' + 'Not Started' + 'Future Request'  (shown with their respective colour).   Status is determined by the JIRA dropdown field configured in config.py → STATUS_FIELD.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274320" y="4892040"/>
            <a:ext cx="8595360" cy="228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1">
                <a:solidFill>
                  <a:srgbClr val="CBD5E1"/>
                </a:solidFill>
                <a:latin typeface="Calibri"/>
              </a:rPr>
              <a:t>[ Add your org footer here 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54864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54864"/>
            <a:ext cx="758952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SSPM Initiative  |  Phase 1 Applications — Integration Status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P1 · Pg 3/3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58368"/>
            <a:ext cx="141732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1" i="0">
                <a:solidFill>
                  <a:srgbClr val="64748B"/>
                </a:solidFill>
                <a:latin typeface="Calibri"/>
              </a:rPr>
              <a:t>Instance Coverage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0" y="603504"/>
            <a:ext cx="16002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01952" y="630936"/>
            <a:ext cx="1453896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PROD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1952" y="749808"/>
            <a:ext cx="1453896" cy="1828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059669"/>
                </a:solidFill>
                <a:latin typeface="Calibri"/>
              </a:rPr>
              <a:t>25/46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01952" y="941832"/>
            <a:ext cx="1453896" cy="3657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901952" y="941832"/>
            <a:ext cx="790160" cy="3657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47872" y="603504"/>
            <a:ext cx="16002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21024" y="630936"/>
            <a:ext cx="1453896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NON-PROD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21024" y="749808"/>
            <a:ext cx="1453896" cy="1828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047A57"/>
                </a:solidFill>
                <a:latin typeface="Calibri"/>
              </a:rPr>
              <a:t>9/27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21024" y="941832"/>
            <a:ext cx="1453896" cy="3657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21024" y="941832"/>
            <a:ext cx="484632" cy="36576"/>
          </a:xfrm>
          <a:prstGeom prst="rect">
            <a:avLst/>
          </a:prstGeom>
          <a:solidFill>
            <a:srgbClr val="047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0" y="640080"/>
            <a:ext cx="3383280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650" b="1" i="0">
                <a:solidFill>
                  <a:srgbClr val="64748B"/>
                </a:solidFill>
                <a:latin typeface="Calibri"/>
              </a:rPr>
              <a:t>App Status Breakdown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0" y="786384"/>
            <a:ext cx="751840" cy="914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38240" y="786384"/>
            <a:ext cx="1503680" cy="914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41920" y="786384"/>
            <a:ext cx="751840" cy="9144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493760" y="786384"/>
            <a:ext cx="375920" cy="91440"/>
          </a:xfrm>
          <a:prstGeom prst="rect">
            <a:avLst/>
          </a:prstGeom>
          <a:solidFill>
            <a:srgbClr val="047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0" y="896112"/>
            <a:ext cx="7315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1" i="0">
                <a:solidFill>
                  <a:srgbClr val="059669"/>
                </a:solidFill>
                <a:latin typeface="Calibri"/>
              </a:rPr>
              <a:t>4 Done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81344" y="896112"/>
            <a:ext cx="7315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1" i="0">
                <a:solidFill>
                  <a:srgbClr val="D97706"/>
                </a:solidFill>
                <a:latin typeface="Calibri"/>
              </a:rPr>
              <a:t>8 In Prog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76288" y="896112"/>
            <a:ext cx="7315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1" i="0">
                <a:solidFill>
                  <a:srgbClr val="64748B"/>
                </a:solidFill>
                <a:latin typeface="Calibri"/>
              </a:rPr>
              <a:t>4 Not Strt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71231" y="896112"/>
            <a:ext cx="7315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1" i="0">
                <a:solidFill>
                  <a:srgbClr val="047A57"/>
                </a:solidFill>
                <a:latin typeface="Calibri"/>
              </a:rPr>
              <a:t>2 Future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74320" y="1078992"/>
            <a:ext cx="8595360" cy="0"/>
          </a:xfrm>
          <a:prstGeom prst="line">
            <a:avLst/>
          </a:prstGeom>
          <a:ln w="9525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274320" y="932688"/>
            <a:ext cx="201168" cy="155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#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932688"/>
            <a:ext cx="2944368" cy="155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Application  ·  Org / Prod / Non-Prod Instances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20440" y="932688"/>
            <a:ext cx="1874519" cy="155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Status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68112" y="932688"/>
            <a:ext cx="1243584" cy="155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PROD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84848" y="932688"/>
            <a:ext cx="2048256" cy="155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NON-PROD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1115568"/>
            <a:ext cx="85953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74320" y="1115568"/>
            <a:ext cx="45720" cy="5486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10896" y="1115568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13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1161288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Qualys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2920" y="1407993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21208" y="140799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×1 Instance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459992" y="1407993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478280" y="140799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×1 Prod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417064" y="1407993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435352" y="140799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×0 Non-Prod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520440" y="1240109"/>
            <a:ext cx="1819655" cy="299557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520440" y="1240109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68112" y="1240109"/>
            <a:ext cx="1207008" cy="299557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468112" y="1240109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059669"/>
                </a:solidFill>
                <a:latin typeface="Calibri"/>
              </a:rPr>
              <a:t>PROD 1/1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784848" y="1115568"/>
            <a:ext cx="20116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74320" y="1691640"/>
            <a:ext cx="8595360" cy="5486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74320" y="1691640"/>
            <a:ext cx="45720" cy="54864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10896" y="1691640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14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2920" y="1737360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Rapid7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1984065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21208" y="1984065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×2 Instance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459992" y="1984065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478280" y="1984065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×2 Prod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417064" y="1984065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435352" y="1984065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×0 Non-Prod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520440" y="1816181"/>
            <a:ext cx="1819655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520440" y="1816181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68112" y="1816181"/>
            <a:ext cx="1207008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468112" y="1816181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PROD 0/2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784848" y="1691640"/>
            <a:ext cx="20116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—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74320" y="2267712"/>
            <a:ext cx="85953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274320" y="2267712"/>
            <a:ext cx="45720" cy="548640"/>
          </a:xfrm>
          <a:prstGeom prst="rect">
            <a:avLst/>
          </a:prstGeom>
          <a:solidFill>
            <a:srgbClr val="047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10896" y="2267712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15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2920" y="2313432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Tenable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02920" y="2560137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21208" y="2560137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×1 Instance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459992" y="2560137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478280" y="2560137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×1 Prod</a:t>
            </a:r>
          </a:p>
        </p:txBody>
      </p:sp>
      <p:sp>
        <p:nvSpPr>
          <p:cNvPr id="71" name="Rectangle 70"/>
          <p:cNvSpPr/>
          <p:nvPr/>
        </p:nvSpPr>
        <p:spPr>
          <a:xfrm>
            <a:off x="2417064" y="2560137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35352" y="2560137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×0 Non-Prod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520440" y="2392253"/>
            <a:ext cx="1819655" cy="299557"/>
          </a:xfrm>
          <a:prstGeom prst="rect">
            <a:avLst/>
          </a:prstGeom>
          <a:solidFill>
            <a:srgbClr val="D6FFFF"/>
          </a:solidFill>
          <a:ln w="9525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520440" y="2392253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047A57"/>
                </a:solidFill>
                <a:latin typeface="Calibri"/>
              </a:rPr>
              <a:t>Future Request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468112" y="2392253"/>
            <a:ext cx="1207008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468112" y="2392253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PROD 0/1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784848" y="2267712"/>
            <a:ext cx="20116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—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74320" y="2843784"/>
            <a:ext cx="8595360" cy="5486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274320" y="2843784"/>
            <a:ext cx="45720" cy="5486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10896" y="2843784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16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02920" y="2889504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Varonis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02920" y="3136209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21208" y="3136209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×1 Instance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459992" y="3136209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478280" y="3136209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×1 Prod</a:t>
            </a:r>
          </a:p>
        </p:txBody>
      </p:sp>
      <p:sp>
        <p:nvSpPr>
          <p:cNvPr id="86" name="Rectangle 85"/>
          <p:cNvSpPr/>
          <p:nvPr/>
        </p:nvSpPr>
        <p:spPr>
          <a:xfrm>
            <a:off x="2417064" y="3136209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2435352" y="3136209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×0 Non-Prod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520440" y="2968325"/>
            <a:ext cx="1819655" cy="299557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520440" y="2968325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468112" y="2968325"/>
            <a:ext cx="1207008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468112" y="2968325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PROD 0/1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784848" y="2843784"/>
            <a:ext cx="20116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—</a:t>
            </a:r>
          </a:p>
        </p:txBody>
      </p:sp>
      <p:sp>
        <p:nvSpPr>
          <p:cNvPr id="93" name="Rectangle 92"/>
          <p:cNvSpPr/>
          <p:nvPr/>
        </p:nvSpPr>
        <p:spPr>
          <a:xfrm>
            <a:off x="274320" y="3419856"/>
            <a:ext cx="85953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274320" y="3419856"/>
            <a:ext cx="45720" cy="548640"/>
          </a:xfrm>
          <a:prstGeom prst="rect">
            <a:avLst/>
          </a:prstGeom>
          <a:solidFill>
            <a:srgbClr val="047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310896" y="3419856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17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02920" y="3465576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SailPoint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02920" y="3712281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21208" y="3712281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×2 Instance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459992" y="3712281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478280" y="3712281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×2 Prod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2417064" y="3712281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2435352" y="3712281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×2 Non-Prod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3520440" y="3544397"/>
            <a:ext cx="1819655" cy="299557"/>
          </a:xfrm>
          <a:prstGeom prst="rect">
            <a:avLst/>
          </a:prstGeom>
          <a:solidFill>
            <a:srgbClr val="D6FFFF"/>
          </a:solidFill>
          <a:ln w="9525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3520440" y="3544397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047A57"/>
                </a:solidFill>
                <a:latin typeface="Calibri"/>
              </a:rPr>
              <a:t>Future Request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5468112" y="3544397"/>
            <a:ext cx="1207008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5468112" y="3544397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PROD 0/2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784848" y="3544397"/>
            <a:ext cx="2011680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784848" y="3544397"/>
            <a:ext cx="2011680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NP 0/2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274320" y="3995928"/>
            <a:ext cx="8595360" cy="5486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274320" y="3995928"/>
            <a:ext cx="45720" cy="54864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310896" y="3995928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18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502920" y="4041648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BeyondTrust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502920" y="4288353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521208" y="428835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×1 Instance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1459992" y="4288353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1478280" y="428835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×1 Prod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2417064" y="4288353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2435352" y="428835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×0 Non-Prod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3520440" y="4120469"/>
            <a:ext cx="1819655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3520440" y="4120469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5468112" y="4120469"/>
            <a:ext cx="1207008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5468112" y="4120469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PROD 0/1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784848" y="3995928"/>
            <a:ext cx="20116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—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164592" y="4572000"/>
            <a:ext cx="8814816" cy="292608"/>
          </a:xfrm>
          <a:prstGeom prst="rect">
            <a:avLst/>
          </a:prstGeom>
          <a:solidFill>
            <a:srgbClr val="FEF9C3"/>
          </a:solidFill>
          <a:ln w="9525">
            <a:solidFill>
              <a:srgbClr val="CA8A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164592" y="4572000"/>
            <a:ext cx="45720" cy="292608"/>
          </a:xfrm>
          <a:prstGeom prst="rect">
            <a:avLst/>
          </a:prstGeom>
          <a:solidFill>
            <a:srgbClr val="CA8A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274320" y="4599432"/>
            <a:ext cx="594360" cy="1280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00" b="1" i="0">
                <a:solidFill>
                  <a:srgbClr val="92400E"/>
                </a:solidFill>
                <a:latin typeface="Calibri"/>
              </a:rPr>
              <a:t>NOTE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274320" y="4617720"/>
            <a:ext cx="8503920" cy="2194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650" b="0" i="0">
                <a:solidFill>
                  <a:srgbClr val="78350F"/>
                </a:solidFill>
                <a:latin typeface="Calibri"/>
              </a:rPr>
              <a:t>Status Grouping:  Completed  =  'Completed' + 'De-Scoped'  (shown in green).   Pending  =  'Onboarding In Progress' + 'Not Started' + 'Future Request'  (shown with their respective colour).   Status is determined by the JIRA dropdown field configured in config.py → STATUS_FIELD.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274320" y="4892040"/>
            <a:ext cx="8595360" cy="228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1">
                <a:solidFill>
                  <a:srgbClr val="CBD5E1"/>
                </a:solidFill>
                <a:latin typeface="Calibri"/>
              </a:rPr>
              <a:t>[ Add your org footer here 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54864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54864"/>
            <a:ext cx="758952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SSPM Initiative  |  Phase 2 Applications — Integration Status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P2 · Pg 1/6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58368"/>
            <a:ext cx="141732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1" i="0">
                <a:solidFill>
                  <a:srgbClr val="64748B"/>
                </a:solidFill>
                <a:latin typeface="Calibri"/>
              </a:rPr>
              <a:t>Instance Coverage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0" y="603504"/>
            <a:ext cx="16002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01952" y="630936"/>
            <a:ext cx="1453896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PROD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1952" y="749808"/>
            <a:ext cx="1453896" cy="1828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059669"/>
                </a:solidFill>
                <a:latin typeface="Calibri"/>
              </a:rPr>
              <a:t>7/52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01952" y="941832"/>
            <a:ext cx="1453896" cy="3657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901952" y="941832"/>
            <a:ext cx="195716" cy="3657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47872" y="603504"/>
            <a:ext cx="16002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21024" y="630936"/>
            <a:ext cx="1453896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NON-PROD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21024" y="749808"/>
            <a:ext cx="1453896" cy="1828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047A57"/>
                </a:solidFill>
                <a:latin typeface="Calibri"/>
              </a:rPr>
              <a:t>0/26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21024" y="941832"/>
            <a:ext cx="1453896" cy="3657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0" y="640080"/>
            <a:ext cx="3383280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650" b="1" i="0">
                <a:solidFill>
                  <a:srgbClr val="64748B"/>
                </a:solidFill>
                <a:latin typeface="Calibri"/>
              </a:rPr>
              <a:t>App Status Breakdown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0" y="786384"/>
            <a:ext cx="211455" cy="914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97855" y="786384"/>
            <a:ext cx="740092" cy="914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37947" y="786384"/>
            <a:ext cx="1903095" cy="9144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341042" y="786384"/>
            <a:ext cx="528637" cy="91440"/>
          </a:xfrm>
          <a:prstGeom prst="rect">
            <a:avLst/>
          </a:prstGeom>
          <a:solidFill>
            <a:srgbClr val="047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0" y="896112"/>
            <a:ext cx="7315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1" i="0">
                <a:solidFill>
                  <a:srgbClr val="059669"/>
                </a:solidFill>
                <a:latin typeface="Calibri"/>
              </a:rPr>
              <a:t>2 Done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81344" y="896112"/>
            <a:ext cx="7315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1" i="0">
                <a:solidFill>
                  <a:srgbClr val="D97706"/>
                </a:solidFill>
                <a:latin typeface="Calibri"/>
              </a:rPr>
              <a:t>7 In Prog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76288" y="896112"/>
            <a:ext cx="7315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1" i="0">
                <a:solidFill>
                  <a:srgbClr val="64748B"/>
                </a:solidFill>
                <a:latin typeface="Calibri"/>
              </a:rPr>
              <a:t>18 Not Strt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71231" y="896112"/>
            <a:ext cx="7315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1" i="0">
                <a:solidFill>
                  <a:srgbClr val="047A57"/>
                </a:solidFill>
                <a:latin typeface="Calibri"/>
              </a:rPr>
              <a:t>5 Future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74320" y="1078992"/>
            <a:ext cx="8595360" cy="0"/>
          </a:xfrm>
          <a:prstGeom prst="line">
            <a:avLst/>
          </a:prstGeom>
          <a:ln w="9525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274320" y="932688"/>
            <a:ext cx="201168" cy="155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#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932688"/>
            <a:ext cx="2944368" cy="155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Application  ·  Org / Prod / Non-Prod Instances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0440" y="932688"/>
            <a:ext cx="1874519" cy="155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Status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68112" y="932688"/>
            <a:ext cx="1243584" cy="155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PROD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84848" y="932688"/>
            <a:ext cx="2048256" cy="155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NON-PROD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1115568"/>
            <a:ext cx="85953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74320" y="1115568"/>
            <a:ext cx="45720" cy="548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10896" y="1115568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1161288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Box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1407993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21208" y="140799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×3 Instance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459992" y="1407993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478280" y="140799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×3 Prod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417064" y="1407993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435352" y="140799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×3 Non-Prod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520440" y="1240109"/>
            <a:ext cx="1819655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520440" y="1240109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Onboarding In Progress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468112" y="1240109"/>
            <a:ext cx="1207008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468112" y="1240109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PROD 1/3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784848" y="1240109"/>
            <a:ext cx="2011680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784848" y="1240109"/>
            <a:ext cx="2011680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NP 0/3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74320" y="1691640"/>
            <a:ext cx="8595360" cy="5486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74320" y="1691640"/>
            <a:ext cx="45720" cy="54864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10896" y="1691640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2920" y="1737360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Dropbox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1984065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21208" y="1984065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×2 Instance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459992" y="1984065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478280" y="1984065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×2 Prod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417064" y="1984065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435352" y="1984065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×0 Non-Prod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520440" y="1816181"/>
            <a:ext cx="1819655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520440" y="1816181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68112" y="1816181"/>
            <a:ext cx="1207008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468112" y="1816181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PROD 0/2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784848" y="1691640"/>
            <a:ext cx="20116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—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74320" y="2267712"/>
            <a:ext cx="85953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274320" y="2267712"/>
            <a:ext cx="45720" cy="548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10896" y="2267712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2920" y="2313432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Atlassian (Jira/Confluence)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02920" y="2560137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21208" y="2560137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×3 Instance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459992" y="2560137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478280" y="2560137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×3 Prod</a:t>
            </a:r>
          </a:p>
        </p:txBody>
      </p:sp>
      <p:sp>
        <p:nvSpPr>
          <p:cNvPr id="71" name="Rectangle 70"/>
          <p:cNvSpPr/>
          <p:nvPr/>
        </p:nvSpPr>
        <p:spPr>
          <a:xfrm>
            <a:off x="2417064" y="2560137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35352" y="2560137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×3 Non-Prod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520440" y="2392253"/>
            <a:ext cx="1819655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520440" y="2392253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Onboarding In Progress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468112" y="2392253"/>
            <a:ext cx="1207008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468112" y="2392253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PROD 1/3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784848" y="2392253"/>
            <a:ext cx="2011680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784848" y="2392253"/>
            <a:ext cx="2011680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NP 0/3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74320" y="2843784"/>
            <a:ext cx="8595360" cy="5486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274320" y="2843784"/>
            <a:ext cx="45720" cy="54864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10896" y="2843784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2920" y="2889504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Zendesk</a:t>
            </a:r>
          </a:p>
        </p:txBody>
      </p:sp>
      <p:sp>
        <p:nvSpPr>
          <p:cNvPr id="83" name="Rectangle 82"/>
          <p:cNvSpPr/>
          <p:nvPr/>
        </p:nvSpPr>
        <p:spPr>
          <a:xfrm>
            <a:off x="502920" y="3136209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21208" y="3136209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×2 Instance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459992" y="3136209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478280" y="3136209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×2 Prod</a:t>
            </a:r>
          </a:p>
        </p:txBody>
      </p:sp>
      <p:sp>
        <p:nvSpPr>
          <p:cNvPr id="87" name="Rectangle 86"/>
          <p:cNvSpPr/>
          <p:nvPr/>
        </p:nvSpPr>
        <p:spPr>
          <a:xfrm>
            <a:off x="2417064" y="3136209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2435352" y="3136209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×1 Non-Prod</a:t>
            </a:r>
          </a:p>
        </p:txBody>
      </p:sp>
      <p:sp>
        <p:nvSpPr>
          <p:cNvPr id="89" name="Rectangle 88"/>
          <p:cNvSpPr/>
          <p:nvPr/>
        </p:nvSpPr>
        <p:spPr>
          <a:xfrm>
            <a:off x="3520440" y="2968325"/>
            <a:ext cx="1819655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3520440" y="2968325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91" name="Rectangle 90"/>
          <p:cNvSpPr/>
          <p:nvPr/>
        </p:nvSpPr>
        <p:spPr>
          <a:xfrm>
            <a:off x="5468112" y="2968325"/>
            <a:ext cx="1207008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468112" y="2968325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PROD 0/2</a:t>
            </a:r>
          </a:p>
        </p:txBody>
      </p:sp>
      <p:sp>
        <p:nvSpPr>
          <p:cNvPr id="93" name="Rectangle 92"/>
          <p:cNvSpPr/>
          <p:nvPr/>
        </p:nvSpPr>
        <p:spPr>
          <a:xfrm>
            <a:off x="6784848" y="2968325"/>
            <a:ext cx="2011680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6784848" y="2968325"/>
            <a:ext cx="2011680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NP 0/1</a:t>
            </a:r>
          </a:p>
        </p:txBody>
      </p:sp>
      <p:sp>
        <p:nvSpPr>
          <p:cNvPr id="95" name="Rectangle 94"/>
          <p:cNvSpPr/>
          <p:nvPr/>
        </p:nvSpPr>
        <p:spPr>
          <a:xfrm>
            <a:off x="274320" y="3419856"/>
            <a:ext cx="85953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274320" y="3419856"/>
            <a:ext cx="45720" cy="548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10896" y="3419856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5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2920" y="3465576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DocuSign</a:t>
            </a:r>
          </a:p>
        </p:txBody>
      </p:sp>
      <p:sp>
        <p:nvSpPr>
          <p:cNvPr id="99" name="Rectangle 98"/>
          <p:cNvSpPr/>
          <p:nvPr/>
        </p:nvSpPr>
        <p:spPr>
          <a:xfrm>
            <a:off x="502920" y="3712281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521208" y="3712281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×2 Instance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459992" y="3712281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478280" y="3712281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×2 Prod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2417064" y="3712281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2435352" y="3712281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×2 Non-Prod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520440" y="3544397"/>
            <a:ext cx="1819655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520440" y="3544397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Onboarding In Progress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5468112" y="3544397"/>
            <a:ext cx="1207008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5468112" y="3544397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PROD 1/2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784848" y="3544397"/>
            <a:ext cx="2011680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784848" y="3544397"/>
            <a:ext cx="2011680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NP 0/2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274320" y="3995928"/>
            <a:ext cx="8595360" cy="5486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274320" y="3995928"/>
            <a:ext cx="45720" cy="54864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10896" y="3995928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502920" y="4041648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HubSpot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502920" y="4288353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521208" y="428835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×2 Instance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1459992" y="4288353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1478280" y="428835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×2 Prod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2417064" y="4288353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2435352" y="428835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×1 Non-Prod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3520440" y="4120469"/>
            <a:ext cx="1819655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3520440" y="4120469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5468112" y="4120469"/>
            <a:ext cx="1207008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5468112" y="4120469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PROD 0/2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784848" y="4120469"/>
            <a:ext cx="2011680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784848" y="4120469"/>
            <a:ext cx="2011680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NP 0/1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164592" y="4572000"/>
            <a:ext cx="8814816" cy="292608"/>
          </a:xfrm>
          <a:prstGeom prst="rect">
            <a:avLst/>
          </a:prstGeom>
          <a:solidFill>
            <a:srgbClr val="FEF9C3"/>
          </a:solidFill>
          <a:ln w="9525">
            <a:solidFill>
              <a:srgbClr val="CA8A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164592" y="4572000"/>
            <a:ext cx="45720" cy="292608"/>
          </a:xfrm>
          <a:prstGeom prst="rect">
            <a:avLst/>
          </a:prstGeom>
          <a:solidFill>
            <a:srgbClr val="CA8A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274320" y="4599432"/>
            <a:ext cx="594360" cy="1280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00" b="1" i="0">
                <a:solidFill>
                  <a:srgbClr val="92400E"/>
                </a:solidFill>
                <a:latin typeface="Calibri"/>
              </a:rPr>
              <a:t>NOTE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74320" y="4617720"/>
            <a:ext cx="8503920" cy="2194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650" b="0" i="0">
                <a:solidFill>
                  <a:srgbClr val="78350F"/>
                </a:solidFill>
                <a:latin typeface="Calibri"/>
              </a:rPr>
              <a:t>Status Grouping:  Completed  =  'Completed' + 'De-Scoped'  (shown in green).   Pending  =  'Onboarding In Progress' + 'Not Started' + 'Future Request'  (shown with their respective colour).   Status is determined by the JIRA dropdown field configured in config.py → STATUS_FIELD.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274320" y="4892040"/>
            <a:ext cx="8595360" cy="228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1">
                <a:solidFill>
                  <a:srgbClr val="CBD5E1"/>
                </a:solidFill>
                <a:latin typeface="Calibri"/>
              </a:rPr>
              <a:t>[ Add your org footer here 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54864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54864"/>
            <a:ext cx="758952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SSPM Initiative  |  Phase 2 Applications — Integration Status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P2 · Pg 2/6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58368"/>
            <a:ext cx="141732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1" i="0">
                <a:solidFill>
                  <a:srgbClr val="64748B"/>
                </a:solidFill>
                <a:latin typeface="Calibri"/>
              </a:rPr>
              <a:t>Instance Coverage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0" y="603504"/>
            <a:ext cx="16002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01952" y="630936"/>
            <a:ext cx="1453896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PROD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1952" y="749808"/>
            <a:ext cx="1453896" cy="1828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059669"/>
                </a:solidFill>
                <a:latin typeface="Calibri"/>
              </a:rPr>
              <a:t>7/52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01952" y="941832"/>
            <a:ext cx="1453896" cy="3657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901952" y="941832"/>
            <a:ext cx="195716" cy="3657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47872" y="603504"/>
            <a:ext cx="16002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21024" y="630936"/>
            <a:ext cx="1453896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NON-PROD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21024" y="749808"/>
            <a:ext cx="1453896" cy="1828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047A57"/>
                </a:solidFill>
                <a:latin typeface="Calibri"/>
              </a:rPr>
              <a:t>0/26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21024" y="941832"/>
            <a:ext cx="1453896" cy="3657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0" y="640080"/>
            <a:ext cx="3383280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650" b="1" i="0">
                <a:solidFill>
                  <a:srgbClr val="64748B"/>
                </a:solidFill>
                <a:latin typeface="Calibri"/>
              </a:rPr>
              <a:t>App Status Breakdown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0" y="786384"/>
            <a:ext cx="211455" cy="914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97855" y="786384"/>
            <a:ext cx="740092" cy="914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37947" y="786384"/>
            <a:ext cx="1903095" cy="9144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341042" y="786384"/>
            <a:ext cx="528637" cy="91440"/>
          </a:xfrm>
          <a:prstGeom prst="rect">
            <a:avLst/>
          </a:prstGeom>
          <a:solidFill>
            <a:srgbClr val="047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0" y="896112"/>
            <a:ext cx="7315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1" i="0">
                <a:solidFill>
                  <a:srgbClr val="059669"/>
                </a:solidFill>
                <a:latin typeface="Calibri"/>
              </a:rPr>
              <a:t>2 Done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81344" y="896112"/>
            <a:ext cx="7315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1" i="0">
                <a:solidFill>
                  <a:srgbClr val="D97706"/>
                </a:solidFill>
                <a:latin typeface="Calibri"/>
              </a:rPr>
              <a:t>7 In Prog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76288" y="896112"/>
            <a:ext cx="7315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1" i="0">
                <a:solidFill>
                  <a:srgbClr val="64748B"/>
                </a:solidFill>
                <a:latin typeface="Calibri"/>
              </a:rPr>
              <a:t>18 Not Strt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71231" y="896112"/>
            <a:ext cx="7315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1" i="0">
                <a:solidFill>
                  <a:srgbClr val="047A57"/>
                </a:solidFill>
                <a:latin typeface="Calibri"/>
              </a:rPr>
              <a:t>5 Future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74320" y="1078992"/>
            <a:ext cx="8595360" cy="0"/>
          </a:xfrm>
          <a:prstGeom prst="line">
            <a:avLst/>
          </a:prstGeom>
          <a:ln w="9525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274320" y="932688"/>
            <a:ext cx="201168" cy="155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#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932688"/>
            <a:ext cx="2944368" cy="155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Application  ·  Org / Prod / Non-Prod Instances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0440" y="932688"/>
            <a:ext cx="1874519" cy="155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Status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68112" y="932688"/>
            <a:ext cx="1243584" cy="155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PROD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84848" y="932688"/>
            <a:ext cx="2048256" cy="155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NON-PROD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1115568"/>
            <a:ext cx="85953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74320" y="1115568"/>
            <a:ext cx="45720" cy="548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10896" y="1115568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1161288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Tableau / Salesforce Analytics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1407993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21208" y="140799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×3 Instance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459992" y="1407993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478280" y="140799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×3 Prod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417064" y="1407993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435352" y="140799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×2 Non-Prod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520440" y="1240109"/>
            <a:ext cx="1819655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520440" y="1240109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Onboarding In Progress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468112" y="1240109"/>
            <a:ext cx="1207008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468112" y="1240109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PROD 1/3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784848" y="1240109"/>
            <a:ext cx="2011680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784848" y="1240109"/>
            <a:ext cx="2011680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NP 0/2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74320" y="1691640"/>
            <a:ext cx="8595360" cy="5486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74320" y="1691640"/>
            <a:ext cx="45720" cy="54864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10896" y="1691640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2920" y="1737360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Coupa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1984065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21208" y="1984065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×2 Instance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459992" y="1984065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478280" y="1984065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×2 Prod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417064" y="1984065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435352" y="1984065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×1 Non-Prod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520440" y="1816181"/>
            <a:ext cx="1819655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520440" y="1816181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68112" y="1816181"/>
            <a:ext cx="1207008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468112" y="1816181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PROD 0/2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784848" y="1816181"/>
            <a:ext cx="2011680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784848" y="1816181"/>
            <a:ext cx="2011680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NP 0/1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74320" y="2267712"/>
            <a:ext cx="85953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274320" y="2267712"/>
            <a:ext cx="45720" cy="54864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10896" y="2267712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02920" y="2313432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Snowflake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2920" y="2560137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21208" y="2560137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×2 Instance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459992" y="2560137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478280" y="2560137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×2 Prod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17064" y="2560137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35352" y="2560137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×2 Non-Prod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520440" y="2392253"/>
            <a:ext cx="1819655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520440" y="2392253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468112" y="2392253"/>
            <a:ext cx="1207008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468112" y="2392253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PROD 0/2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784848" y="2392253"/>
            <a:ext cx="2011680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784848" y="2392253"/>
            <a:ext cx="2011680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NP 0/2</a:t>
            </a:r>
          </a:p>
        </p:txBody>
      </p:sp>
      <p:sp>
        <p:nvSpPr>
          <p:cNvPr id="80" name="Rectangle 79"/>
          <p:cNvSpPr/>
          <p:nvPr/>
        </p:nvSpPr>
        <p:spPr>
          <a:xfrm>
            <a:off x="274320" y="2843784"/>
            <a:ext cx="8595360" cy="5486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274320" y="2843784"/>
            <a:ext cx="45720" cy="548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10896" y="2843784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10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02920" y="2889504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Splunk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02920" y="3136209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21208" y="3136209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×1 Instance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459992" y="3136209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478280" y="3136209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×1 Prod</a:t>
            </a:r>
          </a:p>
        </p:txBody>
      </p:sp>
      <p:sp>
        <p:nvSpPr>
          <p:cNvPr id="88" name="Rectangle 87"/>
          <p:cNvSpPr/>
          <p:nvPr/>
        </p:nvSpPr>
        <p:spPr>
          <a:xfrm>
            <a:off x="2417064" y="3136209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2435352" y="3136209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×1 Non-Prod</a:t>
            </a:r>
          </a:p>
        </p:txBody>
      </p:sp>
      <p:sp>
        <p:nvSpPr>
          <p:cNvPr id="90" name="Rectangle 89"/>
          <p:cNvSpPr/>
          <p:nvPr/>
        </p:nvSpPr>
        <p:spPr>
          <a:xfrm>
            <a:off x="3520440" y="2968325"/>
            <a:ext cx="1819655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3520440" y="2968325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Onboarding In Progress</a:t>
            </a:r>
          </a:p>
        </p:txBody>
      </p:sp>
      <p:sp>
        <p:nvSpPr>
          <p:cNvPr id="92" name="Rectangle 91"/>
          <p:cNvSpPr/>
          <p:nvPr/>
        </p:nvSpPr>
        <p:spPr>
          <a:xfrm>
            <a:off x="5468112" y="2968325"/>
            <a:ext cx="1207008" cy="299557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5468112" y="2968325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059669"/>
                </a:solidFill>
                <a:latin typeface="Calibri"/>
              </a:rPr>
              <a:t>PROD 1/1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784848" y="2968325"/>
            <a:ext cx="2011680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784848" y="2968325"/>
            <a:ext cx="2011680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NP 0/1</a:t>
            </a:r>
          </a:p>
        </p:txBody>
      </p:sp>
      <p:sp>
        <p:nvSpPr>
          <p:cNvPr id="96" name="Rectangle 95"/>
          <p:cNvSpPr/>
          <p:nvPr/>
        </p:nvSpPr>
        <p:spPr>
          <a:xfrm>
            <a:off x="274320" y="3419856"/>
            <a:ext cx="85953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274320" y="3419856"/>
            <a:ext cx="45720" cy="54864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310896" y="3419856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11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02920" y="3465576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Ariba / SAP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02920" y="3712281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21208" y="3712281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×2 Instance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459992" y="3712281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478280" y="3712281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×2 Prod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2417064" y="3712281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2435352" y="3712281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×2 Non-Prod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3520440" y="3544397"/>
            <a:ext cx="1819655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3520440" y="3544397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5468112" y="3544397"/>
            <a:ext cx="1207008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5468112" y="3544397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PROD 0/2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6784848" y="3544397"/>
            <a:ext cx="2011680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784848" y="3544397"/>
            <a:ext cx="2011680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NP 0/2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274320" y="3995928"/>
            <a:ext cx="8595360" cy="5486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274320" y="3995928"/>
            <a:ext cx="45720" cy="548640"/>
          </a:xfrm>
          <a:prstGeom prst="rect">
            <a:avLst/>
          </a:prstGeom>
          <a:solidFill>
            <a:srgbClr val="047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10896" y="3995928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502920" y="4041648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Veeva Vault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02920" y="4288353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21208" y="428835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×2 Instance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1459992" y="4288353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1478280" y="428835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×2 Prod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2417064" y="4288353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2435352" y="428835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×0 Non-Prod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520440" y="4120469"/>
            <a:ext cx="1819655" cy="299557"/>
          </a:xfrm>
          <a:prstGeom prst="rect">
            <a:avLst/>
          </a:prstGeom>
          <a:solidFill>
            <a:srgbClr val="D6FFFF"/>
          </a:solidFill>
          <a:ln w="9525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520440" y="4120469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047A57"/>
                </a:solidFill>
                <a:latin typeface="Calibri"/>
              </a:rPr>
              <a:t>Future Request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468112" y="4120469"/>
            <a:ext cx="1207008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468112" y="4120469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PROD 0/2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784848" y="3995928"/>
            <a:ext cx="20116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—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164592" y="4572000"/>
            <a:ext cx="8814816" cy="292608"/>
          </a:xfrm>
          <a:prstGeom prst="rect">
            <a:avLst/>
          </a:prstGeom>
          <a:solidFill>
            <a:srgbClr val="FEF9C3"/>
          </a:solidFill>
          <a:ln w="9525">
            <a:solidFill>
              <a:srgbClr val="CA8A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164592" y="4572000"/>
            <a:ext cx="45720" cy="292608"/>
          </a:xfrm>
          <a:prstGeom prst="rect">
            <a:avLst/>
          </a:prstGeom>
          <a:solidFill>
            <a:srgbClr val="CA8A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274320" y="4599432"/>
            <a:ext cx="594360" cy="1280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00" b="1" i="0">
                <a:solidFill>
                  <a:srgbClr val="92400E"/>
                </a:solidFill>
                <a:latin typeface="Calibri"/>
              </a:rPr>
              <a:t>NOTE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74320" y="4617720"/>
            <a:ext cx="8503920" cy="2194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650" b="0" i="0">
                <a:solidFill>
                  <a:srgbClr val="78350F"/>
                </a:solidFill>
                <a:latin typeface="Calibri"/>
              </a:rPr>
              <a:t>Status Grouping:  Completed  =  'Completed' + 'De-Scoped'  (shown in green).   Pending  =  'Onboarding In Progress' + 'Not Started' + 'Future Request'  (shown with their respective colour).   Status is determined by the JIRA dropdown field configured in config.py → STATUS_FIELD.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274320" y="4892040"/>
            <a:ext cx="8595360" cy="228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1">
                <a:solidFill>
                  <a:srgbClr val="CBD5E1"/>
                </a:solidFill>
                <a:latin typeface="Calibri"/>
              </a:rPr>
              <a:t>[ Add your org footer here 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54864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54864"/>
            <a:ext cx="758952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SSPM Initiative  |  Phase 2 Applications — Integration Status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P2 · Pg 3/6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58368"/>
            <a:ext cx="141732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1" i="0">
                <a:solidFill>
                  <a:srgbClr val="64748B"/>
                </a:solidFill>
                <a:latin typeface="Calibri"/>
              </a:rPr>
              <a:t>Instance Coverage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0" y="603504"/>
            <a:ext cx="16002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01952" y="630936"/>
            <a:ext cx="1453896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PROD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1952" y="749808"/>
            <a:ext cx="1453896" cy="1828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059669"/>
                </a:solidFill>
                <a:latin typeface="Calibri"/>
              </a:rPr>
              <a:t>7/52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01952" y="941832"/>
            <a:ext cx="1453896" cy="3657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901952" y="941832"/>
            <a:ext cx="195716" cy="3657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47872" y="603504"/>
            <a:ext cx="16002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21024" y="630936"/>
            <a:ext cx="1453896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NON-PROD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21024" y="749808"/>
            <a:ext cx="1453896" cy="1828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047A57"/>
                </a:solidFill>
                <a:latin typeface="Calibri"/>
              </a:rPr>
              <a:t>0/26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21024" y="941832"/>
            <a:ext cx="1453896" cy="3657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0" y="640080"/>
            <a:ext cx="3383280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650" b="1" i="0">
                <a:solidFill>
                  <a:srgbClr val="64748B"/>
                </a:solidFill>
                <a:latin typeface="Calibri"/>
              </a:rPr>
              <a:t>App Status Breakdown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0" y="786384"/>
            <a:ext cx="211455" cy="914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97855" y="786384"/>
            <a:ext cx="740092" cy="914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37947" y="786384"/>
            <a:ext cx="1903095" cy="9144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341042" y="786384"/>
            <a:ext cx="528637" cy="91440"/>
          </a:xfrm>
          <a:prstGeom prst="rect">
            <a:avLst/>
          </a:prstGeom>
          <a:solidFill>
            <a:srgbClr val="047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0" y="896112"/>
            <a:ext cx="7315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1" i="0">
                <a:solidFill>
                  <a:srgbClr val="059669"/>
                </a:solidFill>
                <a:latin typeface="Calibri"/>
              </a:rPr>
              <a:t>2 Done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81344" y="896112"/>
            <a:ext cx="7315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1" i="0">
                <a:solidFill>
                  <a:srgbClr val="D97706"/>
                </a:solidFill>
                <a:latin typeface="Calibri"/>
              </a:rPr>
              <a:t>7 In Prog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76288" y="896112"/>
            <a:ext cx="7315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1" i="0">
                <a:solidFill>
                  <a:srgbClr val="64748B"/>
                </a:solidFill>
                <a:latin typeface="Calibri"/>
              </a:rPr>
              <a:t>18 Not Strt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71231" y="896112"/>
            <a:ext cx="7315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1" i="0">
                <a:solidFill>
                  <a:srgbClr val="047A57"/>
                </a:solidFill>
                <a:latin typeface="Calibri"/>
              </a:rPr>
              <a:t>5 Future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74320" y="1078992"/>
            <a:ext cx="8595360" cy="0"/>
          </a:xfrm>
          <a:prstGeom prst="line">
            <a:avLst/>
          </a:prstGeom>
          <a:ln w="9525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274320" y="932688"/>
            <a:ext cx="201168" cy="155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#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932688"/>
            <a:ext cx="2944368" cy="155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Application  ·  Org / Prod / Non-Prod Instances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0440" y="932688"/>
            <a:ext cx="1874519" cy="155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Status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68112" y="932688"/>
            <a:ext cx="1243584" cy="155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PROD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84848" y="932688"/>
            <a:ext cx="2048256" cy="155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NON-PROD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1115568"/>
            <a:ext cx="85953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74320" y="1115568"/>
            <a:ext cx="45720" cy="54864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10896" y="1115568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13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1161288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Workiva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1407993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21208" y="140799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×1 Instance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459992" y="1407993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478280" y="140799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×1 Prod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417064" y="1407993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435352" y="140799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×0 Non-Prod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520440" y="1240109"/>
            <a:ext cx="1819655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520440" y="1240109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468112" y="1240109"/>
            <a:ext cx="1207008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468112" y="1240109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PROD 0/1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784848" y="1115568"/>
            <a:ext cx="20116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—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74320" y="1691640"/>
            <a:ext cx="8595360" cy="5486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74320" y="1691640"/>
            <a:ext cx="45720" cy="54864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10896" y="1691640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14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2920" y="1737360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NetSuite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02920" y="1984065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21208" y="1984065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×2 Instance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459992" y="1984065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478280" y="1984065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×2 Prod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417064" y="1984065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435352" y="1984065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×0 Non-Prod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520440" y="1816181"/>
            <a:ext cx="1819655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520440" y="1816181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468112" y="1816181"/>
            <a:ext cx="1207008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68112" y="1816181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PROD 0/2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784848" y="1691640"/>
            <a:ext cx="20116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—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74320" y="2267712"/>
            <a:ext cx="85953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274320" y="2267712"/>
            <a:ext cx="45720" cy="548640"/>
          </a:xfrm>
          <a:prstGeom prst="rect">
            <a:avLst/>
          </a:prstGeom>
          <a:solidFill>
            <a:srgbClr val="047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10896" y="2267712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15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02920" y="2313432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Anaplan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2560137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21208" y="2560137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×1 Instance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459992" y="2560137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478280" y="2560137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×1 Prod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417064" y="2560137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435352" y="2560137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×0 Non-Prod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520440" y="2392253"/>
            <a:ext cx="1819655" cy="299557"/>
          </a:xfrm>
          <a:prstGeom prst="rect">
            <a:avLst/>
          </a:prstGeom>
          <a:solidFill>
            <a:srgbClr val="D6FFFF"/>
          </a:solidFill>
          <a:ln w="9525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520440" y="2392253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047A57"/>
                </a:solidFill>
                <a:latin typeface="Calibri"/>
              </a:rPr>
              <a:t>Future Request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468112" y="2392253"/>
            <a:ext cx="1207008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468112" y="2392253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PROD 0/1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784848" y="2267712"/>
            <a:ext cx="20116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—</a:t>
            </a:r>
          </a:p>
        </p:txBody>
      </p:sp>
      <p:sp>
        <p:nvSpPr>
          <p:cNvPr id="77" name="Rectangle 76"/>
          <p:cNvSpPr/>
          <p:nvPr/>
        </p:nvSpPr>
        <p:spPr>
          <a:xfrm>
            <a:off x="274320" y="2843784"/>
            <a:ext cx="8595360" cy="5486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274320" y="2843784"/>
            <a:ext cx="45720" cy="54864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10896" y="2843784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16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02920" y="2889504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Concur (SAP)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02920" y="3136209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21208" y="3136209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×1 Instance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459992" y="3136209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478280" y="3136209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×1 Prod</a:t>
            </a:r>
          </a:p>
        </p:txBody>
      </p:sp>
      <p:sp>
        <p:nvSpPr>
          <p:cNvPr id="85" name="Rectangle 84"/>
          <p:cNvSpPr/>
          <p:nvPr/>
        </p:nvSpPr>
        <p:spPr>
          <a:xfrm>
            <a:off x="2417064" y="3136209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2435352" y="3136209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×0 Non-Prod</a:t>
            </a:r>
          </a:p>
        </p:txBody>
      </p:sp>
      <p:sp>
        <p:nvSpPr>
          <p:cNvPr id="87" name="Rectangle 86"/>
          <p:cNvSpPr/>
          <p:nvPr/>
        </p:nvSpPr>
        <p:spPr>
          <a:xfrm>
            <a:off x="3520440" y="2968325"/>
            <a:ext cx="1819655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3520440" y="2968325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468112" y="2968325"/>
            <a:ext cx="1207008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468112" y="2968325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PROD 0/1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784848" y="2843784"/>
            <a:ext cx="20116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—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74320" y="3419856"/>
            <a:ext cx="85953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274320" y="3419856"/>
            <a:ext cx="45720" cy="54864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10896" y="3419856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17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02920" y="3465576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Adobe Sign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3712281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21208" y="3712281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×2 Instance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459992" y="3712281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478280" y="3712281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×2 Prod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2417064" y="3712281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435352" y="3712281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×2 Non-Prod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3520440" y="3544397"/>
            <a:ext cx="1819655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520440" y="3544397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5468112" y="3544397"/>
            <a:ext cx="1207008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5468112" y="3544397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PROD 0/2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6784848" y="3544397"/>
            <a:ext cx="2011680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784848" y="3544397"/>
            <a:ext cx="2011680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NP 0/2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274320" y="3995928"/>
            <a:ext cx="8595360" cy="5486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274320" y="3995928"/>
            <a:ext cx="45720" cy="54864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310896" y="3995928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18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02920" y="4041648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SuccessFactors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02920" y="4288353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21208" y="428835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×2 Instance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1459992" y="4288353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1478280" y="428835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×2 Prod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2417064" y="4288353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2435352" y="428835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×0 Non-Prod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520440" y="4120469"/>
            <a:ext cx="1819655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3520440" y="4120469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468112" y="4120469"/>
            <a:ext cx="1207008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5468112" y="4120469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PROD 0/2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784848" y="3995928"/>
            <a:ext cx="20116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—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64592" y="4572000"/>
            <a:ext cx="8814816" cy="292608"/>
          </a:xfrm>
          <a:prstGeom prst="rect">
            <a:avLst/>
          </a:prstGeom>
          <a:solidFill>
            <a:srgbClr val="FEF9C3"/>
          </a:solidFill>
          <a:ln w="9525">
            <a:solidFill>
              <a:srgbClr val="CA8A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164592" y="4572000"/>
            <a:ext cx="45720" cy="292608"/>
          </a:xfrm>
          <a:prstGeom prst="rect">
            <a:avLst/>
          </a:prstGeom>
          <a:solidFill>
            <a:srgbClr val="CA8A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274320" y="4599432"/>
            <a:ext cx="594360" cy="1280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00" b="1" i="0">
                <a:solidFill>
                  <a:srgbClr val="92400E"/>
                </a:solidFill>
                <a:latin typeface="Calibri"/>
              </a:rPr>
              <a:t>NOTE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74320" y="4617720"/>
            <a:ext cx="8503920" cy="2194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650" b="0" i="0">
                <a:solidFill>
                  <a:srgbClr val="78350F"/>
                </a:solidFill>
                <a:latin typeface="Calibri"/>
              </a:rPr>
              <a:t>Status Grouping:  Completed  =  'Completed' + 'De-Scoped'  (shown in green).   Pending  =  'Onboarding In Progress' + 'Not Started' + 'Future Request'  (shown with their respective colour).   Status is determined by the JIRA dropdown field configured in config.py → STATUS_FIELD.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274320" y="4892040"/>
            <a:ext cx="8595360" cy="228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1">
                <a:solidFill>
                  <a:srgbClr val="CBD5E1"/>
                </a:solidFill>
                <a:latin typeface="Calibri"/>
              </a:rPr>
              <a:t>[ Add your org footer here 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54864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54864"/>
            <a:ext cx="758952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SSPM Initiative  |  Phase 2 Applications — Integration Status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P2 · Pg 4/6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58368"/>
            <a:ext cx="141732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1" i="0">
                <a:solidFill>
                  <a:srgbClr val="64748B"/>
                </a:solidFill>
                <a:latin typeface="Calibri"/>
              </a:rPr>
              <a:t>Instance Coverage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0" y="603504"/>
            <a:ext cx="16002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01952" y="630936"/>
            <a:ext cx="1453896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PROD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1952" y="749808"/>
            <a:ext cx="1453896" cy="1828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059669"/>
                </a:solidFill>
                <a:latin typeface="Calibri"/>
              </a:rPr>
              <a:t>7/52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01952" y="941832"/>
            <a:ext cx="1453896" cy="3657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901952" y="941832"/>
            <a:ext cx="195716" cy="3657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47872" y="603504"/>
            <a:ext cx="16002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21024" y="630936"/>
            <a:ext cx="1453896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NON-PROD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21024" y="749808"/>
            <a:ext cx="1453896" cy="1828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047A57"/>
                </a:solidFill>
                <a:latin typeface="Calibri"/>
              </a:rPr>
              <a:t>0/26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21024" y="941832"/>
            <a:ext cx="1453896" cy="3657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0" y="640080"/>
            <a:ext cx="3383280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650" b="1" i="0">
                <a:solidFill>
                  <a:srgbClr val="64748B"/>
                </a:solidFill>
                <a:latin typeface="Calibri"/>
              </a:rPr>
              <a:t>App Status Breakdown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0" y="786384"/>
            <a:ext cx="211455" cy="914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97855" y="786384"/>
            <a:ext cx="740092" cy="914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37947" y="786384"/>
            <a:ext cx="1903095" cy="9144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341042" y="786384"/>
            <a:ext cx="528637" cy="91440"/>
          </a:xfrm>
          <a:prstGeom prst="rect">
            <a:avLst/>
          </a:prstGeom>
          <a:solidFill>
            <a:srgbClr val="047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0" y="896112"/>
            <a:ext cx="7315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1" i="0">
                <a:solidFill>
                  <a:srgbClr val="059669"/>
                </a:solidFill>
                <a:latin typeface="Calibri"/>
              </a:rPr>
              <a:t>2 Done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81344" y="896112"/>
            <a:ext cx="7315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1" i="0">
                <a:solidFill>
                  <a:srgbClr val="D97706"/>
                </a:solidFill>
                <a:latin typeface="Calibri"/>
              </a:rPr>
              <a:t>7 In Prog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76288" y="896112"/>
            <a:ext cx="7315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1" i="0">
                <a:solidFill>
                  <a:srgbClr val="64748B"/>
                </a:solidFill>
                <a:latin typeface="Calibri"/>
              </a:rPr>
              <a:t>18 Not Strt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71231" y="896112"/>
            <a:ext cx="7315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1" i="0">
                <a:solidFill>
                  <a:srgbClr val="047A57"/>
                </a:solidFill>
                <a:latin typeface="Calibri"/>
              </a:rPr>
              <a:t>5 Future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74320" y="1078992"/>
            <a:ext cx="8595360" cy="0"/>
          </a:xfrm>
          <a:prstGeom prst="line">
            <a:avLst/>
          </a:prstGeom>
          <a:ln w="9525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274320" y="932688"/>
            <a:ext cx="201168" cy="155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#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932688"/>
            <a:ext cx="2944368" cy="155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Application  ·  Org / Prod / Non-Prod Instances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0440" y="932688"/>
            <a:ext cx="1874519" cy="155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Status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68112" y="932688"/>
            <a:ext cx="1243584" cy="155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PROD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84848" y="932688"/>
            <a:ext cx="2048256" cy="155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NON-PROD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1115568"/>
            <a:ext cx="85953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74320" y="1115568"/>
            <a:ext cx="45720" cy="548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10896" y="1115568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19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1161288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Darktrace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1407993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21208" y="140799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×1 Instance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459992" y="1407993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478280" y="140799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×1 Prod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417064" y="1407993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435352" y="140799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×1 Non-Prod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520440" y="1240109"/>
            <a:ext cx="1819655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520440" y="1240109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Onboarding In Progress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468112" y="1240109"/>
            <a:ext cx="1207008" cy="299557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468112" y="1240109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059669"/>
                </a:solidFill>
                <a:latin typeface="Calibri"/>
              </a:rPr>
              <a:t>PROD 1/1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784848" y="1240109"/>
            <a:ext cx="2011680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784848" y="1240109"/>
            <a:ext cx="2011680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NP 0/1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74320" y="1691640"/>
            <a:ext cx="8595360" cy="5486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74320" y="1691640"/>
            <a:ext cx="45720" cy="54864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10896" y="1691640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20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2920" y="1737360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Elastic (ELK)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1984065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21208" y="1984065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×1 Instance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459992" y="1984065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478280" y="1984065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×1 Prod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417064" y="1984065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435352" y="1984065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×1 Non-Prod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520440" y="1816181"/>
            <a:ext cx="1819655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520440" y="1816181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68112" y="1816181"/>
            <a:ext cx="1207008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468112" y="1816181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PROD 0/1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784848" y="1816181"/>
            <a:ext cx="2011680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784848" y="1816181"/>
            <a:ext cx="2011680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NP 0/1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74320" y="2267712"/>
            <a:ext cx="85953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274320" y="2267712"/>
            <a:ext cx="45720" cy="548640"/>
          </a:xfrm>
          <a:prstGeom prst="rect">
            <a:avLst/>
          </a:prstGeom>
          <a:solidFill>
            <a:srgbClr val="047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10896" y="2267712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21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02920" y="2313432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PagerDuty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2920" y="2560137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21208" y="2560137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×1 Instance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459992" y="2560137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478280" y="2560137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×1 Prod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17064" y="2560137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35352" y="2560137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×0 Non-Prod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520440" y="2392253"/>
            <a:ext cx="1819655" cy="299557"/>
          </a:xfrm>
          <a:prstGeom prst="rect">
            <a:avLst/>
          </a:prstGeom>
          <a:solidFill>
            <a:srgbClr val="D6FFFF"/>
          </a:solidFill>
          <a:ln w="9525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520440" y="2392253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047A57"/>
                </a:solidFill>
                <a:latin typeface="Calibri"/>
              </a:rPr>
              <a:t>Future Request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468112" y="2392253"/>
            <a:ext cx="1207008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468112" y="2392253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PROD 0/1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784848" y="2267712"/>
            <a:ext cx="20116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—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74320" y="2843784"/>
            <a:ext cx="8595360" cy="5486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274320" y="2843784"/>
            <a:ext cx="45720" cy="54864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10896" y="2843784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22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2920" y="2889504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Dynatrace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502920" y="3136209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21208" y="3136209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×2 Instance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459992" y="3136209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478280" y="3136209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×2 Prod</a:t>
            </a:r>
          </a:p>
        </p:txBody>
      </p:sp>
      <p:sp>
        <p:nvSpPr>
          <p:cNvPr id="87" name="Rectangle 86"/>
          <p:cNvSpPr/>
          <p:nvPr/>
        </p:nvSpPr>
        <p:spPr>
          <a:xfrm>
            <a:off x="2417064" y="3136209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2435352" y="3136209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×2 Non-Prod</a:t>
            </a:r>
          </a:p>
        </p:txBody>
      </p:sp>
      <p:sp>
        <p:nvSpPr>
          <p:cNvPr id="89" name="Rectangle 88"/>
          <p:cNvSpPr/>
          <p:nvPr/>
        </p:nvSpPr>
        <p:spPr>
          <a:xfrm>
            <a:off x="3520440" y="2968325"/>
            <a:ext cx="1819655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3520440" y="2968325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91" name="Rectangle 90"/>
          <p:cNvSpPr/>
          <p:nvPr/>
        </p:nvSpPr>
        <p:spPr>
          <a:xfrm>
            <a:off x="5468112" y="2968325"/>
            <a:ext cx="1207008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468112" y="2968325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PROD 0/2</a:t>
            </a:r>
          </a:p>
        </p:txBody>
      </p:sp>
      <p:sp>
        <p:nvSpPr>
          <p:cNvPr id="93" name="Rectangle 92"/>
          <p:cNvSpPr/>
          <p:nvPr/>
        </p:nvSpPr>
        <p:spPr>
          <a:xfrm>
            <a:off x="6784848" y="2968325"/>
            <a:ext cx="2011680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6784848" y="2968325"/>
            <a:ext cx="2011680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NP 0/2</a:t>
            </a:r>
          </a:p>
        </p:txBody>
      </p:sp>
      <p:sp>
        <p:nvSpPr>
          <p:cNvPr id="95" name="Rectangle 94"/>
          <p:cNvSpPr/>
          <p:nvPr/>
        </p:nvSpPr>
        <p:spPr>
          <a:xfrm>
            <a:off x="274320" y="3419856"/>
            <a:ext cx="85953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274320" y="3419856"/>
            <a:ext cx="45720" cy="5486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10896" y="3419856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23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2920" y="3465576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Miro</a:t>
            </a:r>
          </a:p>
        </p:txBody>
      </p:sp>
      <p:sp>
        <p:nvSpPr>
          <p:cNvPr id="99" name="Rectangle 98"/>
          <p:cNvSpPr/>
          <p:nvPr/>
        </p:nvSpPr>
        <p:spPr>
          <a:xfrm>
            <a:off x="502920" y="3712281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521208" y="3712281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×1 Instance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459992" y="3712281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478280" y="3712281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×1 Prod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2417064" y="3712281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2435352" y="3712281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×0 Non-Prod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520440" y="3544397"/>
            <a:ext cx="1819655" cy="299557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520440" y="3544397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5468112" y="3544397"/>
            <a:ext cx="1207008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5468112" y="3544397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PROD 0/1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784848" y="3419856"/>
            <a:ext cx="20116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—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274320" y="3995928"/>
            <a:ext cx="8595360" cy="5486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274320" y="3995928"/>
            <a:ext cx="45720" cy="54864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310896" y="3995928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24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502920" y="4041648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Figma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502920" y="4288353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521208" y="428835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×1 Instance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1459992" y="4288353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1478280" y="428835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×1 Prod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2417064" y="4288353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2435352" y="428835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×0 Non-Prod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3520440" y="4120469"/>
            <a:ext cx="1819655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3520440" y="4120469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468112" y="4120469"/>
            <a:ext cx="1207008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468112" y="4120469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PROD 0/1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784848" y="3995928"/>
            <a:ext cx="20116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—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164592" y="4572000"/>
            <a:ext cx="8814816" cy="292608"/>
          </a:xfrm>
          <a:prstGeom prst="rect">
            <a:avLst/>
          </a:prstGeom>
          <a:solidFill>
            <a:srgbClr val="FEF9C3"/>
          </a:solidFill>
          <a:ln w="9525">
            <a:solidFill>
              <a:srgbClr val="CA8A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164592" y="4572000"/>
            <a:ext cx="45720" cy="292608"/>
          </a:xfrm>
          <a:prstGeom prst="rect">
            <a:avLst/>
          </a:prstGeom>
          <a:solidFill>
            <a:srgbClr val="CA8A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274320" y="4599432"/>
            <a:ext cx="594360" cy="1280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00" b="1" i="0">
                <a:solidFill>
                  <a:srgbClr val="92400E"/>
                </a:solidFill>
                <a:latin typeface="Calibri"/>
              </a:rPr>
              <a:t>NOTE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274320" y="4617720"/>
            <a:ext cx="8503920" cy="2194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650" b="0" i="0">
                <a:solidFill>
                  <a:srgbClr val="78350F"/>
                </a:solidFill>
                <a:latin typeface="Calibri"/>
              </a:rPr>
              <a:t>Status Grouping:  Completed  =  'Completed' + 'De-Scoped'  (shown in green).   Pending  =  'Onboarding In Progress' + 'Not Started' + 'Future Request'  (shown with their respective colour).   Status is determined by the JIRA dropdown field configured in config.py → STATUS_FIELD.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274320" y="4892040"/>
            <a:ext cx="8595360" cy="228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1">
                <a:solidFill>
                  <a:srgbClr val="CBD5E1"/>
                </a:solidFill>
                <a:latin typeface="Calibri"/>
              </a:rPr>
              <a:t>[ Add your org footer here 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54864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54864"/>
            <a:ext cx="758952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SSPM Initiative  |  Phase 2 Applications — Integration Status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P2 · Pg 5/6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58368"/>
            <a:ext cx="141732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1" i="0">
                <a:solidFill>
                  <a:srgbClr val="64748B"/>
                </a:solidFill>
                <a:latin typeface="Calibri"/>
              </a:rPr>
              <a:t>Instance Coverage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0" y="603504"/>
            <a:ext cx="16002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01952" y="630936"/>
            <a:ext cx="1453896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PROD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1952" y="749808"/>
            <a:ext cx="1453896" cy="1828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059669"/>
                </a:solidFill>
                <a:latin typeface="Calibri"/>
              </a:rPr>
              <a:t>7/52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01952" y="941832"/>
            <a:ext cx="1453896" cy="3657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901952" y="941832"/>
            <a:ext cx="195716" cy="3657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47872" y="603504"/>
            <a:ext cx="16002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21024" y="630936"/>
            <a:ext cx="1453896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NON-PROD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21024" y="749808"/>
            <a:ext cx="1453896" cy="1828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047A57"/>
                </a:solidFill>
                <a:latin typeface="Calibri"/>
              </a:rPr>
              <a:t>0/26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21024" y="941832"/>
            <a:ext cx="1453896" cy="3657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0" y="640080"/>
            <a:ext cx="3383280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650" b="1" i="0">
                <a:solidFill>
                  <a:srgbClr val="64748B"/>
                </a:solidFill>
                <a:latin typeface="Calibri"/>
              </a:rPr>
              <a:t>App Status Breakdown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0" y="786384"/>
            <a:ext cx="211455" cy="914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97855" y="786384"/>
            <a:ext cx="740092" cy="914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37947" y="786384"/>
            <a:ext cx="1903095" cy="9144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341042" y="786384"/>
            <a:ext cx="528637" cy="91440"/>
          </a:xfrm>
          <a:prstGeom prst="rect">
            <a:avLst/>
          </a:prstGeom>
          <a:solidFill>
            <a:srgbClr val="047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0" y="896112"/>
            <a:ext cx="7315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1" i="0">
                <a:solidFill>
                  <a:srgbClr val="059669"/>
                </a:solidFill>
                <a:latin typeface="Calibri"/>
              </a:rPr>
              <a:t>2 Done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81344" y="896112"/>
            <a:ext cx="7315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1" i="0">
                <a:solidFill>
                  <a:srgbClr val="D97706"/>
                </a:solidFill>
                <a:latin typeface="Calibri"/>
              </a:rPr>
              <a:t>7 In Prog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76288" y="896112"/>
            <a:ext cx="7315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1" i="0">
                <a:solidFill>
                  <a:srgbClr val="64748B"/>
                </a:solidFill>
                <a:latin typeface="Calibri"/>
              </a:rPr>
              <a:t>18 Not Strt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71231" y="896112"/>
            <a:ext cx="7315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1" i="0">
                <a:solidFill>
                  <a:srgbClr val="047A57"/>
                </a:solidFill>
                <a:latin typeface="Calibri"/>
              </a:rPr>
              <a:t>5 Future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74320" y="1078992"/>
            <a:ext cx="8595360" cy="0"/>
          </a:xfrm>
          <a:prstGeom prst="line">
            <a:avLst/>
          </a:prstGeom>
          <a:ln w="9525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274320" y="932688"/>
            <a:ext cx="201168" cy="155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#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932688"/>
            <a:ext cx="2944368" cy="155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Application  ·  Org / Prod / Non-Prod Instances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0440" y="932688"/>
            <a:ext cx="1874519" cy="155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Status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68112" y="932688"/>
            <a:ext cx="1243584" cy="155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PROD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84848" y="932688"/>
            <a:ext cx="2048256" cy="155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NON-PROD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1115568"/>
            <a:ext cx="85953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74320" y="1115568"/>
            <a:ext cx="45720" cy="548640"/>
          </a:xfrm>
          <a:prstGeom prst="rect">
            <a:avLst/>
          </a:prstGeom>
          <a:solidFill>
            <a:srgbClr val="047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10896" y="1115568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25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1161288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Notion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1407993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21208" y="140799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×1 Instance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459992" y="1407993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478280" y="140799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×1 Prod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417064" y="1407993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435352" y="140799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×0 Non-Prod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520440" y="1240109"/>
            <a:ext cx="1819655" cy="299557"/>
          </a:xfrm>
          <a:prstGeom prst="rect">
            <a:avLst/>
          </a:prstGeom>
          <a:solidFill>
            <a:srgbClr val="D6FFFF"/>
          </a:solidFill>
          <a:ln w="9525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520440" y="1240109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047A57"/>
                </a:solidFill>
                <a:latin typeface="Calibri"/>
              </a:rPr>
              <a:t>Future Request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468112" y="1240109"/>
            <a:ext cx="1207008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468112" y="1240109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PROD 0/1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784848" y="1115568"/>
            <a:ext cx="20116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—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74320" y="1691640"/>
            <a:ext cx="8595360" cy="5486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74320" y="1691640"/>
            <a:ext cx="45720" cy="54864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10896" y="1691640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26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2920" y="1737360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monday.com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02920" y="1984065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21208" y="1984065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×1 Instance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459992" y="1984065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478280" y="1984065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×1 Prod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417064" y="1984065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435352" y="1984065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×0 Non-Prod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520440" y="1816181"/>
            <a:ext cx="1819655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520440" y="1816181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468112" y="1816181"/>
            <a:ext cx="1207008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68112" y="1816181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PROD 0/1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784848" y="1691640"/>
            <a:ext cx="20116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—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74320" y="2267712"/>
            <a:ext cx="85953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274320" y="2267712"/>
            <a:ext cx="45720" cy="54864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10896" y="2267712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27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02920" y="2313432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Asana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2560137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21208" y="2560137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×1 Instance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459992" y="2560137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478280" y="2560137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×1 Prod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417064" y="2560137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435352" y="2560137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×0 Non-Prod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520440" y="2392253"/>
            <a:ext cx="1819655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520440" y="2392253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468112" y="2392253"/>
            <a:ext cx="1207008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468112" y="2392253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PROD 0/1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784848" y="2267712"/>
            <a:ext cx="20116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—</a:t>
            </a:r>
          </a:p>
        </p:txBody>
      </p:sp>
      <p:sp>
        <p:nvSpPr>
          <p:cNvPr id="77" name="Rectangle 76"/>
          <p:cNvSpPr/>
          <p:nvPr/>
        </p:nvSpPr>
        <p:spPr>
          <a:xfrm>
            <a:off x="274320" y="2843784"/>
            <a:ext cx="8595360" cy="5486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274320" y="2843784"/>
            <a:ext cx="45720" cy="548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10896" y="2843784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28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02920" y="2889504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Jira Service Mgmt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02920" y="3136209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21208" y="3136209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×2 Instance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459992" y="3136209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478280" y="3136209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×2 Prod</a:t>
            </a:r>
          </a:p>
        </p:txBody>
      </p:sp>
      <p:sp>
        <p:nvSpPr>
          <p:cNvPr id="85" name="Rectangle 84"/>
          <p:cNvSpPr/>
          <p:nvPr/>
        </p:nvSpPr>
        <p:spPr>
          <a:xfrm>
            <a:off x="2417064" y="3136209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2435352" y="3136209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×2 Non-Prod</a:t>
            </a:r>
          </a:p>
        </p:txBody>
      </p:sp>
      <p:sp>
        <p:nvSpPr>
          <p:cNvPr id="87" name="Rectangle 86"/>
          <p:cNvSpPr/>
          <p:nvPr/>
        </p:nvSpPr>
        <p:spPr>
          <a:xfrm>
            <a:off x="3520440" y="2968325"/>
            <a:ext cx="1819655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3520440" y="2968325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Onboarding In Progress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468112" y="2968325"/>
            <a:ext cx="1207008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468112" y="2968325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PROD 1/2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784848" y="2968325"/>
            <a:ext cx="2011680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784848" y="2968325"/>
            <a:ext cx="2011680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NP 0/2</a:t>
            </a:r>
          </a:p>
        </p:txBody>
      </p:sp>
      <p:sp>
        <p:nvSpPr>
          <p:cNvPr id="93" name="Rectangle 92"/>
          <p:cNvSpPr/>
          <p:nvPr/>
        </p:nvSpPr>
        <p:spPr>
          <a:xfrm>
            <a:off x="274320" y="3419856"/>
            <a:ext cx="85953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274320" y="3419856"/>
            <a:ext cx="45720" cy="54864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310896" y="3419856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29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02920" y="3465576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Freshdesk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02920" y="3712281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21208" y="3712281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×1 Instance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459992" y="3712281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478280" y="3712281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×1 Prod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2417064" y="3712281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2435352" y="3712281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×0 Non-Prod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3520440" y="3544397"/>
            <a:ext cx="1819655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3520440" y="3544397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5468112" y="3544397"/>
            <a:ext cx="1207008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5468112" y="3544397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PROD 0/1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784848" y="3419856"/>
            <a:ext cx="20116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—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274320" y="3995928"/>
            <a:ext cx="8595360" cy="5486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274320" y="3995928"/>
            <a:ext cx="45720" cy="548640"/>
          </a:xfrm>
          <a:prstGeom prst="rect">
            <a:avLst/>
          </a:prstGeom>
          <a:solidFill>
            <a:srgbClr val="047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310896" y="3995928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30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02920" y="4041648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Intercom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02920" y="4288353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21208" y="428835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×1 Instance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1459992" y="4288353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1478280" y="428835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×1 Prod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2417064" y="4288353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2435352" y="428835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×0 Non-Prod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520440" y="4120469"/>
            <a:ext cx="1819655" cy="299557"/>
          </a:xfrm>
          <a:prstGeom prst="rect">
            <a:avLst/>
          </a:prstGeom>
          <a:solidFill>
            <a:srgbClr val="D6FFFF"/>
          </a:solidFill>
          <a:ln w="9525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3520440" y="4120469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047A57"/>
                </a:solidFill>
                <a:latin typeface="Calibri"/>
              </a:rPr>
              <a:t>Future Request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468112" y="4120469"/>
            <a:ext cx="1207008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5468112" y="4120469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PROD 0/1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784848" y="3995928"/>
            <a:ext cx="20116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—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64592" y="4572000"/>
            <a:ext cx="8814816" cy="292608"/>
          </a:xfrm>
          <a:prstGeom prst="rect">
            <a:avLst/>
          </a:prstGeom>
          <a:solidFill>
            <a:srgbClr val="FEF9C3"/>
          </a:solidFill>
          <a:ln w="9525">
            <a:solidFill>
              <a:srgbClr val="CA8A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164592" y="4572000"/>
            <a:ext cx="45720" cy="292608"/>
          </a:xfrm>
          <a:prstGeom prst="rect">
            <a:avLst/>
          </a:prstGeom>
          <a:solidFill>
            <a:srgbClr val="CA8A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274320" y="4599432"/>
            <a:ext cx="594360" cy="1280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00" b="1" i="0">
                <a:solidFill>
                  <a:srgbClr val="92400E"/>
                </a:solidFill>
                <a:latin typeface="Calibri"/>
              </a:rPr>
              <a:t>NOTE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74320" y="4617720"/>
            <a:ext cx="8503920" cy="2194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650" b="0" i="0">
                <a:solidFill>
                  <a:srgbClr val="78350F"/>
                </a:solidFill>
                <a:latin typeface="Calibri"/>
              </a:rPr>
              <a:t>Status Grouping:  Completed  =  'Completed' + 'De-Scoped'  (shown in green).   Pending  =  'Onboarding In Progress' + 'Not Started' + 'Future Request'  (shown with their respective colour).   Status is determined by the JIRA dropdown field configured in config.py → STATUS_FIELD.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274320" y="4892040"/>
            <a:ext cx="8595360" cy="228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1">
                <a:solidFill>
                  <a:srgbClr val="CBD5E1"/>
                </a:solidFill>
                <a:latin typeface="Calibri"/>
              </a:rPr>
              <a:t>[ Add your org footer here ]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54864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54864"/>
            <a:ext cx="758952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SSPM Initiative  |  Phase 2 Applications — Integration Status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P2 · Pg 6/6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58368"/>
            <a:ext cx="141732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1" i="0">
                <a:solidFill>
                  <a:srgbClr val="64748B"/>
                </a:solidFill>
                <a:latin typeface="Calibri"/>
              </a:rPr>
              <a:t>Instance Coverage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0" y="603504"/>
            <a:ext cx="16002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01952" y="630936"/>
            <a:ext cx="1453896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PROD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1952" y="749808"/>
            <a:ext cx="1453896" cy="1828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059669"/>
                </a:solidFill>
                <a:latin typeface="Calibri"/>
              </a:rPr>
              <a:t>7/52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01952" y="941832"/>
            <a:ext cx="1453896" cy="3657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901952" y="941832"/>
            <a:ext cx="195716" cy="3657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47872" y="603504"/>
            <a:ext cx="16002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21024" y="630936"/>
            <a:ext cx="1453896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NON-PROD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21024" y="749808"/>
            <a:ext cx="1453896" cy="1828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047A57"/>
                </a:solidFill>
                <a:latin typeface="Calibri"/>
              </a:rPr>
              <a:t>0/26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21024" y="941832"/>
            <a:ext cx="1453896" cy="3657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0" y="640080"/>
            <a:ext cx="3383280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650" b="1" i="0">
                <a:solidFill>
                  <a:srgbClr val="64748B"/>
                </a:solidFill>
                <a:latin typeface="Calibri"/>
              </a:rPr>
              <a:t>App Status Breakdown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0" y="786384"/>
            <a:ext cx="211455" cy="914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97855" y="786384"/>
            <a:ext cx="740092" cy="914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37947" y="786384"/>
            <a:ext cx="1903095" cy="9144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341042" y="786384"/>
            <a:ext cx="528637" cy="91440"/>
          </a:xfrm>
          <a:prstGeom prst="rect">
            <a:avLst/>
          </a:prstGeom>
          <a:solidFill>
            <a:srgbClr val="047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0" y="896112"/>
            <a:ext cx="7315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1" i="0">
                <a:solidFill>
                  <a:srgbClr val="059669"/>
                </a:solidFill>
                <a:latin typeface="Calibri"/>
              </a:rPr>
              <a:t>2 Done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81344" y="896112"/>
            <a:ext cx="7315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1" i="0">
                <a:solidFill>
                  <a:srgbClr val="D97706"/>
                </a:solidFill>
                <a:latin typeface="Calibri"/>
              </a:rPr>
              <a:t>7 In Prog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76288" y="896112"/>
            <a:ext cx="7315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1" i="0">
                <a:solidFill>
                  <a:srgbClr val="64748B"/>
                </a:solidFill>
                <a:latin typeface="Calibri"/>
              </a:rPr>
              <a:t>18 Not Strt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71231" y="896112"/>
            <a:ext cx="7315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1" i="0">
                <a:solidFill>
                  <a:srgbClr val="047A57"/>
                </a:solidFill>
                <a:latin typeface="Calibri"/>
              </a:rPr>
              <a:t>5 Future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74320" y="1078992"/>
            <a:ext cx="8595360" cy="0"/>
          </a:xfrm>
          <a:prstGeom prst="line">
            <a:avLst/>
          </a:prstGeom>
          <a:ln w="9525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274320" y="932688"/>
            <a:ext cx="201168" cy="155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#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932688"/>
            <a:ext cx="2944368" cy="155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Application  ·  Org / Prod / Non-Prod Instances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0440" y="932688"/>
            <a:ext cx="1874519" cy="155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Status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68112" y="932688"/>
            <a:ext cx="1243584" cy="155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PROD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84848" y="932688"/>
            <a:ext cx="2048256" cy="155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NON-PROD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1115568"/>
            <a:ext cx="85953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74320" y="1115568"/>
            <a:ext cx="45720" cy="54864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10896" y="1115568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31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1161288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Twilio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1407993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21208" y="140799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×2 Instance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459992" y="1407993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478280" y="140799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×2 Prod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417064" y="1407993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435352" y="140799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×0 Non-Prod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520440" y="1240109"/>
            <a:ext cx="1819655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520440" y="1240109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468112" y="1240109"/>
            <a:ext cx="1207008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468112" y="1240109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PROD 0/2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784848" y="1115568"/>
            <a:ext cx="20116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—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74320" y="1691640"/>
            <a:ext cx="8595360" cy="5486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74320" y="1691640"/>
            <a:ext cx="45720" cy="5486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10896" y="1691640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32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2920" y="1737360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SendGrid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02920" y="1984065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21208" y="1984065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×1 Instance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459992" y="1984065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478280" y="1984065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×1 Prod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417064" y="1984065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435352" y="1984065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×0 Non-Prod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520440" y="1816181"/>
            <a:ext cx="1819655" cy="299557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520440" y="1816181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468112" y="1816181"/>
            <a:ext cx="1207008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68112" y="1816181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PROD 0/1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784848" y="1691640"/>
            <a:ext cx="20116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—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64592" y="4572000"/>
            <a:ext cx="8814816" cy="292608"/>
          </a:xfrm>
          <a:prstGeom prst="rect">
            <a:avLst/>
          </a:prstGeom>
          <a:solidFill>
            <a:srgbClr val="FEF9C3"/>
          </a:solidFill>
          <a:ln w="9525">
            <a:solidFill>
              <a:srgbClr val="CA8A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64592" y="4572000"/>
            <a:ext cx="45720" cy="292608"/>
          </a:xfrm>
          <a:prstGeom prst="rect">
            <a:avLst/>
          </a:prstGeom>
          <a:solidFill>
            <a:srgbClr val="CA8A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74320" y="4599432"/>
            <a:ext cx="594360" cy="1280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00" b="1" i="0">
                <a:solidFill>
                  <a:srgbClr val="92400E"/>
                </a:solidFill>
                <a:latin typeface="Calibri"/>
              </a:rPr>
              <a:t>NOTE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74320" y="4617720"/>
            <a:ext cx="8503920" cy="2194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650" b="0" i="0">
                <a:solidFill>
                  <a:srgbClr val="78350F"/>
                </a:solidFill>
                <a:latin typeface="Calibri"/>
              </a:rPr>
              <a:t>Status Grouping:  Completed  =  'Completed' + 'De-Scoped'  (shown in green).   Pending  =  'Onboarding In Progress' + 'Not Started' + 'Future Request'  (shown with their respective colour).   Status is determined by the JIRA dropdown field configured in config.py → STATUS_FIELD.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74320" y="4892040"/>
            <a:ext cx="8595360" cy="228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1">
                <a:solidFill>
                  <a:srgbClr val="CBD5E1"/>
                </a:solidFill>
                <a:latin typeface="Calibri"/>
              </a:rPr>
              <a:t>[ Add your org footer here ]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54864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54864"/>
            <a:ext cx="758952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SSPM Initiative  |  Blockers &amp; Impediments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5 Blockers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" y="621792"/>
            <a:ext cx="8814816" cy="237744"/>
          </a:xfrm>
          <a:prstGeom prst="rect">
            <a:avLst/>
          </a:prstGeom>
          <a:solidFill>
            <a:srgbClr val="FFEDED"/>
          </a:solidFill>
          <a:ln w="9525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64592" y="621792"/>
            <a:ext cx="54864" cy="237744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21792"/>
            <a:ext cx="6400800" cy="23774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50" b="1" i="0">
                <a:solidFill>
                  <a:srgbClr val="DC2626"/>
                </a:solidFill>
                <a:latin typeface="Calibri"/>
              </a:rPr>
              <a:t>Active Blockers &amp; Impediments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4592" y="877824"/>
            <a:ext cx="8814816" cy="18745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64592" y="877824"/>
            <a:ext cx="54864" cy="18745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4320" y="877824"/>
            <a:ext cx="365760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1" i="0">
                <a:solidFill>
                  <a:srgbClr val="DC2626"/>
                </a:solidFill>
                <a:latin typeface="Calibri"/>
              </a:rPr>
              <a:t>B1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" y="877824"/>
            <a:ext cx="5120640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50" b="0" i="0">
                <a:solidFill>
                  <a:srgbClr val="0F172A"/>
                </a:solidFill>
                <a:latin typeface="Calibri"/>
              </a:rPr>
              <a:t>Salesforce EMEA — Prod tenant access pending IT Ops approval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52160" y="905256"/>
            <a:ext cx="1005840" cy="132588"/>
          </a:xfrm>
          <a:prstGeom prst="rect">
            <a:avLst/>
          </a:prstGeom>
          <a:solidFill>
            <a:srgbClr val="D2FFFF"/>
          </a:solidFill>
          <a:ln w="95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0" y="905256"/>
            <a:ext cx="1005840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Phase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877824"/>
            <a:ext cx="1280160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750" b="0" i="0">
                <a:solidFill>
                  <a:srgbClr val="64748B"/>
                </a:solidFill>
                <a:latin typeface="Calibri"/>
              </a:rPr>
              <a:t>Owner: IT Ops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375904" y="905256"/>
            <a:ext cx="530352" cy="132588"/>
          </a:xfrm>
          <a:prstGeom prst="rect">
            <a:avLst/>
          </a:prstGeom>
          <a:solidFill>
            <a:srgbClr val="FFF8F8"/>
          </a:solidFill>
          <a:ln w="9525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75904" y="905256"/>
            <a:ext cx="530352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DC2626"/>
                </a:solidFill>
                <a:latin typeface="Calibri"/>
              </a:rPr>
              <a:t>High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64592" y="1083564"/>
            <a:ext cx="8814816" cy="18745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64592" y="1083564"/>
            <a:ext cx="54864" cy="18745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4320" y="1083564"/>
            <a:ext cx="365760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1" i="0">
                <a:solidFill>
                  <a:srgbClr val="DC2626"/>
                </a:solidFill>
                <a:latin typeface="Calibri"/>
              </a:rPr>
              <a:t>B2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" y="1083564"/>
            <a:ext cx="5120640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50" b="0" i="0">
                <a:solidFill>
                  <a:srgbClr val="0F172A"/>
                </a:solidFill>
                <a:latin typeface="Calibri"/>
              </a:rPr>
              <a:t>ServiceNow NA — API endpoint unreachable, firewall change raised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852160" y="1110996"/>
            <a:ext cx="1005840" cy="132588"/>
          </a:xfrm>
          <a:prstGeom prst="rect">
            <a:avLst/>
          </a:prstGeom>
          <a:solidFill>
            <a:srgbClr val="D2FFFF"/>
          </a:solidFill>
          <a:ln w="95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52160" y="1110996"/>
            <a:ext cx="1005840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Phase 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1083564"/>
            <a:ext cx="1280160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750" b="0" i="0">
                <a:solidFill>
                  <a:srgbClr val="64748B"/>
                </a:solidFill>
                <a:latin typeface="Calibri"/>
              </a:rPr>
              <a:t>Owner: Network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375904" y="1110996"/>
            <a:ext cx="530352" cy="132588"/>
          </a:xfrm>
          <a:prstGeom prst="rect">
            <a:avLst/>
          </a:prstGeom>
          <a:solidFill>
            <a:srgbClr val="FFF8F8"/>
          </a:solidFill>
          <a:ln w="9525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75904" y="1110996"/>
            <a:ext cx="530352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DC2626"/>
                </a:solidFill>
                <a:latin typeface="Calibri"/>
              </a:rPr>
              <a:t>High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64592" y="1289304"/>
            <a:ext cx="8814816" cy="18745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64592" y="1289304"/>
            <a:ext cx="54864" cy="1874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74320" y="1289304"/>
            <a:ext cx="365760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1" i="0">
                <a:solidFill>
                  <a:srgbClr val="D97706"/>
                </a:solidFill>
                <a:latin typeface="Calibri"/>
              </a:rPr>
              <a:t>B3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6656" y="1289304"/>
            <a:ext cx="5120640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50" b="0" i="0">
                <a:solidFill>
                  <a:srgbClr val="0F172A"/>
                </a:solidFill>
                <a:latin typeface="Calibri"/>
              </a:rPr>
              <a:t>Workday NA — Non-Prod tenant config not shared by app owner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852160" y="1316736"/>
            <a:ext cx="1005840" cy="132588"/>
          </a:xfrm>
          <a:prstGeom prst="rect">
            <a:avLst/>
          </a:prstGeom>
          <a:solidFill>
            <a:srgbClr val="D2FFFF"/>
          </a:solidFill>
          <a:ln w="95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852160" y="1316736"/>
            <a:ext cx="1005840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Phase 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9440" y="1289304"/>
            <a:ext cx="1280160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750" b="0" i="0">
                <a:solidFill>
                  <a:srgbClr val="64748B"/>
                </a:solidFill>
                <a:latin typeface="Calibri"/>
              </a:rPr>
              <a:t>Owner: App Owner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375904" y="1316736"/>
            <a:ext cx="530352" cy="132588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75904" y="1316736"/>
            <a:ext cx="530352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D97706"/>
                </a:solidFill>
                <a:latin typeface="Calibri"/>
              </a:rPr>
              <a:t>Med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64592" y="1495044"/>
            <a:ext cx="8814816" cy="18745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64592" y="1495044"/>
            <a:ext cx="54864" cy="1874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74320" y="1495044"/>
            <a:ext cx="365760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1" i="0">
                <a:solidFill>
                  <a:srgbClr val="D97706"/>
                </a:solidFill>
                <a:latin typeface="Calibri"/>
              </a:rPr>
              <a:t>B4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6656" y="1495044"/>
            <a:ext cx="5120640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50" b="0" i="0">
                <a:solidFill>
                  <a:srgbClr val="0F172A"/>
                </a:solidFill>
                <a:latin typeface="Calibri"/>
              </a:rPr>
              <a:t>Box EMEA — Licence procurement approval pending Finance sign-off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852160" y="1522476"/>
            <a:ext cx="1005840" cy="132588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852160" y="1522476"/>
            <a:ext cx="1005840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Phase 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49440" y="1495044"/>
            <a:ext cx="1280160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750" b="0" i="0">
                <a:solidFill>
                  <a:srgbClr val="64748B"/>
                </a:solidFill>
                <a:latin typeface="Calibri"/>
              </a:rPr>
              <a:t>Owner: Finance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375904" y="1522476"/>
            <a:ext cx="530352" cy="132588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375904" y="1522476"/>
            <a:ext cx="530352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D97706"/>
                </a:solidFill>
                <a:latin typeface="Calibri"/>
              </a:rPr>
              <a:t>Med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64592" y="1700784"/>
            <a:ext cx="8814816" cy="18745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64592" y="1700784"/>
            <a:ext cx="54864" cy="18745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74320" y="1700784"/>
            <a:ext cx="365760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1" i="0">
                <a:solidFill>
                  <a:srgbClr val="DC2626"/>
                </a:solidFill>
                <a:latin typeface="Calibri"/>
              </a:rPr>
              <a:t>B5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76656" y="1700784"/>
            <a:ext cx="5120640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50" b="0" i="0">
                <a:solidFill>
                  <a:srgbClr val="0F172A"/>
                </a:solidFill>
                <a:latin typeface="Calibri"/>
              </a:rPr>
              <a:t>Atlassian — Prod API key rotation blocking SSPM connector config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852160" y="1728216"/>
            <a:ext cx="1005840" cy="132588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852160" y="1728216"/>
            <a:ext cx="1005840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Phase 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949440" y="1700784"/>
            <a:ext cx="1280160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750" b="0" i="0">
                <a:solidFill>
                  <a:srgbClr val="64748B"/>
                </a:solidFill>
                <a:latin typeface="Calibri"/>
              </a:rPr>
              <a:t>Owner: Platform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375904" y="1728216"/>
            <a:ext cx="530352" cy="132588"/>
          </a:xfrm>
          <a:prstGeom prst="rect">
            <a:avLst/>
          </a:prstGeom>
          <a:solidFill>
            <a:srgbClr val="FFF8F8"/>
          </a:solidFill>
          <a:ln w="9525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375904" y="1728216"/>
            <a:ext cx="530352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DC2626"/>
                </a:solidFill>
                <a:latin typeface="Calibri"/>
              </a:rPr>
              <a:t>High</a:t>
            </a:r>
          </a:p>
        </p:txBody>
      </p:sp>
      <p:sp>
        <p:nvSpPr>
          <p:cNvPr id="55" name="Rectangle 54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74320" y="4892040"/>
            <a:ext cx="8595360" cy="228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1">
                <a:solidFill>
                  <a:srgbClr val="CBD5E1"/>
                </a:solidFill>
                <a:latin typeface="Calibri"/>
              </a:rPr>
              <a:t>[ Add your org footer here 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54864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54864"/>
            <a:ext cx="758952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SSPM Initiative  |  Milestones &amp; Roadmap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164592" y="621792"/>
            <a:ext cx="8814816" cy="256032"/>
          </a:xfrm>
          <a:prstGeom prst="rect">
            <a:avLst/>
          </a:prstGeom>
          <a:solidFill>
            <a:srgbClr val="DC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21792"/>
            <a:ext cx="54864" cy="25603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2608" y="621792"/>
            <a:ext cx="64008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50" b="1" i="0">
                <a:solidFill>
                  <a:srgbClr val="059669"/>
                </a:solidFill>
                <a:latin typeface="Calibri"/>
              </a:rPr>
              <a:t>Phase 2 · Auto-Ticketing Integration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7562088" y="658368"/>
            <a:ext cx="1325880" cy="182880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62088" y="658368"/>
            <a:ext cx="1325880" cy="1828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D97706"/>
                </a:solidFill>
                <a:latin typeface="Calibri"/>
              </a:rPr>
              <a:t>In Progress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4592" y="877824"/>
            <a:ext cx="8814816" cy="2057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6032" y="877824"/>
            <a:ext cx="256032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877824"/>
            <a:ext cx="6492240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 i="0">
                <a:solidFill>
                  <a:srgbClr val="0F172A"/>
                </a:solidFill>
                <a:latin typeface="Calibri"/>
              </a:rPr>
              <a:t>SSPM → ServiceNow connector: requirements &amp; design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62088" y="914400"/>
            <a:ext cx="1325880" cy="132588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62088" y="914400"/>
            <a:ext cx="1325880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64592" y="1110996"/>
            <a:ext cx="8814816" cy="2057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6032" y="1110996"/>
            <a:ext cx="256032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1110996"/>
            <a:ext cx="6492240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 i="0">
                <a:solidFill>
                  <a:srgbClr val="0F172A"/>
                </a:solidFill>
                <a:latin typeface="Calibri"/>
              </a:rPr>
              <a:t>Connector build — Phase 1 apps (P1 scope)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562088" y="1147572"/>
            <a:ext cx="1325880" cy="132588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62088" y="1147572"/>
            <a:ext cx="1325880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64592" y="1344168"/>
            <a:ext cx="8814816" cy="2057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6032" y="1344168"/>
            <a:ext cx="256032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1344168"/>
            <a:ext cx="6492240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 i="0">
                <a:solidFill>
                  <a:srgbClr val="0F172A"/>
                </a:solidFill>
                <a:latin typeface="Calibri"/>
              </a:rPr>
              <a:t>Connector build — Phase 2 apps (P2 scope)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562088" y="1380744"/>
            <a:ext cx="1325880" cy="132588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62088" y="1380744"/>
            <a:ext cx="1325880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D97706"/>
                </a:solidFill>
                <a:latin typeface="Calibri"/>
              </a:rPr>
              <a:t>In Progress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64592" y="1577340"/>
            <a:ext cx="8814816" cy="2057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56032" y="1577340"/>
            <a:ext cx="256032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1577340"/>
            <a:ext cx="6492240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 i="0">
                <a:solidFill>
                  <a:srgbClr val="0F172A"/>
                </a:solidFill>
                <a:latin typeface="Calibri"/>
              </a:rPr>
              <a:t>Ticket template design (fields, SLA, priority rules)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562088" y="1613916"/>
            <a:ext cx="1325880" cy="132588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562088" y="1613916"/>
            <a:ext cx="1325880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D97706"/>
                </a:solidFill>
                <a:latin typeface="Calibri"/>
              </a:rPr>
              <a:t>In Progress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64592" y="1810512"/>
            <a:ext cx="8814816" cy="2057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56032" y="1810512"/>
            <a:ext cx="256032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1810512"/>
            <a:ext cx="6492240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 i="0">
                <a:solidFill>
                  <a:srgbClr val="0F172A"/>
                </a:solidFill>
                <a:latin typeface="Calibri"/>
              </a:rPr>
              <a:t>Assignment routing rules &amp; escalation matrix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562088" y="1847088"/>
            <a:ext cx="1325880" cy="132588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62088" y="1847088"/>
            <a:ext cx="1325880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64592" y="2043684"/>
            <a:ext cx="8814816" cy="2057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56032" y="2043684"/>
            <a:ext cx="256032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2043684"/>
            <a:ext cx="6492240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 i="0">
                <a:solidFill>
                  <a:srgbClr val="0F172A"/>
                </a:solidFill>
                <a:latin typeface="Calibri"/>
              </a:rPr>
              <a:t>UAT — internal SSPM team validation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562088" y="2080260"/>
            <a:ext cx="1325880" cy="132588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562088" y="2080260"/>
            <a:ext cx="1325880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64592" y="2276856"/>
            <a:ext cx="8814816" cy="2057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56032" y="2276856"/>
            <a:ext cx="256032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2276856"/>
            <a:ext cx="6492240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 i="0">
                <a:solidFill>
                  <a:srgbClr val="0F172A"/>
                </a:solidFill>
                <a:latin typeface="Calibri"/>
              </a:rPr>
              <a:t>UAT — app owner pilot (10 apps)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562088" y="2313432"/>
            <a:ext cx="1325880" cy="132588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562088" y="2313432"/>
            <a:ext cx="1325880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64592" y="2510027"/>
            <a:ext cx="8814816" cy="2057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56032" y="2510027"/>
            <a:ext cx="256032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8640" y="2510027"/>
            <a:ext cx="6492240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 i="0">
                <a:solidFill>
                  <a:srgbClr val="0F172A"/>
                </a:solidFill>
                <a:latin typeface="Calibri"/>
              </a:rPr>
              <a:t>Runbook: auto-ticket lifecycle SOP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562088" y="2546603"/>
            <a:ext cx="1325880" cy="132588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562088" y="2546603"/>
            <a:ext cx="1325880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64592" y="2743199"/>
            <a:ext cx="8814816" cy="2057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56032" y="2743199"/>
            <a:ext cx="256032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8640" y="2743199"/>
            <a:ext cx="6492240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 i="0">
                <a:solidFill>
                  <a:srgbClr val="0F172A"/>
                </a:solidFill>
                <a:latin typeface="Calibri"/>
              </a:rPr>
              <a:t>Load &amp; performance testing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562088" y="2779775"/>
            <a:ext cx="1325880" cy="132588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562088" y="2779775"/>
            <a:ext cx="1325880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64592" y="2976371"/>
            <a:ext cx="8814816" cy="2057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56032" y="2976371"/>
            <a:ext cx="256032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10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8640" y="2976371"/>
            <a:ext cx="6492240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 i="0">
                <a:solidFill>
                  <a:srgbClr val="0F172A"/>
                </a:solidFill>
                <a:latin typeface="Calibri"/>
              </a:rPr>
              <a:t>Go-live &amp; hypercare (2-week window)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562088" y="3012947"/>
            <a:ext cx="1325880" cy="132588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562088" y="3012947"/>
            <a:ext cx="1325880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64592" y="3282695"/>
            <a:ext cx="8814816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64592" y="3282695"/>
            <a:ext cx="54864" cy="25603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92608" y="3282695"/>
            <a:ext cx="64008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50" b="1" i="0">
                <a:solidFill>
                  <a:srgbClr val="6D28D9"/>
                </a:solidFill>
                <a:latin typeface="Calibri"/>
              </a:rPr>
              <a:t>Phase 3 · Scorecard &amp; Operationalisation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562088" y="3319271"/>
            <a:ext cx="132588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562088" y="3319271"/>
            <a:ext cx="1325880" cy="1828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64592" y="3538727"/>
            <a:ext cx="8814816" cy="2057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56032" y="3538727"/>
            <a:ext cx="256032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6D28D9"/>
                </a:solidFill>
                <a:latin typeface="Calibri"/>
              </a:rPr>
              <a:t>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48640" y="3538727"/>
            <a:ext cx="6492240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 i="0">
                <a:solidFill>
                  <a:srgbClr val="0F172A"/>
                </a:solidFill>
                <a:latin typeface="Calibri"/>
              </a:rPr>
              <a:t>Define KPIs and scoring framework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562088" y="3575303"/>
            <a:ext cx="1325880" cy="132588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562088" y="3575303"/>
            <a:ext cx="1325880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64592" y="3771899"/>
            <a:ext cx="8814816" cy="2057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56032" y="3771899"/>
            <a:ext cx="256032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6D28D9"/>
                </a:solidFill>
                <a:latin typeface="Calibri"/>
              </a:rPr>
              <a:t>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48640" y="3771899"/>
            <a:ext cx="6492240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 i="0">
                <a:solidFill>
                  <a:srgbClr val="0F172A"/>
                </a:solidFill>
                <a:latin typeface="Calibri"/>
              </a:rPr>
              <a:t>Build SSPM health dashboard (Power BI / Tableau)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562088" y="3808475"/>
            <a:ext cx="1325880" cy="132588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562088" y="3808475"/>
            <a:ext cx="1325880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64592" y="4005071"/>
            <a:ext cx="8814816" cy="2057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56032" y="4005071"/>
            <a:ext cx="256032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6D28D9"/>
                </a:solidFill>
                <a:latin typeface="Calibri"/>
              </a:rPr>
              <a:t>3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8640" y="4005071"/>
            <a:ext cx="6492240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 i="0">
                <a:solidFill>
                  <a:srgbClr val="0F172A"/>
                </a:solidFill>
                <a:latin typeface="Calibri"/>
              </a:rPr>
              <a:t>App owner reporting template &amp; cadence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562088" y="4041647"/>
            <a:ext cx="1325880" cy="132588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562088" y="4041647"/>
            <a:ext cx="1325880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64592" y="4238243"/>
            <a:ext cx="8814816" cy="2057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56032" y="4238243"/>
            <a:ext cx="256032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6D28D9"/>
                </a:solidFill>
                <a:latin typeface="Calibri"/>
              </a:rP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48640" y="4238243"/>
            <a:ext cx="6492240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 i="0">
                <a:solidFill>
                  <a:srgbClr val="0F172A"/>
                </a:solidFill>
                <a:latin typeface="Calibri"/>
              </a:rPr>
              <a:t>Runbook &amp; SOP documentation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562088" y="4274819"/>
            <a:ext cx="1325880" cy="132588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7562088" y="4274819"/>
            <a:ext cx="1325880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64592" y="4471415"/>
            <a:ext cx="8814816" cy="2057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256032" y="4471415"/>
            <a:ext cx="256032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6D28D9"/>
                </a:solidFill>
                <a:latin typeface="Calibri"/>
              </a:rP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48640" y="4471415"/>
            <a:ext cx="6492240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 i="0">
                <a:solidFill>
                  <a:srgbClr val="0F172A"/>
                </a:solidFill>
                <a:latin typeface="Calibri"/>
              </a:rPr>
              <a:t>SSPM operating model (BAU) sign-off</a:t>
            </a:r>
          </a:p>
        </p:txBody>
      </p:sp>
      <p:sp>
        <p:nvSpPr>
          <p:cNvPr id="88" name="Rectangle 87"/>
          <p:cNvSpPr/>
          <p:nvPr/>
        </p:nvSpPr>
        <p:spPr>
          <a:xfrm>
            <a:off x="7562088" y="4507991"/>
            <a:ext cx="1325880" cy="132588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562088" y="4507991"/>
            <a:ext cx="1325880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90" name="Rectangle 89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274320" y="4892040"/>
            <a:ext cx="8595360" cy="228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1">
                <a:solidFill>
                  <a:srgbClr val="CBD5E1"/>
                </a:solidFill>
                <a:latin typeface="Calibri"/>
              </a:rPr>
              <a:t>[ Add your org footer here ]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54864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54864"/>
            <a:ext cx="758952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SSPM Initiative  |  Milestones &amp; Roadmap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Pg 2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" y="621792"/>
            <a:ext cx="8814816" cy="166420"/>
          </a:xfrm>
          <a:prstGeom prst="rect">
            <a:avLst/>
          </a:prstGeom>
          <a:solidFill>
            <a:srgbClr val="FFFFFF"/>
          </a:solidFill>
          <a:ln w="9525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2608" y="621792"/>
            <a:ext cx="7315200" cy="1664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1" i="0">
                <a:solidFill>
                  <a:srgbClr val="6D28D9"/>
                </a:solidFill>
                <a:latin typeface="Calibri"/>
              </a:rPr>
              <a:t>Phase 3 · Scorecard &amp; Operationalisation  (continued)</a:t>
            </a:r>
          </a:p>
        </p:txBody>
      </p:sp>
      <p:sp>
        <p:nvSpPr>
          <p:cNvPr id="9" name="Rectangle 8"/>
          <p:cNvSpPr/>
          <p:nvPr/>
        </p:nvSpPr>
        <p:spPr>
          <a:xfrm>
            <a:off x="164592" y="788212"/>
            <a:ext cx="8814816" cy="2057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6032" y="788212"/>
            <a:ext cx="256032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6D28D9"/>
                </a:solidFill>
                <a:latin typeface="Calibri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788212"/>
            <a:ext cx="6492240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 i="0">
                <a:solidFill>
                  <a:srgbClr val="0F172A"/>
                </a:solidFill>
                <a:latin typeface="Calibri"/>
              </a:rPr>
              <a:t>BAU handover to operations team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62088" y="824788"/>
            <a:ext cx="1325880" cy="132588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62088" y="824788"/>
            <a:ext cx="1325880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64592" y="1021384"/>
            <a:ext cx="8814816" cy="2057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6032" y="1021384"/>
            <a:ext cx="256032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6D28D9"/>
                </a:solidFill>
                <a:latin typeface="Calibri"/>
              </a:rPr>
              <a:t>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1021384"/>
            <a:ext cx="6492240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 i="0">
                <a:solidFill>
                  <a:srgbClr val="0F172A"/>
                </a:solidFill>
                <a:latin typeface="Calibri"/>
              </a:rPr>
              <a:t>Post-go-live review &amp; lessons learned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62088" y="1057960"/>
            <a:ext cx="1325880" cy="132588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62088" y="1057960"/>
            <a:ext cx="1325880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64592" y="1254556"/>
            <a:ext cx="8814816" cy="2057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6032" y="1254556"/>
            <a:ext cx="256032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6D28D9"/>
                </a:solidFill>
                <a:latin typeface="Calibri"/>
              </a:rPr>
              <a:t>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1254556"/>
            <a:ext cx="6492240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 i="0">
                <a:solidFill>
                  <a:srgbClr val="0F172A"/>
                </a:solidFill>
                <a:latin typeface="Calibri"/>
              </a:rPr>
              <a:t>Hypercare exit criteria &amp; sign-off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562088" y="1291132"/>
            <a:ext cx="1325880" cy="132588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62088" y="1291132"/>
            <a:ext cx="1325880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4592" y="1560880"/>
            <a:ext cx="8814816" cy="256032"/>
          </a:xfrm>
          <a:prstGeom prst="rect">
            <a:avLst/>
          </a:prstGeom>
          <a:solidFill>
            <a:srgbClr val="DBFFFF"/>
          </a:solidFill>
          <a:ln w="9525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64592" y="1560880"/>
            <a:ext cx="54864" cy="256032"/>
          </a:xfrm>
          <a:prstGeom prst="rect">
            <a:avLst/>
          </a:prstGeom>
          <a:solidFill>
            <a:srgbClr val="047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92608" y="1560880"/>
            <a:ext cx="64008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50" b="1" i="0">
                <a:solidFill>
                  <a:srgbClr val="047A57"/>
                </a:solidFill>
                <a:latin typeface="Calibri"/>
              </a:rPr>
              <a:t>Phase 4 · Continuous Improvement &amp; Expansion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562088" y="1597456"/>
            <a:ext cx="132588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62088" y="1597456"/>
            <a:ext cx="1325880" cy="1828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64592" y="1816912"/>
            <a:ext cx="8814816" cy="2057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56032" y="1816912"/>
            <a:ext cx="256032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47A57"/>
                </a:solidFill>
                <a:latin typeface="Calibri"/>
              </a:rPr>
              <a:t>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1816912"/>
            <a:ext cx="6492240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 i="0">
                <a:solidFill>
                  <a:srgbClr val="0F172A"/>
                </a:solidFill>
                <a:latin typeface="Calibri"/>
              </a:rPr>
              <a:t>Review Phase 3/4 app onboarding backlog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562088" y="1853488"/>
            <a:ext cx="1325880" cy="132588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62088" y="1853488"/>
            <a:ext cx="1325880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64592" y="2050084"/>
            <a:ext cx="8814816" cy="2057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56032" y="2050084"/>
            <a:ext cx="256032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47A57"/>
                </a:solidFill>
                <a:latin typeface="Calibri"/>
              </a:rPr>
              <a:t>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2050084"/>
            <a:ext cx="6492240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 i="0">
                <a:solidFill>
                  <a:srgbClr val="0F172A"/>
                </a:solidFill>
                <a:latin typeface="Calibri"/>
              </a:rPr>
              <a:t>Automated risk-scoring model v2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562088" y="2086660"/>
            <a:ext cx="1325880" cy="132588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562088" y="2086660"/>
            <a:ext cx="1325880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64592" y="2283256"/>
            <a:ext cx="8814816" cy="2057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56032" y="2283256"/>
            <a:ext cx="256032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47A57"/>
                </a:solidFill>
                <a:latin typeface="Calibri"/>
              </a:rPr>
              <a:t>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2283256"/>
            <a:ext cx="6492240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 i="0">
                <a:solidFill>
                  <a:srgbClr val="0F172A"/>
                </a:solidFill>
                <a:latin typeface="Calibri"/>
              </a:rPr>
              <a:t>Integration with PAM / IAM tooling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562088" y="2319832"/>
            <a:ext cx="1325880" cy="132588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562088" y="2319832"/>
            <a:ext cx="1325880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64592" y="2516428"/>
            <a:ext cx="8814816" cy="2057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56032" y="2516428"/>
            <a:ext cx="256032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47A57"/>
                </a:solidFill>
                <a:latin typeface="Calibri"/>
              </a:rPr>
              <a:t>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" y="2516428"/>
            <a:ext cx="6492240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 i="0">
                <a:solidFill>
                  <a:srgbClr val="0F172A"/>
                </a:solidFill>
                <a:latin typeface="Calibri"/>
              </a:rPr>
              <a:t>Expanded SSPM coverage: Phase 4 apps (198 apps)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562088" y="2553004"/>
            <a:ext cx="1325880" cy="132588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562088" y="2553004"/>
            <a:ext cx="1325880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64592" y="2749600"/>
            <a:ext cx="8814816" cy="2057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56032" y="2749600"/>
            <a:ext cx="256032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47A57"/>
                </a:solidFill>
                <a:latin typeface="Calibri"/>
              </a:rPr>
              <a:t>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8640" y="2749600"/>
            <a:ext cx="6492240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 i="0">
                <a:solidFill>
                  <a:srgbClr val="0F172A"/>
                </a:solidFill>
                <a:latin typeface="Calibri"/>
              </a:rPr>
              <a:t>Quarterly review cadence with steering committee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562088" y="2786176"/>
            <a:ext cx="1325880" cy="132588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562088" y="2786176"/>
            <a:ext cx="1325880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64592" y="2982772"/>
            <a:ext cx="8814816" cy="2057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56032" y="2982772"/>
            <a:ext cx="256032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47A57"/>
                </a:solidFill>
                <a:latin typeface="Calibri"/>
              </a:rPr>
              <a:t>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8640" y="2982772"/>
            <a:ext cx="6492240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 i="0">
                <a:solidFill>
                  <a:srgbClr val="0F172A"/>
                </a:solidFill>
                <a:latin typeface="Calibri"/>
              </a:rPr>
              <a:t>Audit &amp; compliance reporting package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562088" y="3019348"/>
            <a:ext cx="1325880" cy="132588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562088" y="3019348"/>
            <a:ext cx="1325880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74320" y="4892040"/>
            <a:ext cx="8595360" cy="228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1">
                <a:solidFill>
                  <a:srgbClr val="CBD5E1"/>
                </a:solidFill>
                <a:latin typeface="Calibri"/>
              </a:rPr>
              <a:t>[ Add your org footer here ]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54864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54864"/>
            <a:ext cx="758952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SSPM Initiative  |  Appendix — Application Instance Detail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Pg 1/8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" y="621792"/>
            <a:ext cx="256031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64592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9456" y="621792"/>
            <a:ext cx="201167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#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" y="621792"/>
            <a:ext cx="1591056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3776" y="621792"/>
            <a:ext cx="1536192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Application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48256" y="621792"/>
            <a:ext cx="1901952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48256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03120" y="621792"/>
            <a:ext cx="1847088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Instance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68496" y="621792"/>
            <a:ext cx="804672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968496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23359" y="621792"/>
            <a:ext cx="749808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App ID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456" y="621792"/>
            <a:ext cx="731519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791456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46320" y="621792"/>
            <a:ext cx="676656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Phase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541264" y="621792"/>
            <a:ext cx="731519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541264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596128" y="621792"/>
            <a:ext cx="676656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Env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91072" y="621792"/>
            <a:ext cx="841247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91072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45936" y="621792"/>
            <a:ext cx="786384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Sub-task Key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150608" y="621792"/>
            <a:ext cx="1481328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150608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05472" y="621792"/>
            <a:ext cx="1426463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Status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64592" y="859536"/>
            <a:ext cx="8467344" cy="173736"/>
          </a:xfrm>
          <a:prstGeom prst="rect">
            <a:avLst/>
          </a:prstGeom>
          <a:solidFill>
            <a:srgbClr val="F0F4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4592" y="859536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5488" y="859536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Salesforce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084832" y="859536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Salesforce - APAC Prod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05072" y="859536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28032" y="85953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77840" y="85953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27648" y="859536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SSPM-101-P1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168896" y="877824"/>
            <a:ext cx="1444751" cy="146303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168896" y="877824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64592" y="1051560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64592" y="1051560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75488" y="1051560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Salesforce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084832" y="1051560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Salesforce - APAC Prod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005072" y="1051560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28032" y="105156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577840" y="105156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27648" y="1051560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SSPM-101-NP1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168896" y="1069848"/>
            <a:ext cx="1444751" cy="146303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168896" y="1069848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64592" y="1243584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64592" y="1243584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5488" y="1243584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Salesforce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084832" y="1243584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Salesforce - APAC DR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005072" y="1243584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28032" y="124358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124358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27648" y="1243584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SSPM-102-P1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168896" y="1261872"/>
            <a:ext cx="1444751" cy="146303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168896" y="1261872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64592" y="1435608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64592" y="1435608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75488" y="1435608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Salesforce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084832" y="1435608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Salesforce - APAC DR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005072" y="1435608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28032" y="143560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577840" y="143560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27648" y="1435608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SSPM-102-NP1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168896" y="1453896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168896" y="1453896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64592" y="1627632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64592" y="1627632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5488" y="1627632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Salesforce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084832" y="1627632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Salesforce - EMEA Prod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005072" y="1627632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28032" y="162763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577840" y="162763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327648" y="1627632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SSPM-103-P1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168896" y="1645920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168896" y="1645920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64592" y="1819656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64592" y="1819656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75488" y="1819656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Salesforce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084832" y="1819656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Salesforce - EMEA Prod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005072" y="1819656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828032" y="181965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577840" y="181965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27648" y="1819656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SSPM-103-NP1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168896" y="1837944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168896" y="1837944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64592" y="2011680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164592" y="2011680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75488" y="2011680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Salesforce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084832" y="2011680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Salesforce - Japan Prod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005072" y="2011680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828032" y="201168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577840" y="201168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327648" y="2011680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SSPM-104-P1</a:t>
            </a:r>
          </a:p>
        </p:txBody>
      </p:sp>
      <p:sp>
        <p:nvSpPr>
          <p:cNvPr id="99" name="Rectangle 98"/>
          <p:cNvSpPr/>
          <p:nvPr/>
        </p:nvSpPr>
        <p:spPr>
          <a:xfrm>
            <a:off x="7168896" y="2029968"/>
            <a:ext cx="1444751" cy="146303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168896" y="2029968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64592" y="2203704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64592" y="2203704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75488" y="2203704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Salesforce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084832" y="2203704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Salesforce - Japan Prod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005072" y="2203704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28032" y="220370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577840" y="220370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327648" y="2203704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SSPM-104-NP1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7168896" y="2221992"/>
            <a:ext cx="1444751" cy="146303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7168896" y="2221992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164592" y="2395728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164592" y="2395728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9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75488" y="2395728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Salesforce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084832" y="2395728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Salesforce - NA Prod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005072" y="2395728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828032" y="239572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577840" y="239572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6327648" y="2395728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SSPM-105-P1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7168896" y="2414016"/>
            <a:ext cx="1444751" cy="146303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7168896" y="2414016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164592" y="2587752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164592" y="2587752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75488" y="2587752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Salesforce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084832" y="2587752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Salesforce - NA Prod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005072" y="2587752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28032" y="258775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258775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327648" y="2587752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SSPM-105-NP1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7168896" y="2606040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7168896" y="2606040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164592" y="2779776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164592" y="2779776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11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75488" y="2779776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Salesforce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2084832" y="2779776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Salesforce - NA Sandbox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4005072" y="2779776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28032" y="277977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5577840" y="277977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27648" y="2779776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SSPM-106-P1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7168896" y="2798064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7168896" y="2798064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164592" y="2971800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164592" y="2971800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475488" y="2971800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Salesforce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2084832" y="2971800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Salesforce - NA Sandbox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4005072" y="2971800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4828032" y="297180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5577840" y="297180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6327648" y="2971800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SSPM-106-NP1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7168896" y="2990088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7168896" y="2990088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164592" y="3163824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164592" y="3163824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475488" y="3163824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Salesforce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2084832" y="3163824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Salesforce - Global Prod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005072" y="3163824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4828032" y="316382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5577840" y="316382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327648" y="3163824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SSPM-107-P1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7168896" y="3182112"/>
            <a:ext cx="1444751" cy="146303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7168896" y="3182112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164592" y="3355848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164592" y="3355848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14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75488" y="3355848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Salesforce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2084832" y="3355848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Salesforce - TG Prod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4005072" y="3355848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28032" y="335584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5577840" y="335584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327648" y="3355848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SSPM-108-P1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7168896" y="3374136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7168896" y="3374136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164592" y="3547872"/>
            <a:ext cx="8467344" cy="173736"/>
          </a:xfrm>
          <a:prstGeom prst="rect">
            <a:avLst/>
          </a:prstGeom>
          <a:solidFill>
            <a:srgbClr val="F0F4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164592" y="3547872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15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75488" y="3547872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Workday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2084832" y="3547872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Workday - APAC Prod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005072" y="3547872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4828032" y="354787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5577840" y="354787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27648" y="3547872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SSPM-201-P1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7168896" y="3566160"/>
            <a:ext cx="1444751" cy="146303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7168896" y="3566160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164592" y="3739896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164592" y="3739896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16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75488" y="3739896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Workday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2084832" y="3739896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Workday - APAC Prod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4005072" y="3739896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4828032" y="373989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5577840" y="373989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327648" y="3739896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SSPM-201-NP1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7168896" y="3758183"/>
            <a:ext cx="1444751" cy="146303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7168896" y="3758183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164592" y="3931920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164592" y="3931920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17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75488" y="3931920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Workday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2084832" y="3931920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Workday - EMEA Prod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005072" y="3931920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28032" y="393192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5577840" y="393192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6327648" y="3931920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SSPM-202-P1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7168896" y="3950207"/>
            <a:ext cx="1444751" cy="146303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7168896" y="3950207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164592" y="4123944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164592" y="4123944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18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475488" y="4123944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Workday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2084832" y="4123944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Workday - EMEA Prod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4005072" y="4123944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4828032" y="412394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5577840" y="412394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6327648" y="4123944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SSPM-202-NP1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7168896" y="4142231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7168896" y="4142231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211" name="Rectangle 210"/>
          <p:cNvSpPr/>
          <p:nvPr/>
        </p:nvSpPr>
        <p:spPr>
          <a:xfrm>
            <a:off x="164592" y="4315968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164592" y="4315968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19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475488" y="4315968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Workday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2084832" y="4315968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Workday - NA Prod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4005072" y="4315968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4828032" y="431596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5577840" y="431596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6327648" y="4315968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SSPM-203-P1</a:t>
            </a:r>
          </a:p>
        </p:txBody>
      </p:sp>
      <p:sp>
        <p:nvSpPr>
          <p:cNvPr id="219" name="Rectangle 218"/>
          <p:cNvSpPr/>
          <p:nvPr/>
        </p:nvSpPr>
        <p:spPr>
          <a:xfrm>
            <a:off x="7168896" y="4334255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7168896" y="4334255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221" name="Rectangle 220"/>
          <p:cNvSpPr/>
          <p:nvPr/>
        </p:nvSpPr>
        <p:spPr>
          <a:xfrm>
            <a:off x="164592" y="4507992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164592" y="4507992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20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475488" y="4507992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Workday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2084832" y="4507992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Workday - NA Prod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4005072" y="4507992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4828032" y="450799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5577840" y="450799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6327648" y="4507992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SSPM-203-NP1</a:t>
            </a:r>
          </a:p>
        </p:txBody>
      </p:sp>
      <p:sp>
        <p:nvSpPr>
          <p:cNvPr id="229" name="Rectangle 228"/>
          <p:cNvSpPr/>
          <p:nvPr/>
        </p:nvSpPr>
        <p:spPr>
          <a:xfrm>
            <a:off x="7168896" y="4526279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TextBox 229"/>
          <p:cNvSpPr txBox="1"/>
          <p:nvPr/>
        </p:nvSpPr>
        <p:spPr>
          <a:xfrm>
            <a:off x="7168896" y="4526279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231" name="Rectangle 230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TextBox 231"/>
          <p:cNvSpPr txBox="1"/>
          <p:nvPr/>
        </p:nvSpPr>
        <p:spPr>
          <a:xfrm>
            <a:off x="274320" y="4892040"/>
            <a:ext cx="8595360" cy="228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1">
                <a:solidFill>
                  <a:srgbClr val="CBD5E1"/>
                </a:solidFill>
                <a:latin typeface="Calibri"/>
              </a:rPr>
              <a:t>[ Add your org footer here ]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54864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54864"/>
            <a:ext cx="758952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SSPM Initiative  |  Appendix — Application Instance Detail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Pg 2/8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" y="621792"/>
            <a:ext cx="256031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64592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9456" y="621792"/>
            <a:ext cx="201167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#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" y="621792"/>
            <a:ext cx="1591056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3776" y="621792"/>
            <a:ext cx="1536192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Application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48256" y="621792"/>
            <a:ext cx="1901952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48256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03120" y="621792"/>
            <a:ext cx="1847088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Instance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68496" y="621792"/>
            <a:ext cx="804672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968496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23359" y="621792"/>
            <a:ext cx="749808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App ID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456" y="621792"/>
            <a:ext cx="731519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791456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46320" y="621792"/>
            <a:ext cx="676656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Phase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541264" y="621792"/>
            <a:ext cx="731519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541264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596128" y="621792"/>
            <a:ext cx="676656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Env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91072" y="621792"/>
            <a:ext cx="841247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91072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45936" y="621792"/>
            <a:ext cx="786384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Sub-task Key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150608" y="621792"/>
            <a:ext cx="1481328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150608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05472" y="621792"/>
            <a:ext cx="1426463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Status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64592" y="859536"/>
            <a:ext cx="8467344" cy="173736"/>
          </a:xfrm>
          <a:prstGeom prst="rect">
            <a:avLst/>
          </a:prstGeom>
          <a:solidFill>
            <a:srgbClr val="F0F4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4592" y="859536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21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5488" y="859536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ServiceNow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084832" y="859536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ServiceNow - APAC Prod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05072" y="859536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28032" y="85953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77840" y="85953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27648" y="859536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SSPM-301-P1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168896" y="877824"/>
            <a:ext cx="1444751" cy="146303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168896" y="877824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64592" y="1051560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64592" y="1051560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22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75488" y="1051560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ServiceNow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084832" y="1051560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ServiceNow - APAC Prod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005072" y="1051560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28032" y="105156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577840" y="105156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27648" y="1051560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SSPM-301-NP1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168896" y="1069848"/>
            <a:ext cx="1444751" cy="146303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168896" y="1069848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64592" y="1243584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64592" y="1243584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23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5488" y="1243584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ServiceNow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084832" y="1243584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ServiceNow - EMEA Prod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005072" y="1243584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28032" y="124358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124358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27648" y="1243584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SSPM-302-P1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168896" y="1261872"/>
            <a:ext cx="1444751" cy="146303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168896" y="1261872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64592" y="1435608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64592" y="1435608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24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75488" y="1435608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ServiceNow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084832" y="1435608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ServiceNow - EMEA Prod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005072" y="1435608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28032" y="143560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577840" y="143560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27648" y="1435608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SSPM-302-NP1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168896" y="1453896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168896" y="1453896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64592" y="1627632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64592" y="1627632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25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5488" y="1627632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ServiceNow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084832" y="1627632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ServiceNow - NA Prod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005072" y="1627632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28032" y="162763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577840" y="162763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327648" y="1627632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SSPM-303-P1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168896" y="1645920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168896" y="1645920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64592" y="1819656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64592" y="1819656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26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75488" y="1819656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ServiceNow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084832" y="1819656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ServiceNow - NA Prod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005072" y="1819656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828032" y="181965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577840" y="181965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27648" y="1819656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SSPM-303-NP1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168896" y="1837944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168896" y="1837944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64592" y="2011680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164592" y="2011680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75488" y="2011680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ServiceNow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084832" y="2011680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ServiceNow - Japan Prod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005072" y="2011680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828032" y="201168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577840" y="201168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327648" y="2011680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SSPM-304-P1</a:t>
            </a:r>
          </a:p>
        </p:txBody>
      </p:sp>
      <p:sp>
        <p:nvSpPr>
          <p:cNvPr id="99" name="Rectangle 98"/>
          <p:cNvSpPr/>
          <p:nvPr/>
        </p:nvSpPr>
        <p:spPr>
          <a:xfrm>
            <a:off x="7168896" y="2029968"/>
            <a:ext cx="1444751" cy="146303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168896" y="2029968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64592" y="2203704"/>
            <a:ext cx="8467344" cy="173736"/>
          </a:xfrm>
          <a:prstGeom prst="rect">
            <a:avLst/>
          </a:prstGeom>
          <a:solidFill>
            <a:srgbClr val="F1F5F9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64592" y="2203704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28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75488" y="2203704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GitHub Enterprise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084832" y="2203704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GitHub Ent - APAC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005072" y="2203704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28032" y="220370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577840" y="220370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327648" y="2203704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SSPM-401-P1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7168896" y="2221992"/>
            <a:ext cx="1444751" cy="146303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7168896" y="2221992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164592" y="2395728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164592" y="2395728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29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75488" y="2395728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GitHub Enterprise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084832" y="2395728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GitHub Ent - APAC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005072" y="2395728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828032" y="239572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577840" y="239572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6327648" y="2395728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SSPM-401-NP1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7168896" y="2414016"/>
            <a:ext cx="1444751" cy="146303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7168896" y="2414016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164592" y="2587752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164592" y="2587752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30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75488" y="2587752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GitHub Enterprise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084832" y="2587752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GitHub Ent - EMEA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005072" y="2587752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28032" y="258775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258775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327648" y="2587752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SSPM-402-P1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7168896" y="2606040"/>
            <a:ext cx="1444751" cy="146303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7168896" y="2606040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164592" y="2779776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164592" y="2779776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31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75488" y="2779776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GitHub Enterprise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2084832" y="2779776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GitHub Ent - EMEA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4005072" y="2779776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28032" y="277977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5577840" y="277977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27648" y="2779776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SSPM-402-NP1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7168896" y="2798064"/>
            <a:ext cx="1444751" cy="146303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7168896" y="2798064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164592" y="2971800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164592" y="2971800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32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475488" y="2971800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GitHub Enterprise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2084832" y="2971800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GitHub Ent - NA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4005072" y="2971800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4828032" y="297180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5577840" y="297180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6327648" y="2971800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SSPM-403-P1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7168896" y="2990088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7168896" y="2990088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164592" y="3163824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164592" y="3163824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33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475488" y="3163824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GitHub Enterprise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2084832" y="3163824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GitHub Ent - NA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005072" y="3163824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4828032" y="316382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5577840" y="316382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327648" y="3163824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SSPM-403-NP1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7168896" y="3182112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7168896" y="3182112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164592" y="3355848"/>
            <a:ext cx="8467344" cy="173736"/>
          </a:xfrm>
          <a:prstGeom prst="rect">
            <a:avLst/>
          </a:prstGeom>
          <a:solidFill>
            <a:srgbClr val="F1F5F9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164592" y="3355848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34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75488" y="3355848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Microsoft 365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2084832" y="3355848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M365 - APAC Prod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4005072" y="3355848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28032" y="335584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5577840" y="335584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327648" y="3355848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SSPM-501-P1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7168896" y="3374136"/>
            <a:ext cx="1444751" cy="146303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7168896" y="3374136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164592" y="3547872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164592" y="3547872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35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75488" y="3547872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Microsoft 365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2084832" y="3547872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M365 - EMEA Prod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005072" y="3547872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4828032" y="354787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5577840" y="354787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27648" y="3547872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SSPM-502-P1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7168896" y="3566160"/>
            <a:ext cx="1444751" cy="146303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7168896" y="3566160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164592" y="3739896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164592" y="3739896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36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75488" y="3739896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Microsoft 365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2084832" y="3739896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M365 - Japan Prod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4005072" y="3739896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4828032" y="373989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5577840" y="373989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327648" y="3739896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SSPM-503-P1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7168896" y="3758183"/>
            <a:ext cx="1444751" cy="146303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7168896" y="3758183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164592" y="3931920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164592" y="3931920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37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75488" y="3931920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Microsoft 365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2084832" y="3931920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M365 - NA Prod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005072" y="3931920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28032" y="393192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5577840" y="393192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6327648" y="3931920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SSPM-504-P1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7168896" y="3950207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7168896" y="3950207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164592" y="4123944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164592" y="4123944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38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475488" y="4123944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Microsoft 365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2084832" y="4123944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M365 - Global Prod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4005072" y="4123944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4828032" y="412394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5577840" y="412394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6327648" y="4123944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SSPM-505-P1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7168896" y="4142231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7168896" y="4142231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211" name="Rectangle 210"/>
          <p:cNvSpPr/>
          <p:nvPr/>
        </p:nvSpPr>
        <p:spPr>
          <a:xfrm>
            <a:off x="164592" y="4315968"/>
            <a:ext cx="8467344" cy="173736"/>
          </a:xfrm>
          <a:prstGeom prst="rect">
            <a:avLst/>
          </a:prstGeom>
          <a:solidFill>
            <a:srgbClr val="F0F4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164592" y="4315968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39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475488" y="4315968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Okta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2084832" y="4315968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Okta - APAC Prod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4005072" y="4315968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4828032" y="431596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5577840" y="431596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6327648" y="4315968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SSPM-601-P1</a:t>
            </a:r>
          </a:p>
        </p:txBody>
      </p:sp>
      <p:sp>
        <p:nvSpPr>
          <p:cNvPr id="219" name="Rectangle 218"/>
          <p:cNvSpPr/>
          <p:nvPr/>
        </p:nvSpPr>
        <p:spPr>
          <a:xfrm>
            <a:off x="7168896" y="4334255"/>
            <a:ext cx="1444751" cy="146303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7168896" y="4334255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221" name="Rectangle 220"/>
          <p:cNvSpPr/>
          <p:nvPr/>
        </p:nvSpPr>
        <p:spPr>
          <a:xfrm>
            <a:off x="164592" y="4507992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164592" y="4507992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40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475488" y="4507992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Okta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2084832" y="4507992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Okta - APAC Prod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4005072" y="4507992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4828032" y="450799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5577840" y="450799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6327648" y="4507992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SSPM-601-NP1</a:t>
            </a:r>
          </a:p>
        </p:txBody>
      </p:sp>
      <p:sp>
        <p:nvSpPr>
          <p:cNvPr id="229" name="Rectangle 228"/>
          <p:cNvSpPr/>
          <p:nvPr/>
        </p:nvSpPr>
        <p:spPr>
          <a:xfrm>
            <a:off x="7168896" y="4526279"/>
            <a:ext cx="1444751" cy="146303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TextBox 229"/>
          <p:cNvSpPr txBox="1"/>
          <p:nvPr/>
        </p:nvSpPr>
        <p:spPr>
          <a:xfrm>
            <a:off x="7168896" y="4526279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231" name="Rectangle 230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TextBox 231"/>
          <p:cNvSpPr txBox="1"/>
          <p:nvPr/>
        </p:nvSpPr>
        <p:spPr>
          <a:xfrm>
            <a:off x="274320" y="4892040"/>
            <a:ext cx="8595360" cy="228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1">
                <a:solidFill>
                  <a:srgbClr val="CBD5E1"/>
                </a:solidFill>
                <a:latin typeface="Calibri"/>
              </a:rPr>
              <a:t>[ Add your org footer here ]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54864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54864"/>
            <a:ext cx="758952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SSPM Initiative  |  Appendix — Application Instance Detail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Pg 3/8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" y="621792"/>
            <a:ext cx="256031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64592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9456" y="621792"/>
            <a:ext cx="201167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#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" y="621792"/>
            <a:ext cx="1591056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3776" y="621792"/>
            <a:ext cx="1536192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Application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48256" y="621792"/>
            <a:ext cx="1901952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48256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03120" y="621792"/>
            <a:ext cx="1847088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Instance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68496" y="621792"/>
            <a:ext cx="804672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968496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23359" y="621792"/>
            <a:ext cx="749808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App ID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456" y="621792"/>
            <a:ext cx="731519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791456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46320" y="621792"/>
            <a:ext cx="676656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Phase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541264" y="621792"/>
            <a:ext cx="731519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541264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596128" y="621792"/>
            <a:ext cx="676656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Env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91072" y="621792"/>
            <a:ext cx="841247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91072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45936" y="621792"/>
            <a:ext cx="786384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Sub-task Key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150608" y="621792"/>
            <a:ext cx="1481328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150608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05472" y="621792"/>
            <a:ext cx="1426463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Status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64592" y="859536"/>
            <a:ext cx="8467344" cy="173736"/>
          </a:xfrm>
          <a:prstGeom prst="rect">
            <a:avLst/>
          </a:prstGeom>
          <a:solidFill>
            <a:srgbClr val="F0F4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4592" y="859536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41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5488" y="859536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Okta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084832" y="859536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Okta - NA Prod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05072" y="859536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28032" y="85953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77840" y="85953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27648" y="859536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SSPM-602-P1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168896" y="877824"/>
            <a:ext cx="1444751" cy="146303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168896" y="877824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64592" y="1051560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64592" y="1051560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42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75488" y="1051560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Okta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084832" y="1051560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Okta - NA Prod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005072" y="1051560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28032" y="105156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577840" y="105156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27648" y="1051560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SSPM-602-NP1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168896" y="1069848"/>
            <a:ext cx="1444751" cy="146303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168896" y="1069848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64592" y="1243584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64592" y="1243584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43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5488" y="1243584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Okta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084832" y="1243584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Okta - EMEA Prod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005072" y="1243584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28032" y="124358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124358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27648" y="1243584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SSPM-603-P1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168896" y="1261872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168896" y="1261872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64592" y="1435608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64592" y="1435608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44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75488" y="1435608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Okta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084832" y="1435608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Okta - EMEA Prod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005072" y="1435608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28032" y="143560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577840" y="143560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27648" y="1435608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SSPM-603-NP1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168896" y="1453896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168896" y="1453896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64592" y="1627632"/>
            <a:ext cx="8467344" cy="173736"/>
          </a:xfrm>
          <a:prstGeom prst="rect">
            <a:avLst/>
          </a:prstGeom>
          <a:solidFill>
            <a:srgbClr val="F0F4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64592" y="1627632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45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5488" y="1627632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Zoom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084832" y="1627632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Zoom - Global Prod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005072" y="1627632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28032" y="162763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577840" y="162763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327648" y="1627632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SSPM-701-P1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168896" y="1645920"/>
            <a:ext cx="1444751" cy="146303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168896" y="1645920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64592" y="1819656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64592" y="1819656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46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75488" y="1819656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Zoom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084832" y="1819656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Zoom - Global Prod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005072" y="1819656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828032" y="181965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577840" y="181965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27648" y="1819656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SSPM-701-NP1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168896" y="1837944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168896" y="1837944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64592" y="2011680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164592" y="2011680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47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75488" y="2011680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Zoom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084832" y="2011680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Zoom - Japan Prod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005072" y="2011680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828032" y="201168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577840" y="201168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327648" y="2011680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SSPM-702-P1</a:t>
            </a:r>
          </a:p>
        </p:txBody>
      </p:sp>
      <p:sp>
        <p:nvSpPr>
          <p:cNvPr id="99" name="Rectangle 98"/>
          <p:cNvSpPr/>
          <p:nvPr/>
        </p:nvSpPr>
        <p:spPr>
          <a:xfrm>
            <a:off x="7168896" y="2029968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168896" y="2029968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64592" y="2203704"/>
            <a:ext cx="8467344" cy="173736"/>
          </a:xfrm>
          <a:prstGeom prst="rect">
            <a:avLst/>
          </a:prstGeom>
          <a:solidFill>
            <a:srgbClr val="F1F5F9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64592" y="2203704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48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75488" y="2203704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Slack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084832" y="2203704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Slack - Global Prod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005072" y="2203704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28032" y="220370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577840" y="220370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327648" y="2203704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SSPM-801-P1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7168896" y="2221992"/>
            <a:ext cx="1444751" cy="146303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7168896" y="2221992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164592" y="2395728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164592" y="2395728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49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75488" y="2395728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Slack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084832" y="2395728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Slack - APAC Prod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005072" y="2395728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828032" y="239572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577840" y="239572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6327648" y="2395728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SSPM-802-P1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7168896" y="2414016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7168896" y="2414016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164592" y="2587752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164592" y="2587752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50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75488" y="2587752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Slack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084832" y="2587752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Slack - APAC Prod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005072" y="2587752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28032" y="258775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258775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327648" y="2587752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SSPM-802-NP1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7168896" y="2606040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7168896" y="2606040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164592" y="2779776"/>
            <a:ext cx="8467344" cy="173736"/>
          </a:xfrm>
          <a:prstGeom prst="rect">
            <a:avLst/>
          </a:prstGeom>
          <a:solidFill>
            <a:srgbClr val="F0F4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164592" y="2779776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51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75488" y="2779776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Palo Alto Prisma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2084832" y="2779776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Prisma - APAC Prod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4005072" y="2779776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28032" y="277977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5577840" y="277977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27648" y="2779776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SSPM-901-P1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7168896" y="2798064"/>
            <a:ext cx="1444751" cy="146303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7168896" y="2798064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164592" y="2971800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164592" y="2971800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52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475488" y="2971800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Palo Alto Prisma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2084832" y="2971800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Prisma - APAC Prod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4005072" y="2971800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4828032" y="297180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5577840" y="297180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6327648" y="2971800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SSPM-901-NP1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7168896" y="2990088"/>
            <a:ext cx="1444751" cy="146303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7168896" y="2990088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164592" y="3163824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164592" y="3163824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53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475488" y="3163824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Palo Alto Prisma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2084832" y="3163824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Prisma - NA Prod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005072" y="3163824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4828032" y="316382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5577840" y="316382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327648" y="3163824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SSPM-902-P1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7168896" y="3182112"/>
            <a:ext cx="1444751" cy="146303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7168896" y="3182112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164592" y="3355848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164592" y="3355848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54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75488" y="3355848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Palo Alto Prisma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2084832" y="3355848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Prisma - NA Prod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4005072" y="3355848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28032" y="335584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5577840" y="335584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327648" y="3355848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SSPM-902-NP1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7168896" y="3374136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7168896" y="3374136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164592" y="3547872"/>
            <a:ext cx="8467344" cy="173736"/>
          </a:xfrm>
          <a:prstGeom prst="rect">
            <a:avLst/>
          </a:prstGeom>
          <a:solidFill>
            <a:srgbClr val="F0F4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164592" y="3547872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55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75488" y="3547872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CrowdStrike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2084832" y="3547872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CrowdStrike - Global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005072" y="3547872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4828032" y="354787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5577840" y="354787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27648" y="3547872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SSPM-1001-P1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7168896" y="3566160"/>
            <a:ext cx="1444751" cy="146303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7168896" y="3566160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164592" y="3739896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164592" y="3739896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56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75488" y="3739896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CrowdStrike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2084832" y="3739896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CrowdStrike - Global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4005072" y="3739896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4828032" y="373989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5577840" y="373989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327648" y="3739896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SSPM-1001-NP1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7168896" y="3758183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7168896" y="3758183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164592" y="3931920"/>
            <a:ext cx="8467344" cy="173736"/>
          </a:xfrm>
          <a:prstGeom prst="rect">
            <a:avLst/>
          </a:prstGeom>
          <a:solidFill>
            <a:srgbClr val="F0F4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164592" y="3931920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57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75488" y="3931920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Proofpoint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2084832" y="3931920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Proofpoint - APAC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005072" y="3931920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28032" y="393192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5577840" y="393192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6327648" y="3931920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SSPM-1101-P1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7168896" y="3950207"/>
            <a:ext cx="1444751" cy="146303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7168896" y="3950207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164592" y="4123944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164592" y="4123944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58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475488" y="4123944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Proofpoint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2084832" y="4123944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Proofpoint - EMEA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4005072" y="4123944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4828032" y="412394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5577840" y="412394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6327648" y="4123944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SSPM-1102-P1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7168896" y="4142231"/>
            <a:ext cx="1444751" cy="146303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7168896" y="4142231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211" name="Rectangle 210"/>
          <p:cNvSpPr/>
          <p:nvPr/>
        </p:nvSpPr>
        <p:spPr>
          <a:xfrm>
            <a:off x="164592" y="4315968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164592" y="4315968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59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475488" y="4315968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Proofpoint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2084832" y="4315968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Proofpoint - NA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4005072" y="4315968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4828032" y="431596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5577840" y="431596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6327648" y="4315968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SSPM-1103-P1</a:t>
            </a:r>
          </a:p>
        </p:txBody>
      </p:sp>
      <p:sp>
        <p:nvSpPr>
          <p:cNvPr id="219" name="Rectangle 218"/>
          <p:cNvSpPr/>
          <p:nvPr/>
        </p:nvSpPr>
        <p:spPr>
          <a:xfrm>
            <a:off x="7168896" y="4334255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7168896" y="4334255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221" name="Rectangle 220"/>
          <p:cNvSpPr/>
          <p:nvPr/>
        </p:nvSpPr>
        <p:spPr>
          <a:xfrm>
            <a:off x="164592" y="4507992"/>
            <a:ext cx="8467344" cy="173736"/>
          </a:xfrm>
          <a:prstGeom prst="rect">
            <a:avLst/>
          </a:prstGeom>
          <a:solidFill>
            <a:srgbClr val="F1F5F9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164592" y="4507992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60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475488" y="4507992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Mimecast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2084832" y="4507992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Mimecast - APAC Prod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4005072" y="4507992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4828032" y="450799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5577840" y="450799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6327648" y="4507992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SSPM-1201-P1</a:t>
            </a:r>
          </a:p>
        </p:txBody>
      </p:sp>
      <p:sp>
        <p:nvSpPr>
          <p:cNvPr id="229" name="Rectangle 228"/>
          <p:cNvSpPr/>
          <p:nvPr/>
        </p:nvSpPr>
        <p:spPr>
          <a:xfrm>
            <a:off x="7168896" y="4526279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TextBox 229"/>
          <p:cNvSpPr txBox="1"/>
          <p:nvPr/>
        </p:nvSpPr>
        <p:spPr>
          <a:xfrm>
            <a:off x="7168896" y="4526279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231" name="Rectangle 230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TextBox 231"/>
          <p:cNvSpPr txBox="1"/>
          <p:nvPr/>
        </p:nvSpPr>
        <p:spPr>
          <a:xfrm>
            <a:off x="274320" y="4892040"/>
            <a:ext cx="8595360" cy="228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1">
                <a:solidFill>
                  <a:srgbClr val="CBD5E1"/>
                </a:solidFill>
                <a:latin typeface="Calibri"/>
              </a:rPr>
              <a:t>[ Add your org footer here ]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54864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54864"/>
            <a:ext cx="758952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SSPM Initiative  |  Appendix — Application Instance Detail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Pg 4/8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" y="621792"/>
            <a:ext cx="256031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64592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9456" y="621792"/>
            <a:ext cx="201167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#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" y="621792"/>
            <a:ext cx="1591056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3776" y="621792"/>
            <a:ext cx="1536192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Application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48256" y="621792"/>
            <a:ext cx="1901952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48256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03120" y="621792"/>
            <a:ext cx="1847088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Instance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68496" y="621792"/>
            <a:ext cx="804672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968496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23359" y="621792"/>
            <a:ext cx="749808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App ID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456" y="621792"/>
            <a:ext cx="731519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791456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46320" y="621792"/>
            <a:ext cx="676656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Phase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541264" y="621792"/>
            <a:ext cx="731519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541264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596128" y="621792"/>
            <a:ext cx="676656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Env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91072" y="621792"/>
            <a:ext cx="841247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91072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45936" y="621792"/>
            <a:ext cx="786384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Sub-task Key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150608" y="621792"/>
            <a:ext cx="1481328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150608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05472" y="621792"/>
            <a:ext cx="1426463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Status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64592" y="859536"/>
            <a:ext cx="8467344" cy="173736"/>
          </a:xfrm>
          <a:prstGeom prst="rect">
            <a:avLst/>
          </a:prstGeom>
          <a:solidFill>
            <a:srgbClr val="F0F4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4592" y="859536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61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5488" y="859536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Mimecast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084832" y="859536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Mimecast - APAC Prod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05072" y="859536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28032" y="85953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77840" y="85953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27648" y="859536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SSPM-1201-NP1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168896" y="877824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168896" y="877824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64592" y="1051560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64592" y="1051560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62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75488" y="1051560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Mimecast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084832" y="1051560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Mimecast - EMEA Prod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005072" y="1051560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28032" y="105156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577840" y="105156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27648" y="1051560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SSPM-1202-P1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168896" y="1069848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168896" y="1069848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64592" y="1243584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64592" y="1243584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63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5488" y="1243584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Mimecast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084832" y="1243584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Mimecast - EMEA Prod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005072" y="1243584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28032" y="124358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124358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27648" y="1243584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SSPM-1202-NP1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168896" y="1261872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168896" y="1261872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64592" y="1435608"/>
            <a:ext cx="8467344" cy="173736"/>
          </a:xfrm>
          <a:prstGeom prst="rect">
            <a:avLst/>
          </a:prstGeom>
          <a:solidFill>
            <a:srgbClr val="F1F5F9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64592" y="1435608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64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75488" y="1435608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Qualys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084832" y="1435608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Qualys - Global Prod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005072" y="1435608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28032" y="143560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577840" y="143560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27648" y="1435608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SSPM-1301-P1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168896" y="1453896"/>
            <a:ext cx="1444751" cy="146303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168896" y="1453896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64592" y="1627632"/>
            <a:ext cx="8467344" cy="173736"/>
          </a:xfrm>
          <a:prstGeom prst="rect">
            <a:avLst/>
          </a:prstGeom>
          <a:solidFill>
            <a:srgbClr val="F0F4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64592" y="1627632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65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5488" y="1627632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Rapid7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084832" y="1627632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Rapid7 - APAC Prod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005072" y="1627632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28032" y="162763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577840" y="162763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327648" y="1627632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SSPM-1401-P1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168896" y="1645920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168896" y="1645920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64592" y="1819656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64592" y="1819656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66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75488" y="1819656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Rapid7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084832" y="1819656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Rapid7 - NA Prod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005072" y="1819656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828032" y="181965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577840" y="181965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27648" y="1819656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SSPM-1402-P1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168896" y="1837944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168896" y="1837944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64592" y="2011680"/>
            <a:ext cx="8467344" cy="173736"/>
          </a:xfrm>
          <a:prstGeom prst="rect">
            <a:avLst/>
          </a:prstGeom>
          <a:solidFill>
            <a:srgbClr val="F0F4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164592" y="2011680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67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75488" y="2011680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Tenable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084832" y="2011680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Tenable - APAC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005072" y="2011680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828032" y="201168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577840" y="201168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327648" y="2011680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SSPM-1501-P1</a:t>
            </a:r>
          </a:p>
        </p:txBody>
      </p:sp>
      <p:sp>
        <p:nvSpPr>
          <p:cNvPr id="99" name="Rectangle 98"/>
          <p:cNvSpPr/>
          <p:nvPr/>
        </p:nvSpPr>
        <p:spPr>
          <a:xfrm>
            <a:off x="7168896" y="2029968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168896" y="2029968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64592" y="2203704"/>
            <a:ext cx="8467344" cy="173736"/>
          </a:xfrm>
          <a:prstGeom prst="rect">
            <a:avLst/>
          </a:prstGeom>
          <a:solidFill>
            <a:srgbClr val="F1F5F9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64592" y="2203704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68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75488" y="2203704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Varonis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084832" y="2203704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Varonis - NA Prod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005072" y="2203704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28032" y="220370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577840" y="220370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327648" y="2203704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SSPM-1601-P1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7168896" y="2221992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7168896" y="2221992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164592" y="2395728"/>
            <a:ext cx="8467344" cy="173736"/>
          </a:xfrm>
          <a:prstGeom prst="rect">
            <a:avLst/>
          </a:prstGeom>
          <a:solidFill>
            <a:srgbClr val="F0F4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164592" y="2395728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69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75488" y="2395728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SailPoint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084832" y="2395728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SailPoint - APAC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005072" y="2395728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828032" y="239572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577840" y="239572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6327648" y="2395728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SSPM-1701-P1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7168896" y="2414016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7168896" y="2414016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164592" y="2587752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164592" y="2587752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70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75488" y="2587752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SailPoint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084832" y="2587752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SailPoint - APAC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005072" y="2587752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28032" y="258775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258775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327648" y="2587752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SSPM-1701-NP1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7168896" y="2606040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7168896" y="2606040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164592" y="2779776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164592" y="2779776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71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75488" y="2779776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SailPoint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2084832" y="2779776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SailPoint - EMEA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4005072" y="2779776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28032" y="277977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5577840" y="277977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27648" y="2779776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SSPM-1702-P1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7168896" y="2798064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7168896" y="2798064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164592" y="2971800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164592" y="2971800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72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475488" y="2971800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SailPoint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2084832" y="2971800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SailPoint - EMEA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4005072" y="2971800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4828032" y="297180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5577840" y="297180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6327648" y="2971800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SSPM-1702-NP1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7168896" y="2990088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7168896" y="2990088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164592" y="3163824"/>
            <a:ext cx="8467344" cy="173736"/>
          </a:xfrm>
          <a:prstGeom prst="rect">
            <a:avLst/>
          </a:prstGeom>
          <a:solidFill>
            <a:srgbClr val="F0F4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164592" y="3163824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73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475488" y="3163824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BeyondTrust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2084832" y="3163824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BeyondTrust - Global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005072" y="3163824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4828032" y="316382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5577840" y="316382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327648" y="3163824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SSPM-1801-P1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7168896" y="3182112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7168896" y="3182112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164592" y="3355848"/>
            <a:ext cx="8467344" cy="173736"/>
          </a:xfrm>
          <a:prstGeom prst="rect">
            <a:avLst/>
          </a:prstGeom>
          <a:solidFill>
            <a:srgbClr val="F1F5F9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164592" y="3355848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74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75488" y="3355848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Box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2084832" y="3355848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Box - APAC Prod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4005072" y="3355848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28032" y="335584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5577840" y="335584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327648" y="3355848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SSPM-2001-P1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7168896" y="3374136"/>
            <a:ext cx="1444751" cy="146303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7168896" y="3374136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164592" y="3547872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164592" y="3547872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75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75488" y="3547872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Box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2084832" y="3547872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Box - APAC Prod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005072" y="3547872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4828032" y="354787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5577840" y="354787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27648" y="3547872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SSPM-2001-NP1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7168896" y="3566160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7168896" y="3566160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164592" y="3739896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164592" y="3739896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76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75488" y="3739896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Box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2084832" y="3739896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Box - EMEA Prod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4005072" y="3739896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4828032" y="373989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5577840" y="373989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327648" y="3739896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SSPM-2002-P1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7168896" y="3758183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7168896" y="3758183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164592" y="3931920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164592" y="3931920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77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75488" y="3931920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Box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2084832" y="3931920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Box - EMEA Prod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005072" y="3931920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28032" y="393192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5577840" y="393192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6327648" y="3931920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SSPM-2002-NP1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7168896" y="3950207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7168896" y="3950207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164592" y="4123944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164592" y="4123944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78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475488" y="4123944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Box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2084832" y="4123944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Box - NA Prod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4005072" y="4123944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4828032" y="412394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5577840" y="412394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6327648" y="4123944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SSPM-2003-P1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7168896" y="4142231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7168896" y="4142231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211" name="Rectangle 210"/>
          <p:cNvSpPr/>
          <p:nvPr/>
        </p:nvSpPr>
        <p:spPr>
          <a:xfrm>
            <a:off x="164592" y="4315968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164592" y="4315968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79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475488" y="4315968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Box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2084832" y="4315968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Box - NA Prod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4005072" y="4315968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4828032" y="431596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5577840" y="431596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6327648" y="4315968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SSPM-2003-NP1</a:t>
            </a:r>
          </a:p>
        </p:txBody>
      </p:sp>
      <p:sp>
        <p:nvSpPr>
          <p:cNvPr id="219" name="Rectangle 218"/>
          <p:cNvSpPr/>
          <p:nvPr/>
        </p:nvSpPr>
        <p:spPr>
          <a:xfrm>
            <a:off x="7168896" y="4334255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7168896" y="4334255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221" name="Rectangle 220"/>
          <p:cNvSpPr/>
          <p:nvPr/>
        </p:nvSpPr>
        <p:spPr>
          <a:xfrm>
            <a:off x="164592" y="4507992"/>
            <a:ext cx="8467344" cy="173736"/>
          </a:xfrm>
          <a:prstGeom prst="rect">
            <a:avLst/>
          </a:prstGeom>
          <a:solidFill>
            <a:srgbClr val="F1F5F9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164592" y="4507992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80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475488" y="4507992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Dropbox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2084832" y="4507992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Dropbox - APAC Prod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4005072" y="4507992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4828032" y="450799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5577840" y="450799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6327648" y="4507992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SSPM-2101-P1</a:t>
            </a:r>
          </a:p>
        </p:txBody>
      </p:sp>
      <p:sp>
        <p:nvSpPr>
          <p:cNvPr id="229" name="Rectangle 228"/>
          <p:cNvSpPr/>
          <p:nvPr/>
        </p:nvSpPr>
        <p:spPr>
          <a:xfrm>
            <a:off x="7168896" y="4526279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TextBox 229"/>
          <p:cNvSpPr txBox="1"/>
          <p:nvPr/>
        </p:nvSpPr>
        <p:spPr>
          <a:xfrm>
            <a:off x="7168896" y="4526279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231" name="Rectangle 230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TextBox 231"/>
          <p:cNvSpPr txBox="1"/>
          <p:nvPr/>
        </p:nvSpPr>
        <p:spPr>
          <a:xfrm>
            <a:off x="274320" y="4892040"/>
            <a:ext cx="8595360" cy="228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1">
                <a:solidFill>
                  <a:srgbClr val="CBD5E1"/>
                </a:solidFill>
                <a:latin typeface="Calibri"/>
              </a:rPr>
              <a:t>[ Add your org footer here ]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54864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54864"/>
            <a:ext cx="758952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SSPM Initiative  |  Appendix — Application Instance Detail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Pg 5/8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" y="621792"/>
            <a:ext cx="256031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64592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9456" y="621792"/>
            <a:ext cx="201167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#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" y="621792"/>
            <a:ext cx="1591056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3776" y="621792"/>
            <a:ext cx="1536192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Application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48256" y="621792"/>
            <a:ext cx="1901952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48256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03120" y="621792"/>
            <a:ext cx="1847088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Instance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68496" y="621792"/>
            <a:ext cx="804672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968496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23359" y="621792"/>
            <a:ext cx="749808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App ID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456" y="621792"/>
            <a:ext cx="731519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791456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46320" y="621792"/>
            <a:ext cx="676656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Phase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541264" y="621792"/>
            <a:ext cx="731519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541264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596128" y="621792"/>
            <a:ext cx="676656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Env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91072" y="621792"/>
            <a:ext cx="841247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91072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45936" y="621792"/>
            <a:ext cx="786384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Sub-task Key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150608" y="621792"/>
            <a:ext cx="1481328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150608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05472" y="621792"/>
            <a:ext cx="1426463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Status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64592" y="859536"/>
            <a:ext cx="8467344" cy="173736"/>
          </a:xfrm>
          <a:prstGeom prst="rect">
            <a:avLst/>
          </a:prstGeom>
          <a:solidFill>
            <a:srgbClr val="F0F4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4592" y="859536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81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5488" y="859536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Dropbox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084832" y="859536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Dropbox - NA Prod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05072" y="859536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28032" y="85953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77840" y="85953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27648" y="859536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SSPM-2102-P1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168896" y="877824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168896" y="877824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64592" y="1051560"/>
            <a:ext cx="8467344" cy="173736"/>
          </a:xfrm>
          <a:prstGeom prst="rect">
            <a:avLst/>
          </a:prstGeom>
          <a:solidFill>
            <a:srgbClr val="F1F5F9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64592" y="1051560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82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75488" y="1051560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Atlassian (Jira/Confluence)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084832" y="1051560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Atlassian - APAC Prod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005072" y="1051560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28032" y="105156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577840" y="105156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27648" y="1051560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SSPM-2201-P1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168896" y="1069848"/>
            <a:ext cx="1444751" cy="146303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168896" y="1069848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64592" y="1243584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64592" y="1243584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83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5488" y="1243584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Atlassian (Jira/Confluence)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084832" y="1243584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Atlassian - APAC Prod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005072" y="1243584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28032" y="124358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124358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27648" y="1243584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SSPM-2201-NP1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168896" y="1261872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168896" y="1261872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64592" y="1435608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64592" y="1435608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84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75488" y="1435608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Atlassian (Jira/Confluence)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084832" y="1435608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Atlassian - EMEA Prod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005072" y="1435608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28032" y="143560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577840" y="143560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27648" y="1435608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SSPM-2202-P1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168896" y="1453896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168896" y="1453896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64592" y="1627632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64592" y="1627632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85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5488" y="1627632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Atlassian (Jira/Confluence)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084832" y="1627632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Atlassian - EMEA Prod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005072" y="1627632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28032" y="162763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577840" y="162763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327648" y="1627632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SSPM-2202-NP1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168896" y="1645920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168896" y="1645920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64592" y="1819656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64592" y="1819656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86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75488" y="1819656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Atlassian (Jira/Confluence)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084832" y="1819656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Atlassian - NA Prod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005072" y="1819656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828032" y="181965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577840" y="181965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27648" y="1819656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SSPM-2203-P1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168896" y="1837944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168896" y="1837944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64592" y="2011680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164592" y="2011680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87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75488" y="2011680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Atlassian (Jira/Confluence)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084832" y="2011680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Atlassian - NA Prod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005072" y="2011680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828032" y="201168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577840" y="201168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327648" y="2011680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SSPM-2203-NP1</a:t>
            </a:r>
          </a:p>
        </p:txBody>
      </p:sp>
      <p:sp>
        <p:nvSpPr>
          <p:cNvPr id="99" name="Rectangle 98"/>
          <p:cNvSpPr/>
          <p:nvPr/>
        </p:nvSpPr>
        <p:spPr>
          <a:xfrm>
            <a:off x="7168896" y="2029968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168896" y="2029968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64592" y="2203704"/>
            <a:ext cx="8467344" cy="173736"/>
          </a:xfrm>
          <a:prstGeom prst="rect">
            <a:avLst/>
          </a:prstGeom>
          <a:solidFill>
            <a:srgbClr val="F1F5F9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64592" y="2203704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88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75488" y="2203704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Zendesk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084832" y="2203704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Zendesk - APAC Prod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005072" y="2203704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28032" y="220370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577840" y="220370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327648" y="2203704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SSPM-2301-P1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7168896" y="2221992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7168896" y="2221992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164592" y="2395728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164592" y="2395728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89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75488" y="2395728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Zendesk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084832" y="2395728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Zendesk - APAC Prod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005072" y="2395728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828032" y="239572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577840" y="239572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6327648" y="2395728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SSPM-2301-NP1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7168896" y="2414016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7168896" y="2414016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164592" y="2587752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164592" y="2587752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90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75488" y="2587752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Zendesk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084832" y="2587752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Zendesk - Global Prod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005072" y="2587752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28032" y="258775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258775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327648" y="2587752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SSPM-2302-P1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7168896" y="2606040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7168896" y="2606040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164592" y="2779776"/>
            <a:ext cx="8467344" cy="173736"/>
          </a:xfrm>
          <a:prstGeom prst="rect">
            <a:avLst/>
          </a:prstGeom>
          <a:solidFill>
            <a:srgbClr val="F0F4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164592" y="2779776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91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75488" y="2779776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DocuSign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2084832" y="2779776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DocuSign - APAC Prod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4005072" y="2779776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28032" y="277977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5577840" y="277977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27648" y="2779776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SSPM-2401-P1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7168896" y="2798064"/>
            <a:ext cx="1444751" cy="146303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7168896" y="2798064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164592" y="2971800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164592" y="2971800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92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475488" y="2971800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DocuSign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2084832" y="2971800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DocuSign - APAC Prod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4005072" y="2971800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4828032" y="297180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5577840" y="297180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6327648" y="2971800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SSPM-2401-NP1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7168896" y="2990088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7168896" y="2990088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164592" y="3163824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164592" y="3163824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93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475488" y="3163824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DocuSign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2084832" y="3163824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DocuSign - NA Prod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005072" y="3163824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4828032" y="316382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5577840" y="316382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327648" y="3163824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SSPM-2402-P1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7168896" y="3182112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7168896" y="3182112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164592" y="3355848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164592" y="3355848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94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75488" y="3355848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DocuSign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2084832" y="3355848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DocuSign - NA Prod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4005072" y="3355848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28032" y="335584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5577840" y="335584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327648" y="3355848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SSPM-2402-NP1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7168896" y="3374136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7168896" y="3374136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164592" y="3547872"/>
            <a:ext cx="8467344" cy="173736"/>
          </a:xfrm>
          <a:prstGeom prst="rect">
            <a:avLst/>
          </a:prstGeom>
          <a:solidFill>
            <a:srgbClr val="F0F4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164592" y="3547872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95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75488" y="3547872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HubSpot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2084832" y="3547872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HubSpot - APAC Prod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005072" y="3547872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4828032" y="354787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5577840" y="354787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27648" y="3547872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SSPM-2501-P1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7168896" y="3566160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7168896" y="3566160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164592" y="3739896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164592" y="3739896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96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75488" y="3739896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HubSpot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2084832" y="3739896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HubSpot - APAC Prod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4005072" y="3739896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4828032" y="373989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5577840" y="373989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327648" y="3739896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SSPM-2501-NP1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7168896" y="3758183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7168896" y="3758183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164592" y="3931920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164592" y="3931920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97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75488" y="3931920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HubSpot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2084832" y="3931920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HubSpot - NA Prod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005072" y="3931920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28032" y="393192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5577840" y="393192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6327648" y="3931920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SSPM-2502-P1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7168896" y="3950207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7168896" y="3950207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164592" y="4123944"/>
            <a:ext cx="8467344" cy="173736"/>
          </a:xfrm>
          <a:prstGeom prst="rect">
            <a:avLst/>
          </a:prstGeom>
          <a:solidFill>
            <a:srgbClr val="F1F5F9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164592" y="4123944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98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475488" y="4123944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Tableau / Salesforce Analytics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2084832" y="4123944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Tableau - APAC Prod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4005072" y="4123944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4828032" y="412394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5577840" y="412394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6327648" y="4123944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SSPM-2601-P1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7168896" y="4142231"/>
            <a:ext cx="1444751" cy="146303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7168896" y="4142231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211" name="Rectangle 210"/>
          <p:cNvSpPr/>
          <p:nvPr/>
        </p:nvSpPr>
        <p:spPr>
          <a:xfrm>
            <a:off x="164592" y="4315968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164592" y="4315968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99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475488" y="4315968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Tableau / Salesforce Analytics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2084832" y="4315968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Tableau - APAC Prod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4005072" y="4315968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4828032" y="431596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5577840" y="431596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6327648" y="4315968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SSPM-2601-NP1</a:t>
            </a:r>
          </a:p>
        </p:txBody>
      </p:sp>
      <p:sp>
        <p:nvSpPr>
          <p:cNvPr id="219" name="Rectangle 218"/>
          <p:cNvSpPr/>
          <p:nvPr/>
        </p:nvSpPr>
        <p:spPr>
          <a:xfrm>
            <a:off x="7168896" y="4334255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7168896" y="4334255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221" name="Rectangle 220"/>
          <p:cNvSpPr/>
          <p:nvPr/>
        </p:nvSpPr>
        <p:spPr>
          <a:xfrm>
            <a:off x="164592" y="4507992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164592" y="4507992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100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475488" y="4507992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Tableau / Salesforce Analytics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2084832" y="4507992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Tableau - EMEA Prod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4005072" y="4507992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4828032" y="450799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5577840" y="450799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6327648" y="4507992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SSPM-2602-P1</a:t>
            </a:r>
          </a:p>
        </p:txBody>
      </p:sp>
      <p:sp>
        <p:nvSpPr>
          <p:cNvPr id="229" name="Rectangle 228"/>
          <p:cNvSpPr/>
          <p:nvPr/>
        </p:nvSpPr>
        <p:spPr>
          <a:xfrm>
            <a:off x="7168896" y="4526279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TextBox 229"/>
          <p:cNvSpPr txBox="1"/>
          <p:nvPr/>
        </p:nvSpPr>
        <p:spPr>
          <a:xfrm>
            <a:off x="7168896" y="4526279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231" name="Rectangle 230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TextBox 231"/>
          <p:cNvSpPr txBox="1"/>
          <p:nvPr/>
        </p:nvSpPr>
        <p:spPr>
          <a:xfrm>
            <a:off x="274320" y="4892040"/>
            <a:ext cx="8595360" cy="228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1">
                <a:solidFill>
                  <a:srgbClr val="CBD5E1"/>
                </a:solidFill>
                <a:latin typeface="Calibri"/>
              </a:rPr>
              <a:t>[ Add your org footer here ]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54864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54864"/>
            <a:ext cx="758952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SSPM Initiative  |  Appendix — Application Instance Detail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Pg 6/8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" y="621792"/>
            <a:ext cx="256031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64592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9456" y="621792"/>
            <a:ext cx="201167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#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" y="621792"/>
            <a:ext cx="1591056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3776" y="621792"/>
            <a:ext cx="1536192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Application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48256" y="621792"/>
            <a:ext cx="1901952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48256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03120" y="621792"/>
            <a:ext cx="1847088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Instance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68496" y="621792"/>
            <a:ext cx="804672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968496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23359" y="621792"/>
            <a:ext cx="749808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App ID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456" y="621792"/>
            <a:ext cx="731519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791456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46320" y="621792"/>
            <a:ext cx="676656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Phase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541264" y="621792"/>
            <a:ext cx="731519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541264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596128" y="621792"/>
            <a:ext cx="676656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Env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91072" y="621792"/>
            <a:ext cx="841247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91072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45936" y="621792"/>
            <a:ext cx="786384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Sub-task Key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150608" y="621792"/>
            <a:ext cx="1481328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150608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05472" y="621792"/>
            <a:ext cx="1426463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Status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64592" y="859536"/>
            <a:ext cx="8467344" cy="173736"/>
          </a:xfrm>
          <a:prstGeom prst="rect">
            <a:avLst/>
          </a:prstGeom>
          <a:solidFill>
            <a:srgbClr val="F0F4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4592" y="859536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101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5488" y="859536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Tableau / Salesforce Analytics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084832" y="859536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Tableau - EMEA Prod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05072" y="859536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28032" y="85953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77840" y="85953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27648" y="859536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SSPM-2602-NP1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168896" y="877824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168896" y="877824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64592" y="1051560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64592" y="1051560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102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75488" y="1051560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Tableau / Salesforce Analytics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084832" y="1051560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Tableau - NA Prod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005072" y="1051560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28032" y="105156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577840" y="105156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27648" y="1051560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SSPM-2603-P1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168896" y="1069848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168896" y="1069848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64592" y="1243584"/>
            <a:ext cx="8467344" cy="173736"/>
          </a:xfrm>
          <a:prstGeom prst="rect">
            <a:avLst/>
          </a:prstGeom>
          <a:solidFill>
            <a:srgbClr val="F0F4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64592" y="1243584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103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5488" y="1243584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Coupa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084832" y="1243584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Coupa - APAC Prod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005072" y="1243584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28032" y="124358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124358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27648" y="1243584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SSPM-2701-P1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168896" y="1261872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168896" y="1261872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64592" y="1435608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64592" y="1435608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104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75488" y="1435608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Coupa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084832" y="1435608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Coupa - APAC Prod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005072" y="1435608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28032" y="143560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577840" y="143560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27648" y="1435608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SSPM-2701-NP1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168896" y="1453896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168896" y="1453896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64592" y="1627632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64592" y="1627632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105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5488" y="1627632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Coupa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084832" y="1627632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Coupa - NA Prod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005072" y="1627632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28032" y="162763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577840" y="162763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327648" y="1627632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SSPM-2702-P1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168896" y="1645920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168896" y="1645920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64592" y="1819656"/>
            <a:ext cx="8467344" cy="173736"/>
          </a:xfrm>
          <a:prstGeom prst="rect">
            <a:avLst/>
          </a:prstGeom>
          <a:solidFill>
            <a:srgbClr val="F1F5F9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64592" y="1819656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106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75488" y="1819656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Snowflake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084832" y="1819656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Snowflake - APAC Prod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005072" y="1819656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828032" y="181965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577840" y="181965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27648" y="1819656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SSPM-2801-P1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168896" y="1837944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168896" y="1837944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64592" y="2011680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164592" y="2011680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107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75488" y="2011680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Snowflake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084832" y="2011680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Snowflake - APAC Prod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005072" y="2011680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828032" y="201168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577840" y="201168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327648" y="2011680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SSPM-2801-NP1</a:t>
            </a:r>
          </a:p>
        </p:txBody>
      </p:sp>
      <p:sp>
        <p:nvSpPr>
          <p:cNvPr id="99" name="Rectangle 98"/>
          <p:cNvSpPr/>
          <p:nvPr/>
        </p:nvSpPr>
        <p:spPr>
          <a:xfrm>
            <a:off x="7168896" y="2029968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168896" y="2029968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64592" y="2203704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64592" y="2203704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108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75488" y="2203704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Snowflake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084832" y="2203704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Snowflake - NA Prod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005072" y="2203704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28032" y="220370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577840" y="220370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327648" y="2203704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SSPM-2802-P1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7168896" y="2221992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7168896" y="2221992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164592" y="2395728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164592" y="2395728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109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75488" y="2395728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Snowflake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084832" y="2395728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Snowflake - NA Prod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005072" y="2395728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828032" y="239572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577840" y="239572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6327648" y="2395728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SSPM-2802-NP1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7168896" y="2414016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7168896" y="2414016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164592" y="2587752"/>
            <a:ext cx="8467344" cy="173736"/>
          </a:xfrm>
          <a:prstGeom prst="rect">
            <a:avLst/>
          </a:prstGeom>
          <a:solidFill>
            <a:srgbClr val="F1F5F9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164592" y="2587752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110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75488" y="2587752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Splunk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084832" y="2587752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Splunk - Global Prod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005072" y="2587752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28032" y="258775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258775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327648" y="2587752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SSPM-2901-P1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7168896" y="2606040"/>
            <a:ext cx="1444751" cy="146303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7168896" y="2606040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164592" y="2779776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164592" y="2779776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111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75488" y="2779776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Splunk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2084832" y="2779776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Splunk - Global Prod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4005072" y="2779776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28032" y="277977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5577840" y="277977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27648" y="2779776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SSPM-2901-NP1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7168896" y="2798064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7168896" y="2798064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164592" y="2971800"/>
            <a:ext cx="8467344" cy="173736"/>
          </a:xfrm>
          <a:prstGeom prst="rect">
            <a:avLst/>
          </a:prstGeom>
          <a:solidFill>
            <a:srgbClr val="F1F5F9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164592" y="2971800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112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475488" y="2971800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Ariba / SAP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2084832" y="2971800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Ariba - APAC Prod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4005072" y="2971800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4828032" y="297180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5577840" y="297180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6327648" y="2971800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SSPM-3001-P1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7168896" y="2990088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7168896" y="2990088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164592" y="3163824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164592" y="3163824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113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475488" y="3163824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Ariba / SAP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2084832" y="3163824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Ariba - APAC Prod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005072" y="3163824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4828032" y="316382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5577840" y="316382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327648" y="3163824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SSPM-3001-NP1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7168896" y="3182112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7168896" y="3182112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164592" y="3355848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164592" y="3355848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114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75488" y="3355848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Ariba / SAP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2084832" y="3355848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Ariba - EMEA Prod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4005072" y="3355848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28032" y="335584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5577840" y="335584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327648" y="3355848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SSPM-3002-P1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7168896" y="3374136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7168896" y="3374136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164592" y="3547872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164592" y="3547872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115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75488" y="3547872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Ariba / SAP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2084832" y="3547872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Ariba - EMEA Prod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005072" y="3547872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4828032" y="354787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5577840" y="354787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27648" y="3547872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SSPM-3002-NP1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7168896" y="3566160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7168896" y="3566160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164592" y="3739896"/>
            <a:ext cx="8467344" cy="173736"/>
          </a:xfrm>
          <a:prstGeom prst="rect">
            <a:avLst/>
          </a:prstGeom>
          <a:solidFill>
            <a:srgbClr val="F1F5F9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164592" y="3739896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116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75488" y="3739896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Veeva Vault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2084832" y="3739896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Veeva - APAC Prod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4005072" y="3739896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4828032" y="373989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5577840" y="373989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327648" y="3739896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SSPM-3101-P1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7168896" y="3758183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7168896" y="3758183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164592" y="3931920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164592" y="3931920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117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75488" y="3931920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Veeva Vault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2084832" y="3931920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Veeva - NA Prod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005072" y="3931920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28032" y="393192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5577840" y="393192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6327648" y="3931920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SSPM-3102-P1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7168896" y="3950207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7168896" y="3950207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164592" y="4123944"/>
            <a:ext cx="8467344" cy="173736"/>
          </a:xfrm>
          <a:prstGeom prst="rect">
            <a:avLst/>
          </a:prstGeom>
          <a:solidFill>
            <a:srgbClr val="F1F5F9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164592" y="4123944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118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475488" y="4123944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Workiva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2084832" y="4123944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Workiva - Global Prod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4005072" y="4123944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4828032" y="412394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5577840" y="412394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6327648" y="4123944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SSPM-3201-P1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7168896" y="4142231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7168896" y="4142231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211" name="Rectangle 210"/>
          <p:cNvSpPr/>
          <p:nvPr/>
        </p:nvSpPr>
        <p:spPr>
          <a:xfrm>
            <a:off x="164592" y="4315968"/>
            <a:ext cx="8467344" cy="173736"/>
          </a:xfrm>
          <a:prstGeom prst="rect">
            <a:avLst/>
          </a:prstGeom>
          <a:solidFill>
            <a:srgbClr val="F0F4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164592" y="4315968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119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475488" y="4315968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NetSuite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2084832" y="4315968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NetSuite - APAC Prod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4005072" y="4315968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4828032" y="431596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5577840" y="431596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6327648" y="4315968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SSPM-3301-P1</a:t>
            </a:r>
          </a:p>
        </p:txBody>
      </p:sp>
      <p:sp>
        <p:nvSpPr>
          <p:cNvPr id="219" name="Rectangle 218"/>
          <p:cNvSpPr/>
          <p:nvPr/>
        </p:nvSpPr>
        <p:spPr>
          <a:xfrm>
            <a:off x="7168896" y="4334255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7168896" y="4334255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221" name="Rectangle 220"/>
          <p:cNvSpPr/>
          <p:nvPr/>
        </p:nvSpPr>
        <p:spPr>
          <a:xfrm>
            <a:off x="164592" y="4507992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164592" y="4507992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120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475488" y="4507992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NetSuite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2084832" y="4507992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NetSuite - NA Prod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4005072" y="4507992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4828032" y="450799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5577840" y="450799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6327648" y="4507992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SSPM-3302-P1</a:t>
            </a:r>
          </a:p>
        </p:txBody>
      </p:sp>
      <p:sp>
        <p:nvSpPr>
          <p:cNvPr id="229" name="Rectangle 228"/>
          <p:cNvSpPr/>
          <p:nvPr/>
        </p:nvSpPr>
        <p:spPr>
          <a:xfrm>
            <a:off x="7168896" y="4526279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TextBox 229"/>
          <p:cNvSpPr txBox="1"/>
          <p:nvPr/>
        </p:nvSpPr>
        <p:spPr>
          <a:xfrm>
            <a:off x="7168896" y="4526279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231" name="Rectangle 230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TextBox 231"/>
          <p:cNvSpPr txBox="1"/>
          <p:nvPr/>
        </p:nvSpPr>
        <p:spPr>
          <a:xfrm>
            <a:off x="274320" y="4892040"/>
            <a:ext cx="8595360" cy="228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1">
                <a:solidFill>
                  <a:srgbClr val="CBD5E1"/>
                </a:solidFill>
                <a:latin typeface="Calibri"/>
              </a:rPr>
              <a:t>[ Add your org footer here ]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54864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54864"/>
            <a:ext cx="758952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SSPM Initiative  |  Appendix — Application Instance Detail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Pg 7/8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" y="621792"/>
            <a:ext cx="256031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64592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9456" y="621792"/>
            <a:ext cx="201167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#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" y="621792"/>
            <a:ext cx="1591056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3776" y="621792"/>
            <a:ext cx="1536192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Application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48256" y="621792"/>
            <a:ext cx="1901952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48256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03120" y="621792"/>
            <a:ext cx="1847088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Instance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68496" y="621792"/>
            <a:ext cx="804672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968496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23359" y="621792"/>
            <a:ext cx="749808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App ID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456" y="621792"/>
            <a:ext cx="731519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791456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46320" y="621792"/>
            <a:ext cx="676656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Phase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541264" y="621792"/>
            <a:ext cx="731519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541264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596128" y="621792"/>
            <a:ext cx="676656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Env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91072" y="621792"/>
            <a:ext cx="841247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91072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45936" y="621792"/>
            <a:ext cx="786384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Sub-task Key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150608" y="621792"/>
            <a:ext cx="1481328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150608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05472" y="621792"/>
            <a:ext cx="1426463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Status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64592" y="859536"/>
            <a:ext cx="8467344" cy="173736"/>
          </a:xfrm>
          <a:prstGeom prst="rect">
            <a:avLst/>
          </a:prstGeom>
          <a:solidFill>
            <a:srgbClr val="F0F4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4592" y="859536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121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5488" y="859536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Anaplan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084832" y="859536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Anaplan - APAC Prod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05072" y="859536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28032" y="85953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77840" y="85953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27648" y="859536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SSPM-3401-P1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168896" y="877824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168896" y="877824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64592" y="1051560"/>
            <a:ext cx="8467344" cy="173736"/>
          </a:xfrm>
          <a:prstGeom prst="rect">
            <a:avLst/>
          </a:prstGeom>
          <a:solidFill>
            <a:srgbClr val="F1F5F9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64592" y="1051560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122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75488" y="1051560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Concur (SAP)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084832" y="1051560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Concur - Global Prod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005072" y="1051560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28032" y="105156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577840" y="105156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27648" y="1051560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SSPM-3501-P1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168896" y="1069848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168896" y="1069848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64592" y="1243584"/>
            <a:ext cx="8467344" cy="173736"/>
          </a:xfrm>
          <a:prstGeom prst="rect">
            <a:avLst/>
          </a:prstGeom>
          <a:solidFill>
            <a:srgbClr val="F0F4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64592" y="1243584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123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5488" y="1243584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Adobe Sign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084832" y="1243584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Adobe Sign - APAC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005072" y="1243584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28032" y="124358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124358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27648" y="1243584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SSPM-3601-P1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168896" y="1261872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168896" y="1261872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64592" y="1435608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64592" y="1435608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124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75488" y="1435608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Adobe Sign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084832" y="1435608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Adobe Sign - APAC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005072" y="1435608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28032" y="143560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577840" y="143560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27648" y="1435608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SSPM-3601-NP1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168896" y="1453896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168896" y="1453896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64592" y="1627632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64592" y="1627632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125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5488" y="1627632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Adobe Sign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084832" y="1627632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Adobe Sign - NA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005072" y="1627632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28032" y="162763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577840" y="162763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327648" y="1627632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SSPM-3602-P1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168896" y="1645920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168896" y="1645920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64592" y="1819656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64592" y="1819656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126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75488" y="1819656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Adobe Sign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084832" y="1819656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Adobe Sign - NA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005072" y="1819656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828032" y="181965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577840" y="181965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27648" y="1819656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SSPM-3602-NP1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168896" y="1837944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168896" y="1837944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64592" y="2011680"/>
            <a:ext cx="8467344" cy="173736"/>
          </a:xfrm>
          <a:prstGeom prst="rect">
            <a:avLst/>
          </a:prstGeom>
          <a:solidFill>
            <a:srgbClr val="F0F4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164592" y="2011680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75488" y="2011680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SuccessFactors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084832" y="2011680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SuccessFactors - APAC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005072" y="2011680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828032" y="201168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577840" y="201168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327648" y="2011680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SSPM-3701-P1</a:t>
            </a:r>
          </a:p>
        </p:txBody>
      </p:sp>
      <p:sp>
        <p:nvSpPr>
          <p:cNvPr id="99" name="Rectangle 98"/>
          <p:cNvSpPr/>
          <p:nvPr/>
        </p:nvSpPr>
        <p:spPr>
          <a:xfrm>
            <a:off x="7168896" y="2029968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168896" y="2029968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64592" y="2203704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64592" y="2203704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128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75488" y="2203704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SuccessFactors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084832" y="2203704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SuccessFactors - EMEA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005072" y="2203704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28032" y="220370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577840" y="220370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327648" y="2203704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SSPM-3702-P1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7168896" y="2221992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7168896" y="2221992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164592" y="2395728"/>
            <a:ext cx="8467344" cy="173736"/>
          </a:xfrm>
          <a:prstGeom prst="rect">
            <a:avLst/>
          </a:prstGeom>
          <a:solidFill>
            <a:srgbClr val="F0F4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164592" y="2395728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129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75488" y="2395728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Darktrace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084832" y="2395728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Darktrace - APAC Prod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005072" y="2395728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828032" y="239572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577840" y="239572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6327648" y="2395728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SSPM-3801-P1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7168896" y="2414016"/>
            <a:ext cx="1444751" cy="146303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7168896" y="2414016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164592" y="2587752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164592" y="2587752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130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75488" y="2587752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Darktrace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084832" y="2587752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Darktrace - APAC Prod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005072" y="2587752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28032" y="258775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258775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327648" y="2587752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SSPM-3801-NP1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7168896" y="2606040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7168896" y="2606040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164592" y="2779776"/>
            <a:ext cx="8467344" cy="173736"/>
          </a:xfrm>
          <a:prstGeom prst="rect">
            <a:avLst/>
          </a:prstGeom>
          <a:solidFill>
            <a:srgbClr val="F0F4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164592" y="2779776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131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75488" y="2779776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Elastic (ELK)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2084832" y="2779776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Elastic - Global Prod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4005072" y="2779776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28032" y="277977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5577840" y="277977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27648" y="2779776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SSPM-3901-P1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7168896" y="2798064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7168896" y="2798064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164592" y="2971800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164592" y="2971800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132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475488" y="2971800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Elastic (ELK)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2084832" y="2971800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Elastic - Global Prod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4005072" y="2971800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4828032" y="297180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5577840" y="297180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6327648" y="2971800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SSPM-3901-NP1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7168896" y="2990088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7168896" y="2990088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164592" y="3163824"/>
            <a:ext cx="8467344" cy="173736"/>
          </a:xfrm>
          <a:prstGeom prst="rect">
            <a:avLst/>
          </a:prstGeom>
          <a:solidFill>
            <a:srgbClr val="F0F4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164592" y="3163824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133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475488" y="3163824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PagerDuty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2084832" y="3163824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PagerDuty - Global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005072" y="3163824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4828032" y="316382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5577840" y="316382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327648" y="3163824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SSPM-4001-P1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7168896" y="3182112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7168896" y="3182112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164592" y="3355848"/>
            <a:ext cx="8467344" cy="173736"/>
          </a:xfrm>
          <a:prstGeom prst="rect">
            <a:avLst/>
          </a:prstGeom>
          <a:solidFill>
            <a:srgbClr val="F1F5F9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164592" y="3355848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134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75488" y="3355848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Dynatrace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2084832" y="3355848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Dynatrace - APAC Prod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4005072" y="3355848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28032" y="335584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5577840" y="335584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327648" y="3355848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SSPM-4101-P1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7168896" y="3374136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7168896" y="3374136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164592" y="3547872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164592" y="3547872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135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75488" y="3547872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Dynatrace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2084832" y="3547872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Dynatrace - APAC Prod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005072" y="3547872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4828032" y="354787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5577840" y="354787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27648" y="3547872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SSPM-4101-NP1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7168896" y="3566160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7168896" y="3566160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164592" y="3739896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164592" y="3739896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136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75488" y="3739896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Dynatrace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2084832" y="3739896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Dynatrace - NA Prod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4005072" y="3739896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4828032" y="373989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5577840" y="373989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327648" y="3739896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SSPM-4102-P1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7168896" y="3758183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7168896" y="3758183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164592" y="3931920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164592" y="3931920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137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75488" y="3931920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Dynatrace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2084832" y="3931920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Dynatrace - NA Prod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005072" y="3931920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28032" y="393192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5577840" y="393192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6327648" y="3931920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SSPM-4102-NP1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7168896" y="3950207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7168896" y="3950207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164592" y="4123944"/>
            <a:ext cx="8467344" cy="173736"/>
          </a:xfrm>
          <a:prstGeom prst="rect">
            <a:avLst/>
          </a:prstGeom>
          <a:solidFill>
            <a:srgbClr val="F1F5F9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164592" y="4123944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138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475488" y="4123944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Miro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2084832" y="4123944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Miro - Global Prod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4005072" y="4123944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4828032" y="412394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5577840" y="412394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6327648" y="4123944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SSPM-4201-P1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7168896" y="4142231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7168896" y="4142231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211" name="Rectangle 210"/>
          <p:cNvSpPr/>
          <p:nvPr/>
        </p:nvSpPr>
        <p:spPr>
          <a:xfrm>
            <a:off x="164592" y="4315968"/>
            <a:ext cx="8467344" cy="173736"/>
          </a:xfrm>
          <a:prstGeom prst="rect">
            <a:avLst/>
          </a:prstGeom>
          <a:solidFill>
            <a:srgbClr val="F0F4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164592" y="4315968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139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475488" y="4315968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Figma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2084832" y="4315968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Figma - Global Prod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4005072" y="4315968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4828032" y="431596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5577840" y="431596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6327648" y="4315968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SSPM-4301-P1</a:t>
            </a:r>
          </a:p>
        </p:txBody>
      </p:sp>
      <p:sp>
        <p:nvSpPr>
          <p:cNvPr id="219" name="Rectangle 218"/>
          <p:cNvSpPr/>
          <p:nvPr/>
        </p:nvSpPr>
        <p:spPr>
          <a:xfrm>
            <a:off x="7168896" y="4334255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7168896" y="4334255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221" name="Rectangle 220"/>
          <p:cNvSpPr/>
          <p:nvPr/>
        </p:nvSpPr>
        <p:spPr>
          <a:xfrm>
            <a:off x="164592" y="4507992"/>
            <a:ext cx="8467344" cy="173736"/>
          </a:xfrm>
          <a:prstGeom prst="rect">
            <a:avLst/>
          </a:prstGeom>
          <a:solidFill>
            <a:srgbClr val="F1F5F9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164592" y="4507992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140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475488" y="4507992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Notion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2084832" y="4507992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Notion - Global Prod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4005072" y="4507992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4828032" y="450799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5577840" y="450799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6327648" y="4507992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SSPM-4401-P1</a:t>
            </a:r>
          </a:p>
        </p:txBody>
      </p:sp>
      <p:sp>
        <p:nvSpPr>
          <p:cNvPr id="229" name="Rectangle 228"/>
          <p:cNvSpPr/>
          <p:nvPr/>
        </p:nvSpPr>
        <p:spPr>
          <a:xfrm>
            <a:off x="7168896" y="4526279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TextBox 229"/>
          <p:cNvSpPr txBox="1"/>
          <p:nvPr/>
        </p:nvSpPr>
        <p:spPr>
          <a:xfrm>
            <a:off x="7168896" y="4526279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231" name="Rectangle 230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TextBox 231"/>
          <p:cNvSpPr txBox="1"/>
          <p:nvPr/>
        </p:nvSpPr>
        <p:spPr>
          <a:xfrm>
            <a:off x="274320" y="4892040"/>
            <a:ext cx="8595360" cy="228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1">
                <a:solidFill>
                  <a:srgbClr val="CBD5E1"/>
                </a:solidFill>
                <a:latin typeface="Calibri"/>
              </a:rPr>
              <a:t>[ Add your org footer here ]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54864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54864"/>
            <a:ext cx="758952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SSPM Initiative  |  Appendix — Application Instance Detail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Pg 8/8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" y="621792"/>
            <a:ext cx="256031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64592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9456" y="621792"/>
            <a:ext cx="201167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#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" y="621792"/>
            <a:ext cx="1591056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3776" y="621792"/>
            <a:ext cx="1536192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Application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48256" y="621792"/>
            <a:ext cx="1901952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48256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03120" y="621792"/>
            <a:ext cx="1847088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Instance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68496" y="621792"/>
            <a:ext cx="804672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968496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23359" y="621792"/>
            <a:ext cx="749808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App ID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456" y="621792"/>
            <a:ext cx="731519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791456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46320" y="621792"/>
            <a:ext cx="676656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Phase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541264" y="621792"/>
            <a:ext cx="731519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541264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596128" y="621792"/>
            <a:ext cx="676656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Env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91072" y="621792"/>
            <a:ext cx="841247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91072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45936" y="621792"/>
            <a:ext cx="786384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Sub-task Key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150608" y="621792"/>
            <a:ext cx="1481328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150608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05472" y="621792"/>
            <a:ext cx="1426463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Status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64592" y="859536"/>
            <a:ext cx="8467344" cy="173736"/>
          </a:xfrm>
          <a:prstGeom prst="rect">
            <a:avLst/>
          </a:prstGeom>
          <a:solidFill>
            <a:srgbClr val="F0F4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4592" y="859536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141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5488" y="859536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monday.com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084832" y="859536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monday.com - APAC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05072" y="859536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28032" y="85953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77840" y="85953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27648" y="859536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SSPM-4501-P1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168896" y="877824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168896" y="877824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64592" y="1051560"/>
            <a:ext cx="8467344" cy="173736"/>
          </a:xfrm>
          <a:prstGeom prst="rect">
            <a:avLst/>
          </a:prstGeom>
          <a:solidFill>
            <a:srgbClr val="F1F5F9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64592" y="1051560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142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75488" y="1051560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Asana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084832" y="1051560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Asana - Global Prod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005072" y="1051560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28032" y="105156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577840" y="105156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27648" y="1051560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SSPM-4601-P1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168896" y="1069848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168896" y="1069848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64592" y="1243584"/>
            <a:ext cx="8467344" cy="173736"/>
          </a:xfrm>
          <a:prstGeom prst="rect">
            <a:avLst/>
          </a:prstGeom>
          <a:solidFill>
            <a:srgbClr val="F0F4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64592" y="1243584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143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5488" y="1243584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Jira Service Mgmt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084832" y="1243584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JSM - APAC Prod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005072" y="1243584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28032" y="124358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124358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27648" y="1243584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SSPM-4701-P1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168896" y="1261872"/>
            <a:ext cx="1444751" cy="146303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168896" y="1261872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64592" y="1435608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64592" y="1435608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144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75488" y="1435608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Jira Service Mgmt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084832" y="1435608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JSM - APAC Prod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005072" y="1435608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28032" y="143560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577840" y="143560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27648" y="1435608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SSPM-4701-NP1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168896" y="1453896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168896" y="1453896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64592" y="1627632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64592" y="1627632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145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5488" y="1627632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Jira Service Mgmt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084832" y="1627632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JSM - NA Prod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005072" y="1627632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28032" y="162763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577840" y="162763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327648" y="1627632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SSPM-4702-P1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168896" y="1645920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168896" y="1645920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64592" y="1819656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64592" y="1819656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146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75488" y="1819656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Jira Service Mgmt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084832" y="1819656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JSM - NA Prod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005072" y="1819656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828032" y="181965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577840" y="181965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27648" y="1819656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SSPM-4702-NP1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168896" y="1837944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168896" y="1837944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64592" y="2011680"/>
            <a:ext cx="8467344" cy="173736"/>
          </a:xfrm>
          <a:prstGeom prst="rect">
            <a:avLst/>
          </a:prstGeom>
          <a:solidFill>
            <a:srgbClr val="F0F4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164592" y="2011680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147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75488" y="2011680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Freshdesk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084832" y="2011680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Freshdesk - APAC Prod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005072" y="2011680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828032" y="201168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577840" y="201168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327648" y="2011680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SSPM-4801-P1</a:t>
            </a:r>
          </a:p>
        </p:txBody>
      </p:sp>
      <p:sp>
        <p:nvSpPr>
          <p:cNvPr id="99" name="Rectangle 98"/>
          <p:cNvSpPr/>
          <p:nvPr/>
        </p:nvSpPr>
        <p:spPr>
          <a:xfrm>
            <a:off x="7168896" y="2029968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168896" y="2029968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64592" y="2203704"/>
            <a:ext cx="8467344" cy="173736"/>
          </a:xfrm>
          <a:prstGeom prst="rect">
            <a:avLst/>
          </a:prstGeom>
          <a:solidFill>
            <a:srgbClr val="F1F5F9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64592" y="2203704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148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75488" y="2203704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Intercom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084832" y="2203704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Intercom - Global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005072" y="2203704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28032" y="220370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577840" y="220370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327648" y="2203704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SSPM-4901-P1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7168896" y="2221992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7168896" y="2221992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164592" y="2395728"/>
            <a:ext cx="8467344" cy="173736"/>
          </a:xfrm>
          <a:prstGeom prst="rect">
            <a:avLst/>
          </a:prstGeom>
          <a:solidFill>
            <a:srgbClr val="F0F4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164592" y="2395728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149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75488" y="2395728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Twilio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084832" y="2395728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Twilio - APAC Prod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005072" y="2395728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828032" y="239572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577840" y="239572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6327648" y="2395728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SSPM-5001-P1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7168896" y="2414016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7168896" y="2414016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164592" y="2587752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164592" y="2587752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150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75488" y="2587752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Twilio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084832" y="2587752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Twilio - NA Prod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005072" y="2587752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28032" y="258775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258775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327648" y="2587752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SSPM-5002-P1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7168896" y="2606040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7168896" y="2606040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164592" y="2779776"/>
            <a:ext cx="8467344" cy="173736"/>
          </a:xfrm>
          <a:prstGeom prst="rect">
            <a:avLst/>
          </a:prstGeom>
          <a:solidFill>
            <a:srgbClr val="F0F4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164592" y="2779776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151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75488" y="2779776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SendGrid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2084832" y="2779776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SendGrid - Global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4005072" y="2779776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28032" y="277977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5577840" y="277977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27648" y="2779776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SSPM-5101-P1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7168896" y="2798064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7168896" y="2798064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274320" y="4892040"/>
            <a:ext cx="8595360" cy="228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1">
                <a:solidFill>
                  <a:srgbClr val="CBD5E1"/>
                </a:solidFill>
                <a:latin typeface="Calibri"/>
              </a:rPr>
              <a:t>[ Add your org footer here 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