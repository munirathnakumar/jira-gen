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SSPM Integration — Summary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603504"/>
            <a:ext cx="8814816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50" b="1" i="0">
                <a:solidFill>
                  <a:srgbClr val="64748B"/>
                </a:solidFill>
                <a:latin typeface="Calibri"/>
              </a:rPr>
              <a:t>UNIQUE APPLICATIONS — BY PHASE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4592" y="768096"/>
            <a:ext cx="8814816" cy="0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64592" y="804672"/>
            <a:ext cx="1353312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804672"/>
            <a:ext cx="45720" cy="10972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841248"/>
            <a:ext cx="1225295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7DD3FC"/>
                </a:solidFill>
                <a:latin typeface="Calibri"/>
              </a:rPr>
              <a:t>All Phases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987552"/>
            <a:ext cx="122529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298448"/>
            <a:ext cx="1225295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00" b="0" i="0">
                <a:solidFill>
                  <a:srgbClr val="94A3B8"/>
                </a:solidFill>
                <a:latin typeface="Calibri"/>
              </a:rPr>
              <a:t>Applications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1426464"/>
            <a:ext cx="1225295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0" i="0">
                <a:solidFill>
                  <a:srgbClr val="7DD3FC"/>
                </a:solidFill>
                <a:latin typeface="Calibri"/>
              </a:rPr>
              <a:t>50 in-scope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1536192"/>
            <a:ext cx="1225295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0" i="0">
                <a:solidFill>
                  <a:srgbClr val="7DD3FC"/>
                </a:solidFill>
                <a:latin typeface="Calibri"/>
              </a:rPr>
              <a:t>621 instances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63624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63624" y="804672"/>
            <a:ext cx="45720" cy="10972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50084" y="850392"/>
            <a:ext cx="914400" cy="146304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0084" y="850392"/>
            <a:ext cx="914400" cy="1463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50" b="1" i="0">
                <a:solidFill>
                  <a:srgbClr val="166534"/>
                </a:solidFill>
                <a:latin typeface="Calibri"/>
              </a:rPr>
              <a:t>IN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5064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007ACC"/>
                </a:solidFill>
                <a:latin typeface="Calibri"/>
              </a:rPr>
              <a:t>P1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55064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07ACC"/>
                </a:solidFill>
                <a:latin typeface="Calibri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55064" y="1444752"/>
            <a:ext cx="617498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72562" y="1444752"/>
            <a:ext cx="280681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53243" y="1444752"/>
            <a:ext cx="252612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05856" y="1444752"/>
            <a:ext cx="56136" cy="8229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61992" y="1444752"/>
            <a:ext cx="84204" cy="8229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55064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55064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59669"/>
                </a:solidFill>
                <a:latin typeface="Calibri"/>
              </a:rPr>
              <a:t>Done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13290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D97706"/>
                </a:solidFill>
                <a:latin typeface="Calibri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13290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D97706"/>
                </a:solidFill>
                <a:latin typeface="Calibri"/>
              </a:rPr>
              <a:t>In Prog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1517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71517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9743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47A57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9743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47A57"/>
                </a:solidFill>
                <a:latin typeface="Calibri"/>
              </a:rPr>
              <a:t>Future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87970" y="1563624"/>
            <a:ext cx="24908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D28D9"/>
                </a:solidFill>
                <a:latin typeface="Calibr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87970" y="1732605"/>
            <a:ext cx="24908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D28D9"/>
                </a:solidFill>
                <a:latin typeface="Calibri"/>
              </a:rPr>
              <a:t>D-Scoped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46780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046780" y="804672"/>
            <a:ext cx="45720" cy="1097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33241" y="850392"/>
            <a:ext cx="914400" cy="146304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241" y="850392"/>
            <a:ext cx="914400" cy="1463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50" b="1" i="0">
                <a:solidFill>
                  <a:srgbClr val="166534"/>
                </a:solidFill>
                <a:latin typeface="Calibri"/>
              </a:rPr>
              <a:t>IN SCOPE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38220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059669"/>
                </a:solidFill>
                <a:latin typeface="Calibri"/>
              </a:rPr>
              <a:t>P2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38220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38220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38220" y="1444752"/>
            <a:ext cx="173806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12027" y="1444752"/>
            <a:ext cx="893861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05888" y="1444752"/>
            <a:ext cx="148976" cy="8229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54865" y="1444752"/>
            <a:ext cx="74488" cy="8229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38220" y="1563624"/>
            <a:ext cx="313639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D97706"/>
                </a:solidFill>
                <a:latin typeface="Calibr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38220" y="1732605"/>
            <a:ext cx="313639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D97706"/>
                </a:solidFill>
                <a:latin typeface="Calibri"/>
              </a:rPr>
              <a:t>In Prog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61004" y="1563624"/>
            <a:ext cx="313639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61004" y="1732605"/>
            <a:ext cx="313639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83787" y="1563624"/>
            <a:ext cx="313639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47A57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83787" y="1732605"/>
            <a:ext cx="313639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47A57"/>
                </a:solidFill>
                <a:latin typeface="Calibri"/>
              </a:rPr>
              <a:t>Future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06570" y="1563624"/>
            <a:ext cx="313639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D28D9"/>
                </a:solidFill>
                <a:latin typeface="Calibri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06570" y="1732605"/>
            <a:ext cx="313639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D28D9"/>
                </a:solidFill>
                <a:latin typeface="Calibri"/>
              </a:rPr>
              <a:t>D-Scoped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29937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29937" y="804672"/>
            <a:ext cx="45720" cy="109728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16398" y="850392"/>
            <a:ext cx="914400" cy="14630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16398" y="850392"/>
            <a:ext cx="914400" cy="1463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50" b="1" i="0">
                <a:solidFill>
                  <a:srgbClr val="475569"/>
                </a:solidFill>
                <a:latin typeface="Calibri"/>
              </a:rPr>
              <a:t>OUT OF SCOPE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21377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P3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21377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6D28D9"/>
                </a:solidFill>
                <a:latin typeface="Calibri"/>
              </a:rPr>
              <a:t>143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1377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21377" y="1444752"/>
            <a:ext cx="108346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29724" y="1444752"/>
            <a:ext cx="1182785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21377" y="1563624"/>
            <a:ext cx="63642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21377" y="1732605"/>
            <a:ext cx="63642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59669"/>
                </a:solidFill>
                <a:latin typeface="Calibri"/>
              </a:rPr>
              <a:t>Done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66944" y="1563624"/>
            <a:ext cx="63642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131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66944" y="1732605"/>
            <a:ext cx="63642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13094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3094" y="804672"/>
            <a:ext cx="45720" cy="109728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499555" y="850392"/>
            <a:ext cx="914400" cy="14630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99555" y="850392"/>
            <a:ext cx="914400" cy="1463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50" b="1" i="0">
                <a:solidFill>
                  <a:srgbClr val="475569"/>
                </a:solidFill>
                <a:latin typeface="Calibri"/>
              </a:rPr>
              <a:t>OUT OF SCOPE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04534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047A57"/>
                </a:solidFill>
                <a:latin typeface="Calibri"/>
              </a:rPr>
              <a:t>P4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04534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047A57"/>
                </a:solidFill>
                <a:latin typeface="Calibri"/>
              </a:rPr>
              <a:t>198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04534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4534" y="1444752"/>
            <a:ext cx="26083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30617" y="1444752"/>
            <a:ext cx="1265049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04534" y="1563624"/>
            <a:ext cx="63642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04534" y="1732605"/>
            <a:ext cx="63642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059669"/>
                </a:solidFill>
                <a:latin typeface="Calibri"/>
              </a:rPr>
              <a:t>Done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50100" y="1563624"/>
            <a:ext cx="636422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194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50100" y="1732605"/>
            <a:ext cx="636422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96251" y="804672"/>
            <a:ext cx="1437436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496251" y="804672"/>
            <a:ext cx="45720" cy="10972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982712" y="850392"/>
            <a:ext cx="914400" cy="14630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982712" y="850392"/>
            <a:ext cx="914400" cy="1463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50" b="1" i="0">
                <a:solidFill>
                  <a:srgbClr val="475569"/>
                </a:solidFill>
                <a:latin typeface="Calibri"/>
              </a:rPr>
              <a:t>OUT OF SCOPE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87691" y="850392"/>
            <a:ext cx="50292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P5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87691" y="1005840"/>
            <a:ext cx="1300276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64748B"/>
                </a:solidFill>
                <a:latin typeface="Calibri"/>
              </a:rPr>
              <a:t>182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87691" y="1298448"/>
            <a:ext cx="1300276" cy="1188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Unique Apps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587691" y="1444752"/>
            <a:ext cx="1291132" cy="8229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87691" y="1563624"/>
            <a:ext cx="1281988" cy="1659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182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87691" y="1732605"/>
            <a:ext cx="1281988" cy="12070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500" b="0" i="0">
                <a:solidFill>
                  <a:srgbClr val="64748B"/>
                </a:solidFill>
                <a:latin typeface="Calibri"/>
              </a:rPr>
              <a:t>Not Strt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4592" y="1993392"/>
            <a:ext cx="8814816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50" b="1" i="0">
                <a:solidFill>
                  <a:srgbClr val="64748B"/>
                </a:solidFill>
                <a:latin typeface="Calibri"/>
              </a:rPr>
              <a:t>INSTANCES — PROD &amp; NON-PROD ONBOARDING STATUS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164592" y="2157984"/>
            <a:ext cx="8814816" cy="0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164592" y="2194560"/>
            <a:ext cx="548640" cy="3200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4592" y="219456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37744" y="2194560"/>
            <a:ext cx="4572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13232" y="2194560"/>
            <a:ext cx="3081528" cy="178308"/>
          </a:xfrm>
          <a:prstGeom prst="rect">
            <a:avLst/>
          </a:prstGeom>
          <a:solidFill>
            <a:srgbClr val="06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3232" y="2194560"/>
            <a:ext cx="3081528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Prod Instances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13232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13232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Completed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46504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746504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Pending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79776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779776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Total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813048" y="2194560"/>
            <a:ext cx="3081528" cy="178308"/>
          </a:xfrm>
          <a:prstGeom prst="rect">
            <a:avLst/>
          </a:prstGeom>
          <a:solidFill>
            <a:srgbClr val="046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813048" y="2194560"/>
            <a:ext cx="3081528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Non-Prod Instances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813048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813048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Completed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846320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846320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Pending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879592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879592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Total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912864" y="2194560"/>
            <a:ext cx="2048256" cy="178308"/>
          </a:xfrm>
          <a:prstGeom prst="rect">
            <a:avLst/>
          </a:prstGeom>
          <a:solidFill>
            <a:srgbClr val="2D2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912864" y="2194560"/>
            <a:ext cx="2048256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Grand Total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912864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912864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Instances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946136" y="2372868"/>
            <a:ext cx="102412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946136" y="2372868"/>
            <a:ext cx="102412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Done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64592" y="2514600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64592" y="2514600"/>
            <a:ext cx="36576" cy="1874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37744" y="2514600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07ACC"/>
                </a:solidFill>
                <a:latin typeface="Calibri"/>
              </a:rPr>
              <a:t>P1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13232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746504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21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779776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46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813048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879592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912864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73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946136" y="251460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34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64592" y="2702052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64592" y="2702052"/>
            <a:ext cx="36576" cy="1874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7744" y="2702052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P2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3232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746504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45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779776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813048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46320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879592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912864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46136" y="2702052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7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64592" y="2889504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64592" y="2889504"/>
            <a:ext cx="36576" cy="1874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37744" y="2889504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6D28D9"/>
                </a:solidFill>
                <a:latin typeface="Calibri"/>
              </a:rPr>
              <a:t>P3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13232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746504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779776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813048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846320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879592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912864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143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946136" y="2889504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12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64592" y="3076956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64592" y="3076956"/>
            <a:ext cx="36576" cy="187452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37744" y="3076956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47A57"/>
                </a:solidFill>
                <a:latin typeface="Calibri"/>
              </a:rPr>
              <a:t>P4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13232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46504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779776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813048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846320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879592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912864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198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946136" y="3076956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64592" y="3264408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64592" y="3264408"/>
            <a:ext cx="36576" cy="1874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37744" y="3264408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64748B"/>
                </a:solidFill>
                <a:latin typeface="Calibri"/>
              </a:rPr>
              <a:t>P5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13232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746504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182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779776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182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3048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846320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879592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912864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946136" y="3264408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64592" y="3451860"/>
            <a:ext cx="8814816" cy="18745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4592" y="3451860"/>
            <a:ext cx="36576" cy="1874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237744" y="3451860"/>
            <a:ext cx="45720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07ACC"/>
                </a:solidFill>
                <a:latin typeface="Calibri"/>
              </a:rPr>
              <a:t>TOTAL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13232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48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746504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573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779776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621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813048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846320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44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879592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53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912864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674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46136" y="3451860"/>
            <a:ext cx="102412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57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64592" y="3694176"/>
            <a:ext cx="4361688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64592" y="3694176"/>
            <a:ext cx="36576" cy="4389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256032" y="3730752"/>
            <a:ext cx="4233672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50" b="1" i="0">
                <a:solidFill>
                  <a:srgbClr val="007ACC"/>
                </a:solidFill>
                <a:latin typeface="Calibri"/>
              </a:rPr>
              <a:t>What is a Unique Application?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032" y="3877056"/>
            <a:ext cx="4233672" cy="1554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334155"/>
                </a:solidFill>
                <a:latin typeface="Calibri"/>
              </a:rPr>
              <a:t>A Unique Application is a distinct SaaS product in the SSPM programme (e.g. Salesforce, Workday). Counted once regardless of how many environments or regions it operates in.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56032" y="4023360"/>
            <a:ext cx="4233672" cy="1005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00" b="0" i="1">
                <a:solidFill>
                  <a:srgbClr val="64748B"/>
                </a:solidFill>
                <a:latin typeface="Calibri"/>
              </a:rPr>
              <a:t>Example: Salesforce = 1 unique app, even with 8 regional instances.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4617720" y="3694176"/>
            <a:ext cx="4361688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617720" y="3694176"/>
            <a:ext cx="36576" cy="438912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709159" y="3730752"/>
            <a:ext cx="4233672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50" b="1" i="0">
                <a:solidFill>
                  <a:srgbClr val="047A57"/>
                </a:solidFill>
                <a:latin typeface="Calibri"/>
              </a:rPr>
              <a:t>What is an Instance?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709159" y="3877056"/>
            <a:ext cx="4233672" cy="1554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0" i="0">
                <a:solidFill>
                  <a:srgbClr val="334155"/>
                </a:solidFill>
                <a:latin typeface="Calibri"/>
              </a:rPr>
              <a:t>An Instance is one JIRA Story representing a specific deployment — a regional environment (Prod or Non-Prod) or tenant. One app can have multiple instances, each onboarded into SSPM separately.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09159" y="4023360"/>
            <a:ext cx="4233672" cy="1005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00" b="0" i="1">
                <a:solidFill>
                  <a:srgbClr val="64748B"/>
                </a:solidFill>
                <a:latin typeface="Calibri"/>
              </a:rPr>
              <a:t>Example: Salesforce has 8 instances — APAC Prod, EMEA Prod, NA Sandbox …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64592" y="4169663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059669"/>
                </a:solidFill>
                <a:latin typeface="Calibri"/>
              </a:rPr>
              <a:t>● Done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56232" y="4169663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D97706"/>
                </a:solidFill>
                <a:latin typeface="Calibri"/>
              </a:rPr>
              <a:t>● In Prog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547872" y="4169663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● Not Strt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239512" y="4169663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047A57"/>
                </a:solidFill>
                <a:latin typeface="Calibri"/>
              </a:rPr>
              <a:t>● Future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931152" y="4169663"/>
            <a:ext cx="1371600" cy="1371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6D28D9"/>
                </a:solidFill>
                <a:latin typeface="Calibri"/>
              </a:rPr>
              <a:t>● D-Scoped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Integration Status — Region-wise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621792"/>
            <a:ext cx="8814816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50" b="1" i="0">
                <a:solidFill>
                  <a:srgbClr val="64748B"/>
                </a:solidFill>
                <a:latin typeface="Calibri"/>
              </a:rPr>
              <a:t>INSTANCE ONBOARDING STATUS BY REGION — PROD &amp; NON-PROD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4592" y="786384"/>
            <a:ext cx="8814816" cy="0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64592" y="822960"/>
            <a:ext cx="1097280" cy="3200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82296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" y="822960"/>
            <a:ext cx="1005839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61872" y="822960"/>
            <a:ext cx="2875788" cy="178308"/>
          </a:xfrm>
          <a:prstGeom prst="rect">
            <a:avLst/>
          </a:prstGeom>
          <a:solidFill>
            <a:srgbClr val="06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822960"/>
            <a:ext cx="2875788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Prod Instances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1872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Completed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26564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26564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Pending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91256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91256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Total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55948" y="822960"/>
            <a:ext cx="2875788" cy="178308"/>
          </a:xfrm>
          <a:prstGeom prst="rect">
            <a:avLst/>
          </a:prstGeom>
          <a:solidFill>
            <a:srgbClr val="046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55948" y="822960"/>
            <a:ext cx="2875788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Non-Prod Instances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55948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55948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Completed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Pending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5332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5332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Total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50024" y="822960"/>
            <a:ext cx="1911096" cy="178308"/>
          </a:xfrm>
          <a:prstGeom prst="rect">
            <a:avLst/>
          </a:prstGeom>
          <a:solidFill>
            <a:srgbClr val="2D2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50024" y="822960"/>
            <a:ext cx="1911096" cy="1783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Grand 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50024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Instances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14716" y="1001268"/>
            <a:ext cx="955548" cy="14173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1001268"/>
            <a:ext cx="955548" cy="1417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600" b="1" i="0">
                <a:solidFill>
                  <a:srgbClr val="64748B"/>
                </a:solidFill>
                <a:latin typeface="Calibri"/>
              </a:rPr>
              <a:t>Done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4592" y="1143000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64592" y="1143000"/>
            <a:ext cx="36576" cy="1874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7744" y="1143000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07ACC"/>
                </a:solidFill>
                <a:latin typeface="Calibri"/>
              </a:rPr>
              <a:t>APAC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61872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26564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91256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35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55948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5332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0024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58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4716" y="114300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21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64592" y="1330452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592" y="1330452"/>
            <a:ext cx="36576" cy="187452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7744" y="1330452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47A57"/>
                </a:solidFill>
                <a:latin typeface="Calibri"/>
              </a:rPr>
              <a:t>EMEA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61872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26564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91256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55948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5332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50024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14716" y="133045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4592" y="1517904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64592" y="1517904"/>
            <a:ext cx="36576" cy="1874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7744" y="1517904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Global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61872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26564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91256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55948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20640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85332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50024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14716" y="1517904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4592" y="1705356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64592" y="1705356"/>
            <a:ext cx="36576" cy="1874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7744" y="1705356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6D28D9"/>
                </a:solidFill>
                <a:latin typeface="Calibri"/>
              </a:rPr>
              <a:t>Japan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61872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26564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91256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55948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20640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5332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50024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14716" y="1705356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64592" y="1892807"/>
            <a:ext cx="8814816" cy="1874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64592" y="1892807"/>
            <a:ext cx="36576" cy="1874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" y="1892807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North America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61872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26564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91256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55948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20640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85332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50024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14716" y="1892807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64592" y="2080260"/>
            <a:ext cx="8814816" cy="187452"/>
          </a:xfrm>
          <a:prstGeom prst="rect">
            <a:avLst/>
          </a:prstGeom>
          <a:solidFill>
            <a:srgbClr val="F1F5F9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64592" y="2080260"/>
            <a:ext cx="36576" cy="1874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37744" y="2080260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64748B"/>
                </a:solidFill>
                <a:latin typeface="Calibri"/>
              </a:rPr>
              <a:t>TG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61872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26564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91256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55948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120640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85332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N/A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050024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1A3A6B"/>
                </a:solidFill>
                <a:latin typeface="Calibri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14716" y="2080260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4748B"/>
                </a:solidFill>
                <a:latin typeface="Calibri"/>
              </a:rPr>
              <a:t>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64592" y="2267712"/>
            <a:ext cx="8814816" cy="187452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64592" y="2267712"/>
            <a:ext cx="36576" cy="1874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37744" y="2267712"/>
            <a:ext cx="1005839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1" i="0">
                <a:solidFill>
                  <a:srgbClr val="007ACC"/>
                </a:solidFill>
                <a:latin typeface="Calibri"/>
              </a:rPr>
              <a:t>TOTAL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261872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26564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66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191256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98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55948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20640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44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085332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050024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151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14716" y="2267712"/>
            <a:ext cx="955548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50" b="1" i="0">
                <a:solidFill>
                  <a:srgbClr val="34D399"/>
                </a:solidFill>
                <a:latin typeface="Calibri"/>
              </a:rP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64592" y="4480560"/>
            <a:ext cx="3200400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059669"/>
                </a:solidFill>
                <a:latin typeface="Calibri"/>
              </a:rPr>
              <a:t>● Completed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17320" y="4480560"/>
            <a:ext cx="3200400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D97706"/>
                </a:solidFill>
                <a:latin typeface="Calibri"/>
              </a:rPr>
              <a:t>● Pending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606040" y="4480560"/>
            <a:ext cx="3200400" cy="1645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64748B"/>
                </a:solidFill>
                <a:latin typeface="Calibri"/>
              </a:rPr>
              <a:t>N/A — No Non-Prod environment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1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P1 · Pg 1/3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25/46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79016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9/27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1024" y="941832"/>
            <a:ext cx="484632" cy="3657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786384"/>
            <a:ext cx="7518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8240" y="786384"/>
            <a:ext cx="1503680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41920" y="786384"/>
            <a:ext cx="751840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93760" y="786384"/>
            <a:ext cx="375920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4 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8 In Prog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4 Not Strt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2 Future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Salesforce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×8 Instance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×8 Prod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×6 Non-Prod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5/8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NP 2/6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Workday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2/3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NP 1/3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ServiceNow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×4 Instance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×4 Prod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3/4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NP 1/3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GitHub Enterprise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2/3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NP 2/3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Microsoft 365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×5 Instance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×5 Prod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3/5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784848" y="3419856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Okta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2/3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NP 2/3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1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P1 · Pg 2/3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25/46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79016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9/27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1024" y="941832"/>
            <a:ext cx="484632" cy="3657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786384"/>
            <a:ext cx="7518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8240" y="786384"/>
            <a:ext cx="1503680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41920" y="786384"/>
            <a:ext cx="751840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93760" y="786384"/>
            <a:ext cx="375920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4 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8 In Prog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4 Not Strt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2 Future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Zoom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Slack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Palo Alto Prisma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2/2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NP 1/2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CrowdStrike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1/1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Proofpoint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2/3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784848" y="3419856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Mimecast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1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P1 · Pg 3/3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25/46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79016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9/27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1024" y="941832"/>
            <a:ext cx="484632" cy="36576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786384"/>
            <a:ext cx="7518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8240" y="786384"/>
            <a:ext cx="1503680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41920" y="786384"/>
            <a:ext cx="751840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93760" y="786384"/>
            <a:ext cx="375920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4 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8 In Prog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4 Not Strt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2 Future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Qualys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1/1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84848" y="111556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Rapid7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Tenable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D6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47A57"/>
                </a:solidFill>
                <a:latin typeface="Calibri"/>
              </a:rPr>
              <a:t>Future Request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84848" y="2267712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Varonis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84848" y="2843784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SailPoint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D6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47A57"/>
                </a:solidFill>
                <a:latin typeface="Calibri"/>
              </a:rPr>
              <a:t>Future Request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BeyondTrust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1/6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903095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41042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18 Not Strt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Box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Dropbox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Atlassian (Jira/Confluence)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×3 Non-Prod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0/3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Zendesk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DocuSign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HubSpot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784848" y="412046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2/6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903095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41042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18 Not Strt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Tableau / Salesforce Analytics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×3 Instance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×3 Prod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Coupa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Snowflake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784848" y="2392253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Splunk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1/1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Ariba / SAP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Veeva Vault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D6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47A57"/>
                </a:solidFill>
                <a:latin typeface="Calibri"/>
              </a:rPr>
              <a:t>Future Request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3/6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903095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41042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18 Not Strt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Workiva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84848" y="111556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NetSuite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Anaplan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D6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47A57"/>
                </a:solidFill>
                <a:latin typeface="Calibri"/>
              </a:rPr>
              <a:t>Future Request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84848" y="2267712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Concur (SAP)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84848" y="2843784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Adobe Sign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784848" y="3544397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SuccessFactors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4/6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903095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41042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18 Not Strt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Darktrace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PROD 1/1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84848" y="1240109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Elastic (ELK)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×1 Non-Prod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84848" y="1816181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PagerDuty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D6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47A57"/>
                </a:solidFill>
                <a:latin typeface="Calibri"/>
              </a:rPr>
              <a:t>Future Request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84848" y="2267712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Dynatrace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Miro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84848" y="3419856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Figma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5/6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903095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41042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18 Not Strt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Notion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D6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47A57"/>
                </a:solidFill>
                <a:latin typeface="Calibri"/>
              </a:rPr>
              <a:t>Future Request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84848" y="111556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monday.com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2267712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4320" y="2267712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0896" y="2267712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2313432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Asana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2560137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1208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59992" y="2560137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478280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7064" y="2560137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35352" y="2560137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20440" y="2392253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68112" y="2392253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84848" y="2267712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2843784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74320" y="2843784"/>
            <a:ext cx="4572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0896" y="2843784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" y="2889504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Jira Service Mgmt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3136209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1208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459992" y="3136209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478280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17064" y="3136209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35352" y="3136209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×2 Non-Prod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20440" y="2968325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Onboarding In Progress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468112" y="2968325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D97706"/>
                </a:solidFill>
                <a:latin typeface="Calibri"/>
              </a:rPr>
              <a:t>PROD 1/2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784848" y="2968325"/>
            <a:ext cx="2011680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NP 0/2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74320" y="3419856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74320" y="3419856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10896" y="3419856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29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2920" y="3465576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Freshdesk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02920" y="3712281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21208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459992" y="3712281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478280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417064" y="3712281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435352" y="3712281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520440" y="3544397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468112" y="3544397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784848" y="3419856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74320" y="3995928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74320" y="3995928"/>
            <a:ext cx="45720" cy="5486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10896" y="399592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02920" y="404164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Intercom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2920" y="428835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21208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459992" y="428835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478280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417064" y="428835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435352" y="428835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solidFill>
            <a:srgbClr val="D6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520440" y="412046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47A57"/>
                </a:solidFill>
                <a:latin typeface="Calibri"/>
              </a:rPr>
              <a:t>Future Request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468112" y="412046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84848" y="399592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Phase 2 Applications — Integration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P2 · Pg 6/6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8368"/>
            <a:ext cx="14173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Instance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1952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7/52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1952" y="941832"/>
            <a:ext cx="195716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872" y="603504"/>
            <a:ext cx="1600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630936"/>
            <a:ext cx="1453896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749808"/>
            <a:ext cx="1453896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47A57"/>
                </a:solidFill>
                <a:latin typeface="Calibri"/>
              </a:rPr>
              <a:t>0/26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941832"/>
            <a:ext cx="1453896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640080"/>
            <a:ext cx="338328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650" b="1" i="0">
                <a:solidFill>
                  <a:srgbClr val="64748B"/>
                </a:solidFill>
                <a:latin typeface="Calibri"/>
              </a:rPr>
              <a:t>App Status Breakdown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786384"/>
            <a:ext cx="21145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97855" y="786384"/>
            <a:ext cx="740092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37947" y="786384"/>
            <a:ext cx="1903095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41042" y="786384"/>
            <a:ext cx="528637" cy="91440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59669"/>
                </a:solidFill>
                <a:latin typeface="Calibri"/>
              </a:rPr>
              <a:t>2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D97706"/>
                </a:solidFill>
                <a:latin typeface="Calibri"/>
              </a:rPr>
              <a:t>7 In Prog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64748B"/>
                </a:solidFill>
                <a:latin typeface="Calibri"/>
              </a:rPr>
              <a:t>18 Not Strt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896112"/>
            <a:ext cx="73152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50" b="1" i="0">
                <a:solidFill>
                  <a:srgbClr val="047A57"/>
                </a:solidFill>
                <a:latin typeface="Calibri"/>
              </a:rPr>
              <a:t>5 Future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4320" y="1078992"/>
            <a:ext cx="8595360" cy="0"/>
          </a:xfrm>
          <a:prstGeom prst="line">
            <a:avLst/>
          </a:prstGeom>
          <a:ln w="9525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74320" y="932688"/>
            <a:ext cx="2011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#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932688"/>
            <a:ext cx="2944368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Application  ·  Org / Prod / Non-Prod Instances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932688"/>
            <a:ext cx="1874519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932688"/>
            <a:ext cx="1243584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PROD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932688"/>
            <a:ext cx="2048256" cy="1554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700" b="1" i="0">
                <a:solidFill>
                  <a:srgbClr val="64748B"/>
                </a:solidFill>
                <a:latin typeface="Calibri"/>
              </a:rPr>
              <a:t>NON-PROD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1115568"/>
            <a:ext cx="85953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1115568"/>
            <a:ext cx="45720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1115568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1161288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Twilio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1407993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×2 Instance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9992" y="1407993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8280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×2 Prod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17064" y="1407993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35352" y="1407993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0440" y="1240109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68112" y="1240109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84848" y="1115568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1691640"/>
            <a:ext cx="85953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74320" y="1691640"/>
            <a:ext cx="4572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0896" y="1691640"/>
            <a:ext cx="1828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0">
                <a:solidFill>
                  <a:srgbClr val="64748B"/>
                </a:solidFill>
                <a:latin typeface="Calibri"/>
              </a:rPr>
              <a:t>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1737360"/>
            <a:ext cx="2889504" cy="2649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SendGrid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1984065"/>
            <a:ext cx="911351" cy="219638"/>
          </a:xfrm>
          <a:prstGeom prst="rect">
            <a:avLst/>
          </a:prstGeom>
          <a:solidFill>
            <a:srgbClr val="DBEAFE"/>
          </a:solidFill>
          <a:ln w="762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1208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×1 Instance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59992" y="1984065"/>
            <a:ext cx="911351" cy="219638"/>
          </a:xfrm>
          <a:prstGeom prst="rect">
            <a:avLst/>
          </a:prstGeom>
          <a:solidFill>
            <a:srgbClr val="D1FAE5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78280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×1 Prod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17064" y="1984065"/>
            <a:ext cx="911351" cy="219638"/>
          </a:xfrm>
          <a:prstGeom prst="rect">
            <a:avLst/>
          </a:prstGeom>
          <a:solidFill>
            <a:srgbClr val="CCFBF1"/>
          </a:solidFill>
          <a:ln w="7620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435352" y="1984065"/>
            <a:ext cx="874776" cy="219638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750" b="1" i="0">
                <a:solidFill>
                  <a:srgbClr val="047A57"/>
                </a:solidFill>
                <a:latin typeface="Calibri"/>
              </a:rPr>
              <a:t>×0 Non-Prod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20440" y="1816181"/>
            <a:ext cx="1819655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68112" y="1816181"/>
            <a:ext cx="1207008" cy="299557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1" i="0">
                <a:solidFill>
                  <a:srgbClr val="64748B"/>
                </a:solidFill>
                <a:latin typeface="Calibri"/>
              </a:rPr>
              <a:t>PROD 0/1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4848" y="1691640"/>
            <a:ext cx="2011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4592" y="4572000"/>
            <a:ext cx="8814816" cy="292608"/>
          </a:xfrm>
          <a:prstGeom prst="rect">
            <a:avLst/>
          </a:prstGeom>
          <a:solidFill>
            <a:srgbClr val="FEF9C3"/>
          </a:solidFill>
          <a:ln w="952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64592" y="4572000"/>
            <a:ext cx="45720" cy="292608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4320" y="4599432"/>
            <a:ext cx="59436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00" b="1" i="0">
                <a:solidFill>
                  <a:srgbClr val="92400E"/>
                </a:solidFill>
                <a:latin typeface="Calibri"/>
              </a:rPr>
              <a:t>NOTE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" y="4617720"/>
            <a:ext cx="850392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650" b="0" i="0">
                <a:solidFill>
                  <a:srgbClr val="78350F"/>
                </a:solidFill>
                <a:latin typeface="Calibri"/>
              </a:rPr>
              <a:t>Status Grouping:  Completed  =  'Completed' + 'De-Scoped'  (shown in green).   Pending  =  'Onboarding In Progress' + 'Not Started' + 'Future Request'  (shown with their respective colour).   Status is determined by the JIRA dropdown field configured in config.py → STATUS_FIELD.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Blockers &amp; Impediments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 Blockers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8814816" cy="237744"/>
          </a:xfrm>
          <a:prstGeom prst="rect">
            <a:avLst/>
          </a:prstGeom>
          <a:solidFill>
            <a:srgbClr val="FFEDED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621792"/>
            <a:ext cx="54864" cy="23774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21792"/>
            <a:ext cx="640080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50" b="1" i="0">
                <a:solidFill>
                  <a:srgbClr val="DC2626"/>
                </a:solidFill>
                <a:latin typeface="Calibri"/>
              </a:rPr>
              <a:t>Active Blockers &amp; Impediments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87782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4592" y="877824"/>
            <a:ext cx="54864" cy="1874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87782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C2626"/>
                </a:solidFill>
                <a:latin typeface="Calibri"/>
              </a:rPr>
              <a:t>B1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87782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Salesforce EMEA — Prod tenant access pending IT Ops approval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905256"/>
            <a:ext cx="1005840" cy="132588"/>
          </a:xfrm>
          <a:prstGeom prst="rect">
            <a:avLst/>
          </a:prstGeom>
          <a:solidFill>
            <a:srgbClr val="D2FFFF"/>
          </a:solidFill>
          <a:ln w="95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90525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Phase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87782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IT Ops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75904" y="905256"/>
            <a:ext cx="530352" cy="132588"/>
          </a:xfrm>
          <a:prstGeom prst="rect">
            <a:avLst/>
          </a:prstGeom>
          <a:solidFill>
            <a:srgbClr val="FFF8F8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90525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C2626"/>
                </a:solidFill>
                <a:latin typeface="Calibri"/>
              </a:rPr>
              <a:t>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592" y="108356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4592" y="1083564"/>
            <a:ext cx="54864" cy="1874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08356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C2626"/>
                </a:solidFill>
                <a:latin typeface="Calibri"/>
              </a:rPr>
              <a:t>B2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108356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ServiceNow NA — API endpoint unreachable, firewall change raised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0" y="1110996"/>
            <a:ext cx="1005840" cy="132588"/>
          </a:xfrm>
          <a:prstGeom prst="rect">
            <a:avLst/>
          </a:prstGeom>
          <a:solidFill>
            <a:srgbClr val="D2FFFF"/>
          </a:solidFill>
          <a:ln w="95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0" y="111099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Phase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08356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Network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75904" y="1110996"/>
            <a:ext cx="530352" cy="132588"/>
          </a:xfrm>
          <a:prstGeom prst="rect">
            <a:avLst/>
          </a:prstGeom>
          <a:solidFill>
            <a:srgbClr val="FFF8F8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111099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C2626"/>
                </a:solidFill>
                <a:latin typeface="Calibri"/>
              </a:rPr>
              <a:t>High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4592" y="128930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4592" y="1289304"/>
            <a:ext cx="54864" cy="1874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128930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B3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" y="128930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Workday NA — Non-Prod tenant config not shared by app owner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1316736"/>
            <a:ext cx="1005840" cy="132588"/>
          </a:xfrm>
          <a:prstGeom prst="rect">
            <a:avLst/>
          </a:prstGeom>
          <a:solidFill>
            <a:srgbClr val="D2FFFF"/>
          </a:solidFill>
          <a:ln w="95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52160" y="131673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07ACC"/>
                </a:solidFill>
                <a:latin typeface="Calibri"/>
              </a:rPr>
              <a:t>Phase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128930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App 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75904" y="1316736"/>
            <a:ext cx="530352" cy="132588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904" y="131673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Med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4592" y="149504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4592" y="1495044"/>
            <a:ext cx="54864" cy="1874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149504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B4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" y="149504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Box EMEA — Licence procurement approval pending Finance sign-off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1522476"/>
            <a:ext cx="1005840" cy="132588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52160" y="152247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Phase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149504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Finance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75904" y="1522476"/>
            <a:ext cx="530352" cy="132588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75904" y="152247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Med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64592" y="1700784"/>
            <a:ext cx="8814816" cy="1874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4592" y="1700784"/>
            <a:ext cx="54864" cy="1874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1700784"/>
            <a:ext cx="3657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DC2626"/>
                </a:solidFill>
                <a:latin typeface="Calibri"/>
              </a:rPr>
              <a:t>B5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" y="1700784"/>
            <a:ext cx="512064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50" b="0" i="0">
                <a:solidFill>
                  <a:srgbClr val="0F172A"/>
                </a:solidFill>
                <a:latin typeface="Calibri"/>
              </a:rPr>
              <a:t>Atlassian — Prod API key rotation blocking SSPM connector config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52160" y="1728216"/>
            <a:ext cx="1005840" cy="132588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52160" y="1728216"/>
            <a:ext cx="100584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Phase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9440" y="1700784"/>
            <a:ext cx="1280160" cy="1874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750" b="0" i="0">
                <a:solidFill>
                  <a:srgbClr val="64748B"/>
                </a:solidFill>
                <a:latin typeface="Calibri"/>
              </a:rPr>
              <a:t>Owner: Platform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75904" y="1728216"/>
            <a:ext cx="530352" cy="132588"/>
          </a:xfrm>
          <a:prstGeom prst="rect">
            <a:avLst/>
          </a:prstGeom>
          <a:solidFill>
            <a:srgbClr val="FFF8F8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75904" y="1728216"/>
            <a:ext cx="530352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C2626"/>
                </a:solidFill>
                <a:latin typeface="Calibri"/>
              </a:rPr>
              <a:t>High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Milestones &amp;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621792"/>
            <a:ext cx="8814816" cy="256032"/>
          </a:xfrm>
          <a:prstGeom prst="rect">
            <a:avLst/>
          </a:prstGeom>
          <a:solidFill>
            <a:srgbClr val="DC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21792"/>
            <a:ext cx="54864" cy="2560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621792"/>
            <a:ext cx="6400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50" b="1" i="0">
                <a:solidFill>
                  <a:srgbClr val="059669"/>
                </a:solidFill>
                <a:latin typeface="Calibri"/>
              </a:rPr>
              <a:t>Phase 2 · Auto-Ticketing Integration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562088" y="658368"/>
            <a:ext cx="1325880" cy="182880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62088" y="658368"/>
            <a:ext cx="1325880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877824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" y="877824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877824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SSPM → ServiceNow connector: requirements &amp;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62088" y="914400"/>
            <a:ext cx="1325880" cy="132588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2088" y="914400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4592" y="1110996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" y="1110996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110996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Connector build — Phase 1 apps (P1 scope)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62088" y="1147572"/>
            <a:ext cx="1325880" cy="132588"/>
          </a:xfrm>
          <a:prstGeom prst="rect">
            <a:avLst/>
          </a:prstGeom>
          <a:solidFill>
            <a:srgbClr val="D7FFFF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2088" y="1147572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059669"/>
                </a:solidFill>
                <a:latin typeface="Calibri"/>
              </a:rPr>
              <a:t>Completed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1344168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" y="1344168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1344168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Connector build — Phase 2 apps (P2 scope)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62088" y="1380744"/>
            <a:ext cx="1325880" cy="132588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62088" y="1380744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" y="1577340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6032" y="1577340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1577340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Ticket template design (fields, SLA, priority rules)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62088" y="1613916"/>
            <a:ext cx="1325880" cy="132588"/>
          </a:xfrm>
          <a:prstGeom prst="rect">
            <a:avLst/>
          </a:prstGeom>
          <a:solidFill>
            <a:srgbClr val="FFFFD8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62088" y="1613916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4592" y="1810512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032" y="1810512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1810512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Assignment routing rules &amp; escalation matrix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62088" y="1847088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2088" y="1847088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" y="2043684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032" y="2043684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2043684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UAT — internal SSPM team validation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62088" y="2080260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62088" y="2080260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" y="2276856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032" y="2276856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2276856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UAT — app owner pilot (10 apps)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62088" y="2313432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62088" y="2313432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4592" y="2510027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6032" y="2510027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2510027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Runbook: auto-ticket lifecycle SOP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62088" y="2546603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62088" y="2546603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4592" y="2743199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032" y="2743199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2743199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Load &amp; performance testing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62088" y="2779775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62088" y="2779775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64592" y="2976371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6032" y="2976371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59669"/>
                </a:solidFill>
                <a:latin typeface="Calibri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2976371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Go-live &amp; hypercare (2-week window)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562088" y="3012947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62088" y="3012947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4592" y="3282695"/>
            <a:ext cx="8814816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64592" y="3282695"/>
            <a:ext cx="54864" cy="25603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92608" y="3282695"/>
            <a:ext cx="6400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50" b="1" i="0">
                <a:solidFill>
                  <a:srgbClr val="6D28D9"/>
                </a:solidFill>
                <a:latin typeface="Calibri"/>
              </a:rPr>
              <a:t>Phase 3 · Scorecard &amp; Operationalisation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62088" y="3319271"/>
            <a:ext cx="132588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62088" y="3319271"/>
            <a:ext cx="1325880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4592" y="3538727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56032" y="3538727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3538727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Define KPIs and scoring framework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562088" y="3575303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62088" y="3575303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64592" y="3771899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56032" y="3771899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3771899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Build SSPM health dashboard (Power BI / Tableau)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62088" y="3808475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62088" y="3808475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64592" y="4005071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56032" y="4005071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8640" y="4005071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App owner reporting template &amp; cadence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562088" y="4041647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562088" y="4041647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4592" y="4238243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56032" y="4238243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4238243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Runbook &amp; SOP documentation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562088" y="4274819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562088" y="4274819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4592" y="4471415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56032" y="4471415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" y="4471415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SSPM operating model (BAU) sign-off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562088" y="4507991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62088" y="4507991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54864"/>
            <a:ext cx="758952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SSPM Initiative  |  Milestones &amp;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82296"/>
            <a:ext cx="10058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Pg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621792"/>
            <a:ext cx="8814816" cy="166420"/>
          </a:xfrm>
          <a:prstGeom prst="rect">
            <a:avLst/>
          </a:prstGeom>
          <a:solidFill>
            <a:srgbClr val="FFFFFF"/>
          </a:solidFill>
          <a:ln w="952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621792"/>
            <a:ext cx="7315200" cy="1664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Phase 3 · Scorecard &amp; Operationalisation  (continued)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" y="788212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" y="788212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788212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BAU handover to operations team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62088" y="824788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2088" y="824788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" y="1021384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" y="1021384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021384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Post-go-live review &amp; lessons learned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62088" y="1057960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2088" y="1057960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592" y="1254556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" y="1254556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6D28D9"/>
                </a:solidFill>
                <a:latin typeface="Calibr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254556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Hypercare exit criteria &amp; sign-off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62088" y="1291132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62088" y="1291132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592" y="1560880"/>
            <a:ext cx="8814816" cy="256032"/>
          </a:xfrm>
          <a:prstGeom prst="rect">
            <a:avLst/>
          </a:prstGeom>
          <a:solidFill>
            <a:srgbClr val="DBFFFF"/>
          </a:solidFill>
          <a:ln w="9525">
            <a:solidFill>
              <a:srgbClr val="047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4592" y="1560880"/>
            <a:ext cx="54864" cy="256032"/>
          </a:xfrm>
          <a:prstGeom prst="rect">
            <a:avLst/>
          </a:prstGeom>
          <a:solidFill>
            <a:srgbClr val="04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1560880"/>
            <a:ext cx="64008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50" b="1" i="0">
                <a:solidFill>
                  <a:srgbClr val="047A57"/>
                </a:solidFill>
                <a:latin typeface="Calibri"/>
              </a:rPr>
              <a:t>Phase 4 · Continuous Improvement &amp; Expansion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62088" y="1597456"/>
            <a:ext cx="132588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62088" y="1597456"/>
            <a:ext cx="1325880" cy="1828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" y="1816912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" y="1816912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1816912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Review Phase 3/4 app onboarding backlog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62088" y="1853488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2088" y="1853488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4592" y="2050084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032" y="2050084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2050084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Automated risk-scoring model v2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62088" y="2086660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62088" y="2086660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64592" y="2283256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2283256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283256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Integration with PAM / IAM tooling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62088" y="2319832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62088" y="2319832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4592" y="2516428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032" y="2516428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2516428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Expanded SSPM coverage: Phase 4 apps (198 apps)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62088" y="2553004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2088" y="2553004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2749600"/>
            <a:ext cx="8814816" cy="2057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6032" y="2749600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2749600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Quarterly review cadence with steering committee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62088" y="2786176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62088" y="2786176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4592" y="2982772"/>
            <a:ext cx="8814816" cy="2057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6032" y="2982772"/>
            <a:ext cx="256032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800" b="1" i="0">
                <a:solidFill>
                  <a:srgbClr val="047A57"/>
                </a:solidFill>
                <a:latin typeface="Calibri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2982772"/>
            <a:ext cx="6492240" cy="2057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Audit &amp; compliance reporting package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562088" y="3019348"/>
            <a:ext cx="1325880" cy="132588"/>
          </a:xfrm>
          <a:prstGeom prst="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62088" y="3019348"/>
            <a:ext cx="1325880" cy="1325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50" b="1" i="0">
                <a:solidFill>
                  <a:srgbClr val="64748B"/>
                </a:solidFill>
                <a:latin typeface="Calibri"/>
              </a:rPr>
              <a:t>Not Started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700" b="0" i="1">
                <a:solidFill>
                  <a:srgbClr val="CBD5E1"/>
                </a:solidFill>
                <a:latin typeface="Calibri"/>
              </a:rPr>
              <a:t>[ Add your org footer here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