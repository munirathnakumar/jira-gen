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SSPM Integration — Summary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603504"/>
            <a:ext cx="8814816" cy="1645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50" b="1" i="0">
                <a:solidFill>
                  <a:srgbClr val="64748B"/>
                </a:solidFill>
                <a:latin typeface="Calibri"/>
              </a:rPr>
              <a:t>UNIQUE APPLICATIONS — BY PRIORITY TIER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4592" y="768096"/>
            <a:ext cx="8814816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64592" y="804672"/>
            <a:ext cx="1371600" cy="640080"/>
          </a:xfrm>
          <a:prstGeom prst="rect">
            <a:avLst/>
          </a:prstGeom>
          <a:solidFill>
            <a:srgbClr val="1A3A6B"/>
          </a:solidFill>
          <a:ln w="9525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04672"/>
            <a:ext cx="4572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841248"/>
            <a:ext cx="1225296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7DD3FC"/>
                </a:solidFill>
                <a:latin typeface="Calibri"/>
              </a:rPr>
              <a:t>All Tiers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969264"/>
            <a:ext cx="1225296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80160"/>
            <a:ext cx="1225296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22 in-scope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91056" y="804672"/>
            <a:ext cx="1433779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591056" y="804672"/>
            <a:ext cx="4572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92147" y="841248"/>
            <a:ext cx="896112" cy="146304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92147" y="841248"/>
            <a:ext cx="896112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50" b="1" i="0">
                <a:solidFill>
                  <a:srgbClr val="166534"/>
                </a:solidFill>
                <a:latin typeface="Calibri"/>
              </a:rPr>
              <a:t>IN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82496" y="841248"/>
            <a:ext cx="45720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007ACC"/>
                </a:solidFill>
                <a:latin typeface="Calibri"/>
              </a:rPr>
              <a:t>P1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2496" y="969264"/>
            <a:ext cx="1296619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07ACC"/>
                </a:solidFill>
                <a:latin typeface="Calibri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82496" y="1225296"/>
            <a:ext cx="1296619" cy="1280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50" b="0" i="0">
                <a:solidFill>
                  <a:srgbClr val="64748B"/>
                </a:solidFill>
                <a:latin typeface="Calibri"/>
              </a:rPr>
              <a:t>Unique Apps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82496" y="1316736"/>
            <a:ext cx="1296619" cy="1188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 done  ·  3 pending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79699" y="804672"/>
            <a:ext cx="1433779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79699" y="804672"/>
            <a:ext cx="4572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80790" y="841248"/>
            <a:ext cx="896112" cy="146304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80790" y="841248"/>
            <a:ext cx="896112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50" b="1" i="0">
                <a:solidFill>
                  <a:srgbClr val="166534"/>
                </a:solidFill>
                <a:latin typeface="Calibri"/>
              </a:rPr>
              <a:t>IN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71139" y="841248"/>
            <a:ext cx="45720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059669"/>
                </a:solidFill>
                <a:latin typeface="Calibri"/>
              </a:rPr>
              <a:t>P2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71139" y="969264"/>
            <a:ext cx="1296619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59669"/>
                </a:solidFill>
                <a:latin typeface="Calibri"/>
              </a:rPr>
              <a:t>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71139" y="1225296"/>
            <a:ext cx="1296619" cy="1280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50" b="0" i="0">
                <a:solidFill>
                  <a:srgbClr val="64748B"/>
                </a:solidFill>
                <a:latin typeface="Calibri"/>
              </a:rPr>
              <a:t>Unique Apps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71139" y="1316736"/>
            <a:ext cx="1296619" cy="1188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8 done  ·  6 pending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68342" y="804672"/>
            <a:ext cx="1433779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68342" y="804672"/>
            <a:ext cx="45720" cy="6400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69433" y="841248"/>
            <a:ext cx="896112" cy="14630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69433" y="841248"/>
            <a:ext cx="896112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50" b="1" i="0">
                <a:solidFill>
                  <a:srgbClr val="475569"/>
                </a:solidFill>
                <a:latin typeface="Calibri"/>
              </a:rPr>
              <a:t>OUT OF 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59782" y="841248"/>
            <a:ext cx="45720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P3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59782" y="969264"/>
            <a:ext cx="1296619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6D28D9"/>
                </a:solidFill>
                <a:latin typeface="Calibri"/>
              </a:rPr>
              <a:t>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59782" y="1225296"/>
            <a:ext cx="1296619" cy="1280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50" b="0" i="0">
                <a:solidFill>
                  <a:srgbClr val="64748B"/>
                </a:solidFill>
                <a:latin typeface="Calibri"/>
              </a:rPr>
              <a:t>Unique Apps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59782" y="1316736"/>
            <a:ext cx="1296619" cy="1188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0 done  ·  30 pending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56985" y="804672"/>
            <a:ext cx="1433779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56985" y="804672"/>
            <a:ext cx="45720" cy="640080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58076" y="841248"/>
            <a:ext cx="896112" cy="14630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8076" y="841248"/>
            <a:ext cx="896112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50" b="1" i="0">
                <a:solidFill>
                  <a:srgbClr val="475569"/>
                </a:solidFill>
                <a:latin typeface="Calibri"/>
              </a:rPr>
              <a:t>OUT OF SCOPE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8425" y="841248"/>
            <a:ext cx="45720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047A57"/>
                </a:solidFill>
                <a:latin typeface="Calibri"/>
              </a:rPr>
              <a:t>P4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48425" y="969264"/>
            <a:ext cx="1296619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047A57"/>
                </a:solidFill>
                <a:latin typeface="Calibri"/>
              </a:rPr>
              <a:t>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48425" y="1225296"/>
            <a:ext cx="1296619" cy="1280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50" b="0" i="0">
                <a:solidFill>
                  <a:srgbClr val="64748B"/>
                </a:solidFill>
                <a:latin typeface="Calibri"/>
              </a:rPr>
              <a:t>Unique Apps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48425" y="1316736"/>
            <a:ext cx="1296619" cy="1188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0 done  ·  20 pending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45628" y="804672"/>
            <a:ext cx="1433779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45628" y="804672"/>
            <a:ext cx="45720" cy="6400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46720" y="841248"/>
            <a:ext cx="896112" cy="14630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46720" y="841248"/>
            <a:ext cx="896112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550" b="1" i="0">
                <a:solidFill>
                  <a:srgbClr val="475569"/>
                </a:solidFill>
                <a:latin typeface="Calibri"/>
              </a:rPr>
              <a:t>OUT OF SCOPE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7068" y="841248"/>
            <a:ext cx="45720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P5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7068" y="969264"/>
            <a:ext cx="1296619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 b="1" i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7068" y="1225296"/>
            <a:ext cx="1296619" cy="1280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50" b="0" i="0">
                <a:solidFill>
                  <a:srgbClr val="64748B"/>
                </a:solidFill>
                <a:latin typeface="Calibri"/>
              </a:rPr>
              <a:t>Unique Apps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7068" y="1316736"/>
            <a:ext cx="1296619" cy="1188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0 done  ·  16 pending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4592" y="1536192"/>
            <a:ext cx="8814816" cy="1645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50" b="1" i="0">
                <a:solidFill>
                  <a:srgbClr val="64748B"/>
                </a:solidFill>
                <a:latin typeface="Calibri"/>
              </a:rPr>
              <a:t>INSTANCES — PROD &amp; NON-PROD ONBOARDING STATUS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64592" y="1700784"/>
            <a:ext cx="8814816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64592" y="1737360"/>
            <a:ext cx="548640" cy="3200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64592" y="1737360"/>
            <a:ext cx="36576" cy="320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7744" y="1737360"/>
            <a:ext cx="4572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13232" y="1737360"/>
            <a:ext cx="3081528" cy="178308"/>
          </a:xfrm>
          <a:prstGeom prst="rect">
            <a:avLst/>
          </a:prstGeom>
          <a:solidFill>
            <a:srgbClr val="06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13232" y="1737360"/>
            <a:ext cx="3081528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Prod Instances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3232" y="1915667"/>
            <a:ext cx="1024128" cy="14173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1915667"/>
            <a:ext cx="1024128" cy="1417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Completed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746504" y="1915667"/>
            <a:ext cx="1024128" cy="14173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746504" y="1915667"/>
            <a:ext cx="1024128" cy="1417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Pending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79776" y="1915667"/>
            <a:ext cx="1024128" cy="14173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79776" y="1915667"/>
            <a:ext cx="1024128" cy="1417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Total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13048" y="1737360"/>
            <a:ext cx="3081528" cy="178308"/>
          </a:xfrm>
          <a:prstGeom prst="rect">
            <a:avLst/>
          </a:prstGeom>
          <a:solidFill>
            <a:srgbClr val="046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813048" y="1737360"/>
            <a:ext cx="3081528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Non-Prod Instances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13048" y="1915667"/>
            <a:ext cx="1024128" cy="14173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813048" y="1915667"/>
            <a:ext cx="1024128" cy="1417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Completed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46320" y="1915667"/>
            <a:ext cx="1024128" cy="14173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46320" y="1915667"/>
            <a:ext cx="1024128" cy="1417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Pending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879592" y="1915667"/>
            <a:ext cx="1024128" cy="14173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879592" y="1915667"/>
            <a:ext cx="1024128" cy="1417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Total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12864" y="1737360"/>
            <a:ext cx="2048256" cy="178308"/>
          </a:xfrm>
          <a:prstGeom prst="rect">
            <a:avLst/>
          </a:prstGeom>
          <a:solidFill>
            <a:srgbClr val="2D2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12864" y="1737360"/>
            <a:ext cx="2048256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Grand Total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12864" y="1915667"/>
            <a:ext cx="1024128" cy="14173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912864" y="1915667"/>
            <a:ext cx="1024128" cy="1417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Instances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946136" y="1915667"/>
            <a:ext cx="1024128" cy="14173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946136" y="1915667"/>
            <a:ext cx="1024128" cy="1417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Done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64592" y="2057399"/>
            <a:ext cx="8814816" cy="1874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64592" y="2057399"/>
            <a:ext cx="36576" cy="1874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37744" y="2057399"/>
            <a:ext cx="457200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007ACC"/>
                </a:solidFill>
                <a:latin typeface="Calibri"/>
              </a:rPr>
              <a:t>P1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3232" y="2057399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46504" y="2057399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79776" y="2057399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13048" y="2057399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46320" y="2057399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879592" y="2057399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12864" y="2057399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16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946136" y="2057399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11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64592" y="2244851"/>
            <a:ext cx="8814816" cy="18745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64592" y="2244851"/>
            <a:ext cx="36576" cy="1874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37744" y="2244851"/>
            <a:ext cx="457200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059669"/>
                </a:solidFill>
                <a:latin typeface="Calibri"/>
              </a:rPr>
              <a:t>P2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13232" y="2244851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12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746504" y="2244851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79776" y="2244851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20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813048" y="2244851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46320" y="2244851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879592" y="2244851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10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12864" y="2244851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30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946136" y="2244851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16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64592" y="2432303"/>
            <a:ext cx="8814816" cy="1874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64592" y="2432303"/>
            <a:ext cx="36576" cy="1874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37744" y="2432303"/>
            <a:ext cx="457200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6D28D9"/>
                </a:solidFill>
                <a:latin typeface="Calibri"/>
              </a:rPr>
              <a:t>P3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13232" y="2432303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746504" y="2432303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22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779776" y="2432303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30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813048" y="2432303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N/A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46320" y="2432303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N/A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879592" y="2432303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N/A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912864" y="2432303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30+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946136" y="2432303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8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4592" y="2619755"/>
            <a:ext cx="8814816" cy="187452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64592" y="2619755"/>
            <a:ext cx="36576" cy="187452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37744" y="2619755"/>
            <a:ext cx="457200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047A57"/>
                </a:solidFill>
                <a:latin typeface="Calibri"/>
              </a:rPr>
              <a:t>P4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13232" y="2619755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746504" y="2619755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16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779776" y="2619755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20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813048" y="2619755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N/A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846320" y="2619755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N/A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879592" y="2619755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N/A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912864" y="2619755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20+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946136" y="2619755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4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64592" y="2807207"/>
            <a:ext cx="8814816" cy="1874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64592" y="2807207"/>
            <a:ext cx="36576" cy="1874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37744" y="2807207"/>
            <a:ext cx="457200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64748B"/>
                </a:solidFill>
                <a:latin typeface="Calibri"/>
              </a:rPr>
              <a:t>P5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13232" y="2807207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746504" y="2807207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15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779776" y="2807207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15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813048" y="2807207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N/A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846320" y="2807207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N/A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879592" y="2807207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N/A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912864" y="2807207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15+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946136" y="2807207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0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64592" y="2994659"/>
            <a:ext cx="8814816" cy="187452"/>
          </a:xfrm>
          <a:prstGeom prst="rect">
            <a:avLst/>
          </a:prstGeom>
          <a:solidFill>
            <a:srgbClr val="1A3A6B"/>
          </a:solidFill>
          <a:ln w="9525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64592" y="2994659"/>
            <a:ext cx="36576" cy="1874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37744" y="2994659"/>
            <a:ext cx="457200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007ACC"/>
                </a:solidFill>
                <a:latin typeface="Calibri"/>
              </a:rPr>
              <a:t>TOTAL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13232" y="2994659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34D399"/>
                </a:solidFill>
                <a:latin typeface="Calibri"/>
              </a:rPr>
              <a:t>32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746504" y="2994659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D97706"/>
                </a:solidFill>
                <a:latin typeface="Calibri"/>
              </a:rPr>
              <a:t>64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779776" y="2994659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96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813048" y="2994659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34D399"/>
                </a:solidFill>
                <a:latin typeface="Calibri"/>
              </a:rPr>
              <a:t>7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846320" y="2994659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D97706"/>
                </a:solidFill>
                <a:latin typeface="Calibri"/>
              </a:rPr>
              <a:t>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879592" y="2994659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912864" y="2994659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111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946136" y="2994659"/>
            <a:ext cx="1024128" cy="1874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34D399"/>
                </a:solidFill>
                <a:latin typeface="Calibri"/>
              </a:rPr>
              <a:t>39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64592" y="3236975"/>
            <a:ext cx="436168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64592" y="3236975"/>
            <a:ext cx="36576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56032" y="3273551"/>
            <a:ext cx="4233672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50" b="1" i="0">
                <a:solidFill>
                  <a:srgbClr val="007ACC"/>
                </a:solidFill>
                <a:latin typeface="Calibri"/>
              </a:rPr>
              <a:t>What is a Unique Application?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56032" y="3419856"/>
            <a:ext cx="4233672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50" b="0" i="0">
                <a:solidFill>
                  <a:srgbClr val="334155"/>
                </a:solidFill>
                <a:latin typeface="Calibri"/>
              </a:rPr>
              <a:t>A Unique Application is a distinct SaaS product registered in the SSPM programme — e.g. Salesforce, Workday. It is counted once regardless of how many environments or regions it operates in.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56032" y="3575303"/>
            <a:ext cx="4233672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00" b="0" i="1">
                <a:solidFill>
                  <a:srgbClr val="64748B"/>
                </a:solidFill>
                <a:latin typeface="Calibri"/>
              </a:rPr>
              <a:t>Example: Salesforce = 1 unique app, even if it has multiple regional tenants.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617720" y="3236975"/>
            <a:ext cx="436168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4617720" y="3236975"/>
            <a:ext cx="36576" cy="457200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709159" y="3273551"/>
            <a:ext cx="4233672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50" b="1" i="0">
                <a:solidFill>
                  <a:srgbClr val="047A57"/>
                </a:solidFill>
                <a:latin typeface="Calibri"/>
              </a:rPr>
              <a:t>What is an Instance?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709159" y="3419856"/>
            <a:ext cx="4233672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50" b="0" i="0">
                <a:solidFill>
                  <a:srgbClr val="334155"/>
                </a:solidFill>
                <a:latin typeface="Calibri"/>
              </a:rPr>
              <a:t>An Instance is a specific deployment of an app — a particular environment (Prod or Non-Prod) or tenant. One app can have multiple instances, each onboarded into SSPM separately.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709159" y="3575303"/>
            <a:ext cx="4233672" cy="109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600" b="0" i="1">
                <a:solidFill>
                  <a:srgbClr val="64748B"/>
                </a:solidFill>
                <a:latin typeface="Calibri"/>
              </a:rPr>
              <a:t>Example: Salesforce has 3 instances — APAC Prod, EMEA Prod, AMER Non-Prod.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64592" y="3730751"/>
            <a:ext cx="4114800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650" b="0" i="0">
                <a:solidFill>
                  <a:srgbClr val="059669"/>
                </a:solidFill>
                <a:latin typeface="Calibri"/>
              </a:rPr>
              <a:t>● Completed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417320" y="3730751"/>
            <a:ext cx="4114800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650" b="0" i="0">
                <a:solidFill>
                  <a:srgbClr val="D97706"/>
                </a:solidFill>
                <a:latin typeface="Calibri"/>
              </a:rPr>
              <a:t>● Pending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606040" y="3730751"/>
            <a:ext cx="4114800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650" b="0" i="0">
                <a:solidFill>
                  <a:srgbClr val="64748B"/>
                </a:solidFill>
                <a:latin typeface="Calibri"/>
              </a:rPr>
              <a:t>● N/A — Non-Prod visibility not available for P3/P4/P5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Integration Status — Region-wise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621792"/>
            <a:ext cx="8814816" cy="1645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750" b="1" i="0">
                <a:solidFill>
                  <a:srgbClr val="64748B"/>
                </a:solidFill>
                <a:latin typeface="Calibri"/>
              </a:rPr>
              <a:t>INSTANCE ONBOARDING STATUS BY REGION — PROD &amp; NON-PROD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4592" y="786384"/>
            <a:ext cx="8814816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64592" y="822960"/>
            <a:ext cx="1097280" cy="3429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22960"/>
            <a:ext cx="45720" cy="342900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822960"/>
            <a:ext cx="987552" cy="3429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Region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822960"/>
            <a:ext cx="2875788" cy="192024"/>
          </a:xfrm>
          <a:prstGeom prst="rect">
            <a:avLst/>
          </a:prstGeom>
          <a:solidFill>
            <a:srgbClr val="065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1872" y="822960"/>
            <a:ext cx="2875788" cy="1920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Prod Instances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61872" y="1014984"/>
            <a:ext cx="955548" cy="150876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1014984"/>
            <a:ext cx="955548" cy="15087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Completed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26564" y="1014984"/>
            <a:ext cx="955548" cy="150876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26564" y="1014984"/>
            <a:ext cx="955548" cy="15087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Pending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91256" y="1014984"/>
            <a:ext cx="955548" cy="150876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91256" y="1014984"/>
            <a:ext cx="955548" cy="15087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Total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55948" y="822960"/>
            <a:ext cx="2875788" cy="192024"/>
          </a:xfrm>
          <a:prstGeom prst="rect">
            <a:avLst/>
          </a:prstGeom>
          <a:solidFill>
            <a:srgbClr val="046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55948" y="822960"/>
            <a:ext cx="2875788" cy="1920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Non-Prod Instances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55948" y="1014984"/>
            <a:ext cx="955548" cy="150876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55948" y="1014984"/>
            <a:ext cx="955548" cy="15087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Completed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1014984"/>
            <a:ext cx="955548" cy="150876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1014984"/>
            <a:ext cx="955548" cy="15087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Pending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5332" y="1014984"/>
            <a:ext cx="955548" cy="150876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5332" y="1014984"/>
            <a:ext cx="955548" cy="15087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Total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0024" y="822960"/>
            <a:ext cx="1911096" cy="192024"/>
          </a:xfrm>
          <a:prstGeom prst="rect">
            <a:avLst/>
          </a:prstGeom>
          <a:solidFill>
            <a:srgbClr val="2D2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50024" y="822960"/>
            <a:ext cx="1911096" cy="1920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Grand Total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0024" y="1014984"/>
            <a:ext cx="955548" cy="150876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50024" y="1014984"/>
            <a:ext cx="955548" cy="15087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Instances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14716" y="1014984"/>
            <a:ext cx="955548" cy="150876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1014984"/>
            <a:ext cx="955548" cy="15087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Done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" y="1165860"/>
            <a:ext cx="8814816" cy="19659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64592" y="1165860"/>
            <a:ext cx="45720" cy="19659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" y="1165860"/>
            <a:ext cx="969264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007ACC"/>
                </a:solidFill>
                <a:latin typeface="Calibri"/>
              </a:rPr>
              <a:t>APAC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1872" y="1165860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26564" y="1165860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91256" y="1165860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55948" y="1165860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1165860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5332" y="1165860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0024" y="1165860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14716" y="1165860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13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4592" y="1362456"/>
            <a:ext cx="8814816" cy="196596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64592" y="1362456"/>
            <a:ext cx="45720" cy="196596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6032" y="1362456"/>
            <a:ext cx="969264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047A57"/>
                </a:solidFill>
                <a:latin typeface="Calibri"/>
              </a:rPr>
              <a:t>EMEA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61872" y="1362456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26564" y="1362456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91256" y="1362456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55948" y="1362456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20640" y="1362456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5332" y="1362456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50024" y="1362456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14716" y="1362456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4592" y="1559052"/>
            <a:ext cx="8814816" cy="19659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64592" y="1559052"/>
            <a:ext cx="45720" cy="19659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6032" y="1559052"/>
            <a:ext cx="969264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059669"/>
                </a:solidFill>
                <a:latin typeface="Calibri"/>
              </a:rPr>
              <a:t>Global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61872" y="1559052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26564" y="1559052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91256" y="1559052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55948" y="1559052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N/A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20640" y="1559052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N/A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85332" y="1559052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N/A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50024" y="1559052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14716" y="1559052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4592" y="1755648"/>
            <a:ext cx="8814816" cy="196596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64592" y="1755648"/>
            <a:ext cx="45720" cy="19659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6032" y="1755648"/>
            <a:ext cx="969264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6D28D9"/>
                </a:solidFill>
                <a:latin typeface="Calibri"/>
              </a:rPr>
              <a:t>Japan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61872" y="1755648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26564" y="1755648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91256" y="1755648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55948" y="1755648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20640" y="1755648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85332" y="1755648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50024" y="1755648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14716" y="1755648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4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4592" y="1952244"/>
            <a:ext cx="8814816" cy="196596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64592" y="1952244"/>
            <a:ext cx="45720" cy="19659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56032" y="1952244"/>
            <a:ext cx="969264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D97706"/>
                </a:solidFill>
                <a:latin typeface="Calibri"/>
              </a:rPr>
              <a:t>North America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61872" y="1952244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26564" y="1952244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191256" y="1952244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55948" y="1952244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20640" y="1952244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85332" y="1952244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50024" y="1952244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12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14716" y="1952244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64592" y="2148840"/>
            <a:ext cx="8814816" cy="196596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64592" y="2148840"/>
            <a:ext cx="45720" cy="19659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56032" y="2148840"/>
            <a:ext cx="969264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64748B"/>
                </a:solidFill>
                <a:latin typeface="Calibri"/>
              </a:rPr>
              <a:t>TG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61872" y="2148840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26564" y="2148840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191256" y="2148840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55948" y="2148840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120640" y="2148840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0" i="0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085332" y="2148840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050024" y="2148840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1A3A6B"/>
                </a:solidFill>
                <a:latin typeface="Calibri"/>
              </a:rPr>
              <a:t>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014716" y="2148840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059669"/>
                </a:solidFill>
                <a:latin typeface="Calibri"/>
              </a:rPr>
              <a:t>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64592" y="2345436"/>
            <a:ext cx="8814816" cy="196596"/>
          </a:xfrm>
          <a:prstGeom prst="rect">
            <a:avLst/>
          </a:prstGeom>
          <a:solidFill>
            <a:srgbClr val="1A3A6B"/>
          </a:solidFill>
          <a:ln w="9525">
            <a:solidFill>
              <a:srgbClr val="1A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64592" y="2345436"/>
            <a:ext cx="45720" cy="196596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56032" y="2345436"/>
            <a:ext cx="969264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007ACC"/>
                </a:solidFill>
                <a:latin typeface="Calibri"/>
              </a:rPr>
              <a:t>TOTAL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261872" y="2345436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34D399"/>
                </a:solidFill>
                <a:latin typeface="Calibri"/>
              </a:rPr>
              <a:t>31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226564" y="2345436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D97706"/>
                </a:solidFill>
                <a:latin typeface="Calibri"/>
              </a:rPr>
              <a:t>27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191256" y="2345436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58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155948" y="2345436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34D399"/>
                </a:solidFill>
                <a:latin typeface="Calibri"/>
              </a:rPr>
              <a:t>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120640" y="2345436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D97706"/>
                </a:solidFill>
                <a:latin typeface="Calibri"/>
              </a:rPr>
              <a:t>12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085332" y="2345436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050024" y="2345436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76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14716" y="2345436"/>
            <a:ext cx="955548" cy="1965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50" b="1" i="0">
                <a:solidFill>
                  <a:srgbClr val="34D399"/>
                </a:solidFill>
                <a:latin typeface="Calibri"/>
              </a:rPr>
              <a:t>37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64592" y="2615184"/>
            <a:ext cx="3200400" cy="1645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650" b="0" i="0">
                <a:solidFill>
                  <a:srgbClr val="059669"/>
                </a:solidFill>
                <a:latin typeface="Calibri"/>
              </a:rPr>
              <a:t>● Completed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417320" y="2615184"/>
            <a:ext cx="3200400" cy="1645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650" b="0" i="0">
                <a:solidFill>
                  <a:srgbClr val="D97706"/>
                </a:solidFill>
                <a:latin typeface="Calibri"/>
              </a:rPr>
              <a:t>● Pending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606040" y="2615184"/>
            <a:ext cx="3200400" cy="1645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650" b="0" i="0">
                <a:solidFill>
                  <a:srgbClr val="64748B"/>
                </a:solidFill>
                <a:latin typeface="Calibri"/>
              </a:rPr>
              <a:t>N/A — No Non-Prod environment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P1 Applications — Integration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P1 · 8 Apps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94944"/>
            <a:ext cx="15087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Instance Coverage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621792"/>
            <a:ext cx="1600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47672" y="649224"/>
            <a:ext cx="1453896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PROD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47672" y="768096"/>
            <a:ext cx="1453896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8/11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47672" y="960120"/>
            <a:ext cx="145389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47672" y="960120"/>
            <a:ext cx="105737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80" y="621792"/>
            <a:ext cx="1600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649224"/>
            <a:ext cx="1453896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NON-PROD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768096"/>
            <a:ext cx="1453896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047A57"/>
                </a:solidFill>
                <a:latin typeface="Calibri"/>
              </a:rPr>
              <a:t>3/5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5032" y="960120"/>
            <a:ext cx="145389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85032" y="960120"/>
            <a:ext cx="872337" cy="36576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713232"/>
            <a:ext cx="10058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059669"/>
                </a:solidFill>
                <a:latin typeface="Calibri"/>
              </a:rPr>
              <a:t>● Completed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713232"/>
            <a:ext cx="10058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D97706"/>
                </a:solidFill>
                <a:latin typeface="Calibri"/>
              </a:rPr>
              <a:t>● In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713232"/>
            <a:ext cx="10058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● Not Started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1060704"/>
            <a:ext cx="1463040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1060704"/>
            <a:ext cx="1463040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PROD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060704"/>
            <a:ext cx="1463040" cy="1554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NON-PROD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4320" y="1234440"/>
            <a:ext cx="8595360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74320" y="1261872"/>
            <a:ext cx="8595360" cy="3703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1261872"/>
            <a:ext cx="54864" cy="3703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1261872"/>
            <a:ext cx="2194560" cy="3703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A1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1325880"/>
            <a:ext cx="2103120" cy="242316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4640" y="1325880"/>
            <a:ext cx="2103120" cy="2423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D97706"/>
                </a:solidFill>
                <a:latin typeface="Calibri"/>
              </a:rPr>
              <a:t>In Progress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1325880"/>
            <a:ext cx="1371600" cy="242316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0" y="1325880"/>
            <a:ext cx="1371600" cy="2423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D97706"/>
                </a:solidFill>
                <a:latin typeface="Calibri"/>
              </a:rPr>
              <a:t>PROD  2/3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1325880"/>
            <a:ext cx="1463040" cy="242316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1325880"/>
            <a:ext cx="1463040" cy="2423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D97706"/>
                </a:solidFill>
                <a:latin typeface="Calibri"/>
              </a:rPr>
              <a:t>NP  1/2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1659636"/>
            <a:ext cx="8595360" cy="37033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1659636"/>
            <a:ext cx="54864" cy="3703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1659636"/>
            <a:ext cx="2194560" cy="3703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A2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40" y="1723644"/>
            <a:ext cx="2103120" cy="242316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34640" y="1723644"/>
            <a:ext cx="2103120" cy="2423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1723644"/>
            <a:ext cx="1371600" cy="242316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0" y="1723644"/>
            <a:ext cx="1371600" cy="2423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PROD  1/1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0" y="1723644"/>
            <a:ext cx="1463040" cy="242316"/>
          </a:xfrm>
          <a:prstGeom prst="rect">
            <a:avLst/>
          </a:prstGeom>
          <a:solidFill>
            <a:srgbClr val="D6FFFF"/>
          </a:solidFill>
          <a:ln w="9525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0" y="1723644"/>
            <a:ext cx="1463040" cy="2423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NP  1/1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2057400"/>
            <a:ext cx="8595360" cy="3703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4320" y="2057400"/>
            <a:ext cx="54864" cy="3703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2057400"/>
            <a:ext cx="2194560" cy="3703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A3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2121408"/>
            <a:ext cx="2103120" cy="242316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34640" y="2121408"/>
            <a:ext cx="2103120" cy="2423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0720" y="2121408"/>
            <a:ext cx="1371600" cy="242316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60720" y="2121408"/>
            <a:ext cx="1371600" cy="2423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PROD  1/1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2057400"/>
            <a:ext cx="1463040" cy="3703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2455163"/>
            <a:ext cx="8595360" cy="37033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74320" y="2455163"/>
            <a:ext cx="54864" cy="3703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2455163"/>
            <a:ext cx="2194560" cy="3703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A4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34640" y="2519171"/>
            <a:ext cx="2103120" cy="242316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34640" y="2519171"/>
            <a:ext cx="2103120" cy="2423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D97706"/>
                </a:solidFill>
                <a:latin typeface="Calibri"/>
              </a:rPr>
              <a:t>In Progress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60720" y="2519171"/>
            <a:ext cx="1371600" cy="242316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60720" y="2519171"/>
            <a:ext cx="1371600" cy="2423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PROD  1/1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0" y="2519171"/>
            <a:ext cx="1463040" cy="24231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0" y="2519171"/>
            <a:ext cx="1463040" cy="2423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NP  0/1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2852928"/>
            <a:ext cx="8595360" cy="3703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74320" y="2852928"/>
            <a:ext cx="54864" cy="3703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2852928"/>
            <a:ext cx="2194560" cy="3703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A5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34640" y="2916936"/>
            <a:ext cx="2103120" cy="242316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834640" y="2916936"/>
            <a:ext cx="2103120" cy="2423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60720" y="2916936"/>
            <a:ext cx="1371600" cy="242316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60720" y="2916936"/>
            <a:ext cx="1371600" cy="2423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PROD  1/1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0" y="2852928"/>
            <a:ext cx="1463040" cy="3703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3250691"/>
            <a:ext cx="8595360" cy="37033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74320" y="3250691"/>
            <a:ext cx="54864" cy="3703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3250691"/>
            <a:ext cx="2194560" cy="3703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A6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834640" y="3314699"/>
            <a:ext cx="2103120" cy="242316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834640" y="3314699"/>
            <a:ext cx="2103120" cy="2423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Completed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760720" y="3314699"/>
            <a:ext cx="1371600" cy="242316"/>
          </a:xfrm>
          <a:prstGeom prst="rect">
            <a:avLst/>
          </a:prstGeom>
          <a:solidFill>
            <a:srgbClr val="D7FFFF"/>
          </a:solidFill>
          <a:ln w="9525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60720" y="3314699"/>
            <a:ext cx="1371600" cy="2423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059669"/>
                </a:solidFill>
                <a:latin typeface="Calibri"/>
              </a:rPr>
              <a:t>PROD  1/1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15200" y="3314699"/>
            <a:ext cx="1463040" cy="242316"/>
          </a:xfrm>
          <a:prstGeom prst="rect">
            <a:avLst/>
          </a:prstGeom>
          <a:solidFill>
            <a:srgbClr val="D6FFFF"/>
          </a:solidFill>
          <a:ln w="9525">
            <a:solidFill>
              <a:srgbClr val="04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15200" y="3314699"/>
            <a:ext cx="1463040" cy="2423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047A57"/>
                </a:solidFill>
                <a:latin typeface="Calibri"/>
              </a:rPr>
              <a:t>NP  1/1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3648456"/>
            <a:ext cx="8595360" cy="3703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74320" y="3648456"/>
            <a:ext cx="54864" cy="3703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3648456"/>
            <a:ext cx="2194560" cy="3703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A7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34640" y="3712463"/>
            <a:ext cx="2103120" cy="242316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834640" y="3712463"/>
            <a:ext cx="2103120" cy="2423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D97706"/>
                </a:solidFill>
                <a:latin typeface="Calibri"/>
              </a:rPr>
              <a:t>In Progress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760720" y="3712463"/>
            <a:ext cx="1371600" cy="242316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760720" y="3712463"/>
            <a:ext cx="1371600" cy="2423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D97706"/>
                </a:solidFill>
                <a:latin typeface="Calibri"/>
              </a:rPr>
              <a:t>PROD  1/2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0" y="3648456"/>
            <a:ext cx="1463040" cy="3703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" y="4046220"/>
            <a:ext cx="8595360" cy="37033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74320" y="4046220"/>
            <a:ext cx="54864" cy="3703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11480" y="4046220"/>
            <a:ext cx="2194560" cy="3703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A8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834640" y="4110228"/>
            <a:ext cx="2103120" cy="24231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834640" y="4110228"/>
            <a:ext cx="2103120" cy="2423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760720" y="4110228"/>
            <a:ext cx="1371600" cy="24231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760720" y="4110228"/>
            <a:ext cx="1371600" cy="2423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PROD  0/1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15200" y="4046220"/>
            <a:ext cx="1463040" cy="3703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P2 Applications — Integration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82296"/>
            <a:ext cx="10058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P2 · 14 Apps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94944"/>
            <a:ext cx="150876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Instance Coverage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621792"/>
            <a:ext cx="1600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47672" y="649224"/>
            <a:ext cx="1453896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PROD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47672" y="768096"/>
            <a:ext cx="1453896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6/14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47672" y="960120"/>
            <a:ext cx="145389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47672" y="960120"/>
            <a:ext cx="62309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80" y="621792"/>
            <a:ext cx="1600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649224"/>
            <a:ext cx="1453896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NON-PROD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768096"/>
            <a:ext cx="1453896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047A57"/>
                </a:solidFill>
                <a:latin typeface="Calibri"/>
              </a:rPr>
              <a:t>1/10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5032" y="960120"/>
            <a:ext cx="1453896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85032" y="960120"/>
            <a:ext cx="145389" cy="36576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713232"/>
            <a:ext cx="10058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059669"/>
                </a:solidFill>
                <a:latin typeface="Calibri"/>
              </a:rPr>
              <a:t>● All 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713232"/>
            <a:ext cx="10058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D97706"/>
                </a:solidFill>
                <a:latin typeface="Calibri"/>
              </a:rPr>
              <a:t>● Partial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713232"/>
            <a:ext cx="10058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● Not Started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4320" y="1051560"/>
            <a:ext cx="8595360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74320" y="1097280"/>
            <a:ext cx="20756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1097280"/>
            <a:ext cx="54864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1152144"/>
            <a:ext cx="1911095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A1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1417319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059669"/>
                </a:solidFill>
                <a:latin typeface="Calibri"/>
              </a:rPr>
              <a:t>PROD  1/1 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1581912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NP  0/1  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14015" y="1097280"/>
            <a:ext cx="20756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414015" y="1097280"/>
            <a:ext cx="54864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23744" y="1152144"/>
            <a:ext cx="1911095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A2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23744" y="1417319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059669"/>
                </a:solidFill>
                <a:latin typeface="Calibri"/>
              </a:rPr>
              <a:t>PROD  1/1  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23744" y="1581912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NP  0/2  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53712" y="1097280"/>
            <a:ext cx="20756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53712" y="1097280"/>
            <a:ext cx="54864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1152144"/>
            <a:ext cx="1911095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A3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1417319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059669"/>
                </a:solidFill>
                <a:latin typeface="Calibri"/>
              </a:rPr>
              <a:t>PROD  1/1  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1581912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047A57"/>
                </a:solidFill>
                <a:latin typeface="Calibri"/>
              </a:rPr>
              <a:t>NP  1/1  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93407" y="1097280"/>
            <a:ext cx="20756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93407" y="1097280"/>
            <a:ext cx="54864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03136" y="1152144"/>
            <a:ext cx="1911095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A4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03136" y="1417319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059669"/>
                </a:solidFill>
                <a:latin typeface="Calibri"/>
              </a:rPr>
              <a:t>PROD  1/1  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03136" y="1581912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NP  0/1  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1801368"/>
            <a:ext cx="20756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1801368"/>
            <a:ext cx="54864" cy="65836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" y="1856231"/>
            <a:ext cx="1911095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A5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" y="2121408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PROD  0/1  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" y="2286000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NP  0/1  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14015" y="1801368"/>
            <a:ext cx="20756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414015" y="1801368"/>
            <a:ext cx="54864" cy="65836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23744" y="1856231"/>
            <a:ext cx="1911095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A6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23744" y="2121408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PROD  0/1  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23744" y="2286000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NP  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53712" y="1801368"/>
            <a:ext cx="20756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53712" y="1801368"/>
            <a:ext cx="54864" cy="65836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63440" y="1856231"/>
            <a:ext cx="1911095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A7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3440" y="2121408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PROD  0/1  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2286000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NP  0/1  ○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693407" y="1801368"/>
            <a:ext cx="20756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693407" y="1801368"/>
            <a:ext cx="54864" cy="65836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03136" y="1856231"/>
            <a:ext cx="1911095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A8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03136" y="2121408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PROD  0/1  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03136" y="2286000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NP  0/1  ○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4320" y="2505456"/>
            <a:ext cx="20756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74320" y="2505456"/>
            <a:ext cx="54864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4048" y="2560320"/>
            <a:ext cx="1911095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A9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4048" y="2825496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059669"/>
                </a:solidFill>
                <a:latin typeface="Calibri"/>
              </a:rPr>
              <a:t>PROD  1/1  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4048" y="2990088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NP  0/1  ○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414015" y="2505456"/>
            <a:ext cx="20756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414015" y="2505456"/>
            <a:ext cx="54864" cy="65836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23744" y="2560320"/>
            <a:ext cx="1911095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A10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23744" y="2825496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PROD  0/1  ○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523744" y="2990088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NP  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53712" y="2505456"/>
            <a:ext cx="20756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553712" y="2505456"/>
            <a:ext cx="54864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63440" y="2560320"/>
            <a:ext cx="1911095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A11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63440" y="2825496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059669"/>
                </a:solidFill>
                <a:latin typeface="Calibri"/>
              </a:rPr>
              <a:t>PROD  1/1  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63440" y="2990088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NP  0/1  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693407" y="2505456"/>
            <a:ext cx="20756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93407" y="2505456"/>
            <a:ext cx="54864" cy="65836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803136" y="2560320"/>
            <a:ext cx="1911095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A12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03136" y="2825496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PROD  0/1  ○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03136" y="2990088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NP  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" y="3209544"/>
            <a:ext cx="20756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74320" y="3209544"/>
            <a:ext cx="54864" cy="65836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84048" y="3264408"/>
            <a:ext cx="1911095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A13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4048" y="3529584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PROD  0/1  ○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4048" y="3694176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NP  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414015" y="3209544"/>
            <a:ext cx="207568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414015" y="3209544"/>
            <a:ext cx="54864" cy="65836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523744" y="3264408"/>
            <a:ext cx="1911095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A14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523744" y="3529584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PROD  0/1  ○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523744" y="3694176"/>
            <a:ext cx="1911095" cy="1828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NP  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Milestone Roadmap &amp; Out-of-Scope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21792"/>
            <a:ext cx="8595360" cy="210312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21792"/>
            <a:ext cx="667512" cy="2103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621792"/>
            <a:ext cx="1307592" cy="2103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Total Apps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621792"/>
            <a:ext cx="1719072" cy="2103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Prod 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621792"/>
            <a:ext cx="1581912" cy="2103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Prod Pending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621792"/>
            <a:ext cx="2770632" cy="2103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Non-Prod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32104"/>
            <a:ext cx="859536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832104"/>
            <a:ext cx="54864" cy="21031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832104"/>
            <a:ext cx="649224" cy="2103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6D28D9"/>
                </a:solidFill>
                <a:latin typeface="Calibri"/>
              </a:rPr>
              <a:t>P3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832104"/>
            <a:ext cx="1289304" cy="2103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0F172A"/>
                </a:solidFill>
                <a:latin typeface="Calibri"/>
              </a:rPr>
              <a:t>~30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8608" y="832104"/>
            <a:ext cx="1700784" cy="2103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0F172A"/>
                </a:solidFill>
                <a:latin typeface="Calibri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832104"/>
            <a:ext cx="1563624" cy="2103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0F172A"/>
                </a:solidFill>
                <a:latin typeface="Calibri"/>
              </a:rPr>
              <a:t>~22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832104"/>
            <a:ext cx="2752344" cy="2103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1">
                <a:solidFill>
                  <a:srgbClr val="D97706"/>
                </a:solidFill>
                <a:latin typeface="Calibri"/>
              </a:rPr>
              <a:t>N/A — Visibility Pending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042416"/>
            <a:ext cx="8595360" cy="2103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1042416"/>
            <a:ext cx="54864" cy="210312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1042416"/>
            <a:ext cx="649224" cy="2103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047A57"/>
                </a:solidFill>
                <a:latin typeface="Calibri"/>
              </a:rPr>
              <a:t>P4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1042416"/>
            <a:ext cx="1289304" cy="2103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0F172A"/>
                </a:solidFill>
                <a:latin typeface="Calibri"/>
              </a:rPr>
              <a:t>~20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8608" y="1042416"/>
            <a:ext cx="1700784" cy="2103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8" y="1042416"/>
            <a:ext cx="1563624" cy="2103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0F172A"/>
                </a:solidFill>
                <a:latin typeface="Calibri"/>
              </a:rPr>
              <a:t>~16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8" y="1042416"/>
            <a:ext cx="2752344" cy="2103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1">
                <a:solidFill>
                  <a:srgbClr val="D97706"/>
                </a:solidFill>
                <a:latin typeface="Calibri"/>
              </a:rPr>
              <a:t>N/A — Visibility Pending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252728"/>
            <a:ext cx="8595360" cy="2103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1252728"/>
            <a:ext cx="54864" cy="21031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1252728"/>
            <a:ext cx="649224" cy="2103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1" i="0">
                <a:solidFill>
                  <a:srgbClr val="64748B"/>
                </a:solidFill>
                <a:latin typeface="Calibri"/>
              </a:rPr>
              <a:t>P5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1288" y="1252728"/>
            <a:ext cx="1289304" cy="2103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0F172A"/>
                </a:solidFill>
                <a:latin typeface="Calibri"/>
              </a:rPr>
              <a:t>~15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78608" y="1252728"/>
            <a:ext cx="1700784" cy="2103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7408" y="1252728"/>
            <a:ext cx="1563624" cy="2103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0F172A"/>
                </a:solidFill>
                <a:latin typeface="Calibri"/>
              </a:rPr>
              <a:t>~15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9048" y="1252728"/>
            <a:ext cx="2752344" cy="2103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1">
                <a:solidFill>
                  <a:srgbClr val="D97706"/>
                </a:solidFill>
                <a:latin typeface="Calibri"/>
              </a:rPr>
              <a:t>N/A — Visibility Pending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74320" y="1536192"/>
            <a:ext cx="8595360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274320" y="1591056"/>
            <a:ext cx="8595360" cy="246888"/>
          </a:xfrm>
          <a:prstGeom prst="rect">
            <a:avLst/>
          </a:prstGeom>
          <a:solidFill>
            <a:srgbClr val="FFFFDD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1591056"/>
            <a:ext cx="54864" cy="2468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2336" y="1591056"/>
            <a:ext cx="6400800" cy="246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50" b="1" i="0">
                <a:solidFill>
                  <a:srgbClr val="D97706"/>
                </a:solidFill>
                <a:latin typeface="Calibri"/>
              </a:rPr>
              <a:t>Phase 2 · Auto-Ticketing Integration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0" y="1627632"/>
            <a:ext cx="1325880" cy="173736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0" y="1627632"/>
            <a:ext cx="1325880" cy="1737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D97706"/>
                </a:solidFill>
                <a:latin typeface="Calibri"/>
              </a:rPr>
              <a:t>In Progress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1837944"/>
            <a:ext cx="859536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1837944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D97706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1837944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SSPM → ServiceNow connector design &amp; build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0" y="1874520"/>
            <a:ext cx="1325880" cy="132588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0" y="1874520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D97706"/>
                </a:solidFill>
                <a:latin typeface="Calibri"/>
              </a:rPr>
              <a:t>In Progress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2071116"/>
            <a:ext cx="8595360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2071116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D97706"/>
                </a:solidFill>
                <a:latin typeface="Calibr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2071116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Ticket template, SLA &amp; assignment routing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80" y="2107692"/>
            <a:ext cx="132588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0" y="2107692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2304288"/>
            <a:ext cx="859536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2304288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D97706"/>
                </a:solidFill>
                <a:latin typeface="Calibri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2304288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UAT, pilot &amp; go-live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98080" y="2340864"/>
            <a:ext cx="132588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98080" y="2340864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2601468"/>
            <a:ext cx="8595360" cy="246888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74320" y="2601468"/>
            <a:ext cx="54864" cy="24688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2336" y="2601468"/>
            <a:ext cx="6400800" cy="2468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50" b="1" i="0">
                <a:solidFill>
                  <a:srgbClr val="6D28D9"/>
                </a:solidFill>
                <a:latin typeface="Calibri"/>
              </a:rPr>
              <a:t>Phase 3 · Scorecard &amp; Operationalisation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98080" y="2638044"/>
            <a:ext cx="1325880" cy="173736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498080" y="2638044"/>
            <a:ext cx="1325880" cy="1737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2848356"/>
            <a:ext cx="859536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2848356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6D28D9"/>
                </a:solidFill>
                <a:latin typeface="Calibri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" y="2848356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Define KPIs, scoring framework &amp; dashboard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98080" y="2884932"/>
            <a:ext cx="132588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98080" y="2884932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3081528"/>
            <a:ext cx="8595360" cy="2057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3081528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6D28D9"/>
                </a:solidFill>
                <a:latin typeface="Calibri"/>
              </a:rP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" y="3081528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Runbook, SOP &amp; SSPM operating model (BAU)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98080" y="3118104"/>
            <a:ext cx="132588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98080" y="3118104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3314700"/>
            <a:ext cx="8595360" cy="2057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" y="3314700"/>
            <a:ext cx="256032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 i="0">
                <a:solidFill>
                  <a:srgbClr val="6D28D9"/>
                </a:solidFill>
                <a:latin typeface="Calibri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368" y="3314700"/>
            <a:ext cx="6492240" cy="2057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App owner reporting cadence &amp; BAU handover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498080" y="3351276"/>
            <a:ext cx="1325880" cy="132588"/>
          </a:xfrm>
          <a:prstGeom prst="rect">
            <a:avLst/>
          </a:prstGeom>
          <a:solidFill>
            <a:srgbClr val="FFFFFF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498080" y="3351276"/>
            <a:ext cx="1325880" cy="1325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4748B"/>
                </a:solidFill>
                <a:latin typeface="Calibri"/>
              </a:rPr>
              <a:t>Not Started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Blockers &amp; Impediments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621792"/>
            <a:ext cx="8814816" cy="237744"/>
          </a:xfrm>
          <a:prstGeom prst="rect">
            <a:avLst/>
          </a:prstGeom>
          <a:solidFill>
            <a:srgbClr val="FFEDED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621792"/>
            <a:ext cx="54864" cy="23774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21792"/>
            <a:ext cx="54864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50" b="1" i="0">
                <a:solidFill>
                  <a:srgbClr val="DC2626"/>
                </a:solidFill>
                <a:latin typeface="Calibri"/>
              </a:rPr>
              <a:t>🚧  P1 Integration Blockers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877824"/>
            <a:ext cx="8814816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" y="877824"/>
            <a:ext cx="54864" cy="1783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877824"/>
            <a:ext cx="365760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DC2626"/>
                </a:solidFill>
                <a:latin typeface="Calibri"/>
              </a:rPr>
              <a:t>B1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877824"/>
            <a:ext cx="6583680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A1 — Prod instance access provisioning pending IT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877824"/>
            <a:ext cx="1005840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Owner: IT 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75904" y="905256"/>
            <a:ext cx="530352" cy="123444"/>
          </a:xfrm>
          <a:prstGeom prst="rect">
            <a:avLst/>
          </a:prstGeom>
          <a:solidFill>
            <a:srgbClr val="FFF8F8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905256"/>
            <a:ext cx="530352" cy="1234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DC2626"/>
                </a:solidFill>
                <a:latin typeface="Calibri"/>
              </a:rPr>
              <a:t>High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" y="1074420"/>
            <a:ext cx="8814816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4592" y="1074420"/>
            <a:ext cx="54864" cy="1783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1074420"/>
            <a:ext cx="365760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DC2626"/>
                </a:solidFill>
                <a:latin typeface="Calibri"/>
              </a:rPr>
              <a:t>B2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1074420"/>
            <a:ext cx="6583680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A7 — Prod instance API unreachable, firewall change raised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074420"/>
            <a:ext cx="1005840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Owner: Network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5904" y="1101852"/>
            <a:ext cx="530352" cy="123444"/>
          </a:xfrm>
          <a:prstGeom prst="rect">
            <a:avLst/>
          </a:prstGeom>
          <a:solidFill>
            <a:srgbClr val="FFF8F8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4" y="1101852"/>
            <a:ext cx="530352" cy="1234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DC2626"/>
                </a:solidFill>
                <a:latin typeface="Calibri"/>
              </a:rPr>
              <a:t>High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1271016"/>
            <a:ext cx="8814816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4592" y="1271016"/>
            <a:ext cx="54864" cy="1783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1271016"/>
            <a:ext cx="365760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D97706"/>
                </a:solidFill>
                <a:latin typeface="Calibri"/>
              </a:rPr>
              <a:t>B3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1271016"/>
            <a:ext cx="6583680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A4 — Non-Prod tenant config not shared by app owner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1271016"/>
            <a:ext cx="1005840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Owner: App Owner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75904" y="1298448"/>
            <a:ext cx="530352" cy="123444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75904" y="1298448"/>
            <a:ext cx="530352" cy="1234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D97706"/>
                </a:solidFill>
                <a:latin typeface="Calibri"/>
              </a:rPr>
              <a:t>Med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64592" y="1559052"/>
            <a:ext cx="8814816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64592" y="1650492"/>
            <a:ext cx="8814816" cy="237744"/>
          </a:xfrm>
          <a:prstGeom prst="rect">
            <a:avLst/>
          </a:prstGeom>
          <a:solidFill>
            <a:srgbClr val="FFEDED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4592" y="1650492"/>
            <a:ext cx="54864" cy="23774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1650492"/>
            <a:ext cx="548640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50" b="1" i="0">
                <a:solidFill>
                  <a:srgbClr val="DC2626"/>
                </a:solidFill>
                <a:latin typeface="Calibri"/>
              </a:rPr>
              <a:t>🚧  Milestone &amp; Phase Blockers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" y="1906524"/>
            <a:ext cx="8814816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64592" y="1906524"/>
            <a:ext cx="54864" cy="1783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1906524"/>
            <a:ext cx="365760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DC2626"/>
                </a:solidFill>
                <a:latin typeface="Calibri"/>
              </a:rPr>
              <a:t>B1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" y="1906524"/>
            <a:ext cx="5212080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A1 (P1) — Prod instance access provisioning pending IT Ops approval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1933956"/>
            <a:ext cx="1005840" cy="123444"/>
          </a:xfrm>
          <a:prstGeom prst="rect">
            <a:avLst/>
          </a:prstGeom>
          <a:solidFill>
            <a:srgbClr val="D2FFFF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0" y="1933956"/>
            <a:ext cx="1005840" cy="1234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Phase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2592" y="1906524"/>
            <a:ext cx="1005840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Owner: IT Ops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75904" y="1933956"/>
            <a:ext cx="530352" cy="123444"/>
          </a:xfrm>
          <a:prstGeom prst="rect">
            <a:avLst/>
          </a:prstGeom>
          <a:solidFill>
            <a:srgbClr val="FFF8F8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75904" y="1933956"/>
            <a:ext cx="530352" cy="1234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DC2626"/>
                </a:solidFill>
                <a:latin typeface="Calibri"/>
              </a:rPr>
              <a:t>High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4592" y="2103120"/>
            <a:ext cx="8814816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64592" y="2103120"/>
            <a:ext cx="54864" cy="1783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2103120"/>
            <a:ext cx="365760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DC2626"/>
                </a:solidFill>
                <a:latin typeface="Calibri"/>
              </a:rPr>
              <a:t>B2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2103120"/>
            <a:ext cx="5212080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A7 (P1) — Prod instance API unreachable, firewall change raised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2130552"/>
            <a:ext cx="1005840" cy="123444"/>
          </a:xfrm>
          <a:prstGeom prst="rect">
            <a:avLst/>
          </a:prstGeom>
          <a:solidFill>
            <a:srgbClr val="D2FFFF"/>
          </a:solidFill>
          <a:ln w="9525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0" y="2130552"/>
            <a:ext cx="1005840" cy="1234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007ACC"/>
                </a:solidFill>
                <a:latin typeface="Calibri"/>
              </a:rPr>
              <a:t>Phase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22592" y="2103120"/>
            <a:ext cx="1005840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Owner: Network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75904" y="2130552"/>
            <a:ext cx="530352" cy="123444"/>
          </a:xfrm>
          <a:prstGeom prst="rect">
            <a:avLst/>
          </a:prstGeom>
          <a:solidFill>
            <a:srgbClr val="FFF8F8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75904" y="2130552"/>
            <a:ext cx="530352" cy="1234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DC2626"/>
                </a:solidFill>
                <a:latin typeface="Calibri"/>
              </a:rPr>
              <a:t>High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4592" y="2299716"/>
            <a:ext cx="8814816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64592" y="2299716"/>
            <a:ext cx="54864" cy="1783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2299716"/>
            <a:ext cx="365760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DC2626"/>
                </a:solidFill>
                <a:latin typeface="Calibri"/>
              </a:rPr>
              <a:t>B3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" y="2299716"/>
            <a:ext cx="5212080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ServiceNow connector design blocked — ITSM team bandwidth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0" y="2327148"/>
            <a:ext cx="1005840" cy="123444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0" y="2327148"/>
            <a:ext cx="1005840" cy="1234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D97706"/>
                </a:solidFill>
                <a:latin typeface="Calibri"/>
              </a:rPr>
              <a:t>Phase 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22592" y="2299716"/>
            <a:ext cx="1005840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Owner: ITSM Team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75904" y="2327148"/>
            <a:ext cx="530352" cy="123444"/>
          </a:xfrm>
          <a:prstGeom prst="rect">
            <a:avLst/>
          </a:prstGeom>
          <a:solidFill>
            <a:srgbClr val="FFF8F8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75904" y="2327148"/>
            <a:ext cx="530352" cy="1234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DC2626"/>
                </a:solidFill>
                <a:latin typeface="Calibri"/>
              </a:rPr>
              <a:t>High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4592" y="2496312"/>
            <a:ext cx="8814816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64592" y="2496312"/>
            <a:ext cx="54864" cy="1783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320" y="2496312"/>
            <a:ext cx="365760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1" i="0">
                <a:solidFill>
                  <a:srgbClr val="D97706"/>
                </a:solidFill>
                <a:latin typeface="Calibri"/>
              </a:rPr>
              <a:t>B4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6656" y="2496312"/>
            <a:ext cx="5212080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Scorecard KPI framework pending Security Architecture approval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2523744"/>
            <a:ext cx="1005840" cy="123444"/>
          </a:xfrm>
          <a:prstGeom prst="rect">
            <a:avLst/>
          </a:prstGeom>
          <a:solidFill>
            <a:srgbClr val="FFFAFF"/>
          </a:solidFill>
          <a:ln w="952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0" y="2523744"/>
            <a:ext cx="1005840" cy="1234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6D28D9"/>
                </a:solidFill>
                <a:latin typeface="Calibri"/>
              </a:rPr>
              <a:t>Phase 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22592" y="2496312"/>
            <a:ext cx="1005840" cy="1783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750" b="0" i="0">
                <a:solidFill>
                  <a:srgbClr val="64748B"/>
                </a:solidFill>
                <a:latin typeface="Calibri"/>
              </a:rPr>
              <a:t>Owner: Sec Arch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75904" y="2523744"/>
            <a:ext cx="530352" cy="123444"/>
          </a:xfrm>
          <a:prstGeom prst="rect">
            <a:avLst/>
          </a:prstGeom>
          <a:solidFill>
            <a:srgbClr val="FFFFD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75904" y="2523744"/>
            <a:ext cx="530352" cy="1234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50" b="1" i="0">
                <a:solidFill>
                  <a:srgbClr val="D97706"/>
                </a:solidFill>
                <a:latin typeface="Calibri"/>
              </a:rPr>
              <a:t>Med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58952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SSPM Initiative  |  P1 Apps — Security Score Improvement (Last 3 Months)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603504"/>
            <a:ext cx="8814816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Each pane shows the score trend for one P1 app over Month 1 → Month 2 → Month 3.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822960"/>
            <a:ext cx="2135124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822960"/>
            <a:ext cx="2135124" cy="20116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" y="822960"/>
            <a:ext cx="2025395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A1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" y="1042416"/>
            <a:ext cx="638555" cy="14630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" y="1042416"/>
            <a:ext cx="638555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Month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4588" y="1042416"/>
            <a:ext cx="638555" cy="14630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4588" y="1042416"/>
            <a:ext cx="638555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Month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69720" y="1042416"/>
            <a:ext cx="638555" cy="14630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9720" y="1042416"/>
            <a:ext cx="638555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Month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1" y="1207008"/>
            <a:ext cx="2043684" cy="1481328"/>
          </a:xfrm>
          <a:prstGeom prst="rect">
            <a:avLst/>
          </a:prstGeom>
          <a:solidFill>
            <a:srgbClr val="F0F4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1" y="1207008"/>
            <a:ext cx="2043684" cy="14813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📷  Paste screenshot
of A1 score
trend here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91156" y="822960"/>
            <a:ext cx="2135124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91156" y="822960"/>
            <a:ext cx="2135124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4308" y="822960"/>
            <a:ext cx="2025395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46020" y="1042416"/>
            <a:ext cx="638555" cy="14630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46020" y="1042416"/>
            <a:ext cx="638555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Month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21152" y="1042416"/>
            <a:ext cx="638555" cy="14630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21152" y="1042416"/>
            <a:ext cx="638555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Month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6284" y="1042416"/>
            <a:ext cx="638555" cy="14630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6284" y="1042416"/>
            <a:ext cx="638555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Month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36876" y="1207008"/>
            <a:ext cx="2043684" cy="1481328"/>
          </a:xfrm>
          <a:prstGeom prst="rect">
            <a:avLst/>
          </a:prstGeom>
          <a:solidFill>
            <a:srgbClr val="F0F4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36876" y="1207008"/>
            <a:ext cx="2043684" cy="14813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📷  Paste screenshot
of A2 score
trend here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822960"/>
            <a:ext cx="2135124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17720" y="822960"/>
            <a:ext cx="2135124" cy="201168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90872" y="822960"/>
            <a:ext cx="2025395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72583" y="1042416"/>
            <a:ext cx="638555" cy="14630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72583" y="1042416"/>
            <a:ext cx="638555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Month 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47715" y="1042416"/>
            <a:ext cx="638555" cy="14630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47715" y="1042416"/>
            <a:ext cx="638555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Month 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22847" y="1042416"/>
            <a:ext cx="638555" cy="14630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22847" y="1042416"/>
            <a:ext cx="638555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Month 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1207008"/>
            <a:ext cx="2043684" cy="1481328"/>
          </a:xfrm>
          <a:prstGeom prst="rect">
            <a:avLst/>
          </a:prstGeom>
          <a:solidFill>
            <a:srgbClr val="F0F4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1207008"/>
            <a:ext cx="2043684" cy="14813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📷  Paste screenshot
of A3 score
trend here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44283" y="822960"/>
            <a:ext cx="2135124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44283" y="822960"/>
            <a:ext cx="2135124" cy="20116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17436" y="822960"/>
            <a:ext cx="2025395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99147" y="1042416"/>
            <a:ext cx="638555" cy="14630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99147" y="1042416"/>
            <a:ext cx="638555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Month 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74279" y="1042416"/>
            <a:ext cx="638555" cy="14630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74279" y="1042416"/>
            <a:ext cx="638555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Month 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49411" y="1042416"/>
            <a:ext cx="638555" cy="14630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49411" y="1042416"/>
            <a:ext cx="638555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Month 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90003" y="1207008"/>
            <a:ext cx="2043684" cy="1481328"/>
          </a:xfrm>
          <a:prstGeom prst="rect">
            <a:avLst/>
          </a:prstGeom>
          <a:solidFill>
            <a:srgbClr val="F0F4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90003" y="1207008"/>
            <a:ext cx="2043684" cy="14813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📷  Paste screenshot
of A4 score
trend here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4592" y="2852928"/>
            <a:ext cx="2135124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64592" y="2852928"/>
            <a:ext cx="2135124" cy="2011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7744" y="2852928"/>
            <a:ext cx="2025395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9456" y="3072384"/>
            <a:ext cx="638555" cy="14630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9456" y="3072384"/>
            <a:ext cx="638555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Month 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4588" y="3072384"/>
            <a:ext cx="638555" cy="14630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4588" y="3072384"/>
            <a:ext cx="638555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Month 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569720" y="3072384"/>
            <a:ext cx="638555" cy="14630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569720" y="3072384"/>
            <a:ext cx="638555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Month 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10311" y="3236976"/>
            <a:ext cx="2043684" cy="1481328"/>
          </a:xfrm>
          <a:prstGeom prst="rect">
            <a:avLst/>
          </a:prstGeom>
          <a:solidFill>
            <a:srgbClr val="F0F4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10311" y="3236976"/>
            <a:ext cx="2043684" cy="14813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📷  Paste screenshot
of A5 score
trend here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391156" y="2852928"/>
            <a:ext cx="2135124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391156" y="2852928"/>
            <a:ext cx="2135124" cy="20116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464308" y="2852928"/>
            <a:ext cx="2025395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446020" y="3072384"/>
            <a:ext cx="638555" cy="14630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446020" y="3072384"/>
            <a:ext cx="638555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Month 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121152" y="3072384"/>
            <a:ext cx="638555" cy="14630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21152" y="3072384"/>
            <a:ext cx="638555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Month 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96284" y="3072384"/>
            <a:ext cx="638555" cy="14630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796284" y="3072384"/>
            <a:ext cx="638555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Month 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36876" y="3236976"/>
            <a:ext cx="2043684" cy="1481328"/>
          </a:xfrm>
          <a:prstGeom prst="rect">
            <a:avLst/>
          </a:prstGeom>
          <a:solidFill>
            <a:srgbClr val="F0F4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436876" y="3236976"/>
            <a:ext cx="2043684" cy="14813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📷  Paste screenshot
of A6 score
trend here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17720" y="2852928"/>
            <a:ext cx="2135124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617720" y="2852928"/>
            <a:ext cx="2135124" cy="2011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90872" y="2852928"/>
            <a:ext cx="2025395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672583" y="3072384"/>
            <a:ext cx="638555" cy="14630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672583" y="3072384"/>
            <a:ext cx="638555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Month 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347715" y="3072384"/>
            <a:ext cx="638555" cy="14630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47715" y="3072384"/>
            <a:ext cx="638555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Month 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022847" y="3072384"/>
            <a:ext cx="638555" cy="14630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022847" y="3072384"/>
            <a:ext cx="638555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Month 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63440" y="3236976"/>
            <a:ext cx="2043684" cy="1481328"/>
          </a:xfrm>
          <a:prstGeom prst="rect">
            <a:avLst/>
          </a:prstGeom>
          <a:solidFill>
            <a:srgbClr val="F0F4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663440" y="3236976"/>
            <a:ext cx="2043684" cy="14813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📷  Paste screenshot
of A7 score
trend here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844283" y="2852928"/>
            <a:ext cx="2135124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44283" y="2852928"/>
            <a:ext cx="2135124" cy="201168"/>
          </a:xfrm>
          <a:prstGeom prst="rect">
            <a:avLst/>
          </a:prstGeom>
          <a:solidFill>
            <a:srgbClr val="04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917436" y="2852928"/>
            <a:ext cx="2025395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A8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899147" y="3072384"/>
            <a:ext cx="638555" cy="14630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899147" y="3072384"/>
            <a:ext cx="638555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Month 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74279" y="3072384"/>
            <a:ext cx="638555" cy="14630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74279" y="3072384"/>
            <a:ext cx="638555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Month 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49411" y="3072384"/>
            <a:ext cx="638555" cy="146304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249411" y="3072384"/>
            <a:ext cx="638555" cy="1463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600" b="1" i="0">
                <a:solidFill>
                  <a:srgbClr val="64748B"/>
                </a:solidFill>
                <a:latin typeface="Calibri"/>
              </a:rPr>
              <a:t>Month 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890003" y="3236976"/>
            <a:ext cx="2043684" cy="1481328"/>
          </a:xfrm>
          <a:prstGeom prst="rect">
            <a:avLst/>
          </a:prstGeom>
          <a:solidFill>
            <a:srgbClr val="F0F4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890003" y="3236976"/>
            <a:ext cx="2043684" cy="148132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📷  Paste screenshot
of A8 score
trend here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00" b="0" i="1">
                <a:solidFill>
                  <a:srgbClr val="CBD5E1"/>
                </a:solidFill>
                <a:latin typeface="Calibri"/>
              </a:rPr>
              <a:t>[ Add your org footer here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